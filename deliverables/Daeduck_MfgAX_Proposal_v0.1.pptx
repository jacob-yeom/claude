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[인사] 오늘은 제안을 확정하는 자리가 아니라, 대덕전자의 실제 문제를 함께 정의하고 진단 범위를 합의하는 1차 미팅입니다. 배경 이미지는 FC-BGA 패키지 기판을 형상화한 3D 렌더링(자체 제작)입니다.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Ⅴ파트(사전 확인 사항)가 오늘 미팅의 실질 목적입니다. Ⅰ~Ⅳ는 짧게, Ⅴ는 질의응답 중심으로 진행합니다.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수치는 모두 공개 보도·증권사 리포트 기준입니다. 특히 초기 수율 70%는 증권사 추정이므로 단정하지 말고 "보도된 바로는"으로 언급하고, 실제 수율 현황을 질문으로 연결합니다.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외부에서 본 가설임을 먼저 밝힙니다. 4개 중 가장 아픈 것이 무엇인지 고객이 고르게 하면 이후 PoC 대상 선정이 쉬워집니다.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영풍전자 사업비는 자료마다 다릅니다(발표평가 28.6억 원 / 보도자료 18.8억 원). 외부 발표 시 사업비는 언급하지 않거나 보도자료 기준으로만 말합니다. 영풍전자 내부 수치(수리 공수, 폐기 수량, BOM 규모)는 외부 공개 동의 전이므로 이 자료에서 제외했습니다. 영풍전자 실명 인용 동의도 사전 확인 필요.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목표치임을 반드시 언급합니다. 대덕전자에도 같은 방식(기준선 측정 → 목표 → 실증 → 투자심의)을 제안하는 근거 슬라이드입니다.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장이 제안의 핵심 논리입니다. 영풍전자 과제를 "그대로 해 드리겠다"가 아니라, 검증 중인 구조를 기판 제조 공정에 맞게 재설계한다는 점을 분명히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표의 오른쪽 열이 대덕전자용 제안 초안입니다. 고객이 쓰는 실제 용어(불량 코드, 보고서 명칭)를 1차 미팅에서 받아 이 표를 고쳐 쓰면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UC1·UC2는 같은 지식그래프를 공유하므로 함께 PoC 하는 것이 효율적입니다. UC3(보고서)는 범용 LLM으로도 빨리 효과를 낼 수 있어 2단계 또는 병행 과제로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예시 경로는 일반적인 기판 불량 사례를 바탕으로 만든 가상 예시입니다. 대덕전자의 실제 불량 모드·원인 체계는 진단 단계에서 숙련자 인터뷰와 과거 8D 문서로 구축합니다. 영풍전자 지식그래프(노드 9종·관계 10종)와 같은 방식입니다.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고객 제출 문서(8D·CAR)는 반드시 엔지니어 승인을 거칩니다. AI가 고객사에 직접 나가는 경로는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기판 고객사(반도체·서버 업체)의 기술자료 보안 요구가 크므로 온프레미스 구성이 차별점입니다. 인프라 규모는 사용자 수·업무 범위에 따라 달라지므로 1차 미팅에서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정부지원사업(예: 영풍전자가 참여한 중기부 AI 응용제품 신속 상용화 지원사업)은 도입기업 규모 요건이 있을 수 있습니다. 대덕전자의 참여 가능 여부는 확인되지 않았으므로 자체 투자안을 기본으로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수율 1%p의 금액 가치는 대덕전자 내부 값으로만 계산할 수 있습니다. 1차 미팅에서는 산식만 공유하고, 값은 진단 단계에서 함께 채웁니다.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표의 체크박스는 미팅 중 기록용입니다. 고객에게 사전 송부할 경우 "왜 필요한가" 열은 빼고 보내도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가장 중요한 질문은 "원인분석 평균 소요 시간"입니다. 이 숫자가 없으면 기준선 측정을 진단 범위에 넣습니다.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가능하면 1차 미팅 후 샘플 데이터(불량 1건에 대한 공정이력 · 검사 결과 · 8D 문서 세트)를 요청합니다. 실제 연결 가능성을 가장 빨리 확인하는 방법입니다.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영풍전자 사례의 실명·수치 인용은 영풍전자 측 동의가 필요합니다. 미팅 전에 확인하고, 동의 전이면 "방산 전자 제조기업 A사"로 비식별 처리합니다.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후속 일정(D+n)은 제안안입니다. 미팅 마지막 15분에 고객과 날짜를 확정합니다.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후 다음 단계(진단 범위 · 자료 요청 · NDA) 합의 사항을 다시 한번 읽고 마칩니다.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laude/3fc5374a-f1b9-5111-8941-57c2cf2efc1a/scratchpad/build/assets/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85800" y="685800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대덕전자 제조 AX 제안  ·  1차 미팅 논의자료  ·  2026. 10.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685800" y="12344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기판 수율의 판단을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회사의 자산으로</a:t>
            </a:r>
            <a:endParaRPr lang="en-US" sz="46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33375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AI 기반 불량 원인분석 · 품질 지식 자산화 제안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3730752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영풍전자 제조 AX 과제 구조를 기판 공정에 맞게 재설계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85800" y="4480560"/>
            <a:ext cx="731520" cy="36576"/>
          </a:xfrm>
          <a:prstGeom prst="rect">
            <a:avLst/>
          </a:prstGeom>
          <a:solidFill>
            <a:srgbClr val="E2B23A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85800" y="470916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㈜코난테크놀로지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5074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C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염종학 이사 (국방 · 전략사업부)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5394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Manufacturing AX Proposal for Daeduck Electronics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01752"/>
            <a:ext cx="45720" cy="20116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2651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CONTENTS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오늘 논의할 순서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제안 배경에서 1차 미팅 확인 사항까지 5개 파트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9525">
            <a:solidFill>
              <a:srgbClr val="C9D9E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65105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Konan Technology  |  대덕전자 제조 AX 제안 · 1차 미팅 논의자료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11247120" y="6510528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02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6675120" cy="658368"/>
          </a:xfrm>
          <a:prstGeom prst="rect">
            <a:avLst/>
          </a:prstGeom>
          <a:solidFill>
            <a:srgbClr val="F7FAFD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737360"/>
            <a:ext cx="54864" cy="658368"/>
          </a:xfrm>
          <a:prstGeom prst="rect">
            <a:avLst/>
          </a:prstGeom>
          <a:solidFill>
            <a:srgbClr val="3C679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173736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Ⅰ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325880" y="18288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제안 배경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2103120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AI 기판 증설 · 대면적 고다층화 · 현장 과제 가설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523744"/>
            <a:ext cx="6675120" cy="658368"/>
          </a:xfrm>
          <a:prstGeom prst="rect">
            <a:avLst/>
          </a:prstGeom>
          <a:solidFill>
            <a:srgbClr val="F7FAFD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523744"/>
            <a:ext cx="54864" cy="658368"/>
          </a:xfrm>
          <a:prstGeom prst="rect">
            <a:avLst/>
          </a:prstGeom>
          <a:solidFill>
            <a:srgbClr val="3C679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85800" y="2523744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Ⅱ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2615184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참고 사례: 영풍전자 제조 AX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2889504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전자회로기판 고장탐구 지식 자산화 · 목표 KPI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310128"/>
            <a:ext cx="6675120" cy="658368"/>
          </a:xfrm>
          <a:prstGeom prst="rect">
            <a:avLst/>
          </a:prstGeom>
          <a:solidFill>
            <a:srgbClr val="F7FAFD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310128"/>
            <a:ext cx="54864" cy="658368"/>
          </a:xfrm>
          <a:prstGeom prst="rect">
            <a:avLst/>
          </a:prstGeom>
          <a:solidFill>
            <a:srgbClr val="3C679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" y="3310128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Ⅲ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1325880" y="340156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대덕전자 적용 방안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3675888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4대 적용 업무 · 공정-불량 지식그래프 · HITL 흐름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4096512"/>
            <a:ext cx="6675120" cy="658368"/>
          </a:xfrm>
          <a:prstGeom prst="rect">
            <a:avLst/>
          </a:prstGeom>
          <a:solidFill>
            <a:srgbClr val="F7FAFD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096512"/>
            <a:ext cx="54864" cy="658368"/>
          </a:xfrm>
          <a:prstGeom prst="rect">
            <a:avLst/>
          </a:prstGeom>
          <a:solidFill>
            <a:srgbClr val="3C679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5800" y="4096512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Ⅳ</a:t>
            </a:r>
            <a:endParaRPr lang="en-US" sz="2200" dirty="0"/>
          </a:p>
        </p:txBody>
      </p:sp>
      <p:sp>
        <p:nvSpPr>
          <p:cNvPr id="28" name="Text 26"/>
          <p:cNvSpPr txBox="1"/>
          <p:nvPr/>
        </p:nvSpPr>
        <p:spPr>
          <a:xfrm>
            <a:off x="1325880" y="418795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시스템 구성과 추진 계획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1325880" y="446227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5-Layer 구성 · 단계별 로드맵 · KPI 설계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882896"/>
            <a:ext cx="6675120" cy="658368"/>
          </a:xfrm>
          <a:prstGeom prst="rect">
            <a:avLst/>
          </a:prstGeom>
          <a:solidFill>
            <a:srgbClr val="FBF5E6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882896"/>
            <a:ext cx="54864" cy="65836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85800" y="4882896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Ⅴ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1325880" y="497433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1차 미팅 사전 확인 사항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1325880" y="524865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사업 · 공정 · 데이터 · 보안 체크리스트와 미팅 운영안</a:t>
            </a:r>
            <a:endParaRPr lang="en-US" sz="1100" dirty="0"/>
          </a:p>
        </p:txBody>
      </p:sp>
      <p:pic>
        <p:nvPicPr>
          <p:cNvPr id="35" name="Image 0" descr="/tmp/claude-0/-home-user-claude/3fc5374a-f1b9-5111-8941-57c2cf2efc1a/scratchpad/build/assets/stack_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783080"/>
            <a:ext cx="4023360" cy="3195021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7498080" y="512064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BUILD-UP LAYERS  →  DATA  →  KNOWLEDGE  →  AI AGENT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01752"/>
            <a:ext cx="45720" cy="20116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2651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Ⅰ. 제안 배경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대덕전자의 사업 환경: AI 기판 증설과 대면적 · 고다층화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수요가 커지는 지금이 수율·품질 대응 역량을 시스템으로 만들 적기입니다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9525">
            <a:solidFill>
              <a:srgbClr val="C9D9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5870448"/>
            <a:ext cx="11274552" cy="457200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58704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핵심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증설·램프업 구간에서는 수율 1%p가 곧 이익입니다. 불량 원인을 빨리 찾는 능력이 경쟁력입니다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55080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출처: 디일렉 「대덕전자, AI 기판에 8000억 이상 투입」 · 전자신문(2024.03 대면적 FC-BGA 개발, 2026.06 테크데이) · 증권사 리포트(초기 수율 추정) — 공개 보도 기준, 회사 공식 수치 아님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105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Konan Technology  |  대덕전자 제조 AX 제안 · 1차 미팅 논의자료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6510528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03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1691640"/>
            <a:ext cx="3657600" cy="3931920"/>
          </a:xfrm>
          <a:prstGeom prst="rect">
            <a:avLst/>
          </a:prstGeom>
          <a:solidFill>
            <a:srgbClr val="F7FAFD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691640"/>
            <a:ext cx="54864" cy="3931920"/>
          </a:xfrm>
          <a:prstGeom prst="rect">
            <a:avLst/>
          </a:prstGeom>
          <a:solidFill>
            <a:srgbClr val="3C6791"/>
          </a:solidFill>
          <a:ln/>
        </p:spPr>
      </p:sp>
      <p:pic>
        <p:nvPicPr>
          <p:cNvPr id="15" name="Image 0" descr="/tmp/claude-0/-home-user-claude/3fc5374a-f1b9-5111-8941-57c2cf2efc1a/scratchpad/build/assets/gau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3552" y="1783080"/>
            <a:ext cx="685800" cy="68580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85800" y="18745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8,000억 원+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2560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AI 기판 투자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85800" y="3017520"/>
            <a:ext cx="3200400" cy="0"/>
          </a:xfrm>
          <a:prstGeom prst="line">
            <a:avLst/>
          </a:prstGeom>
          <a:noFill/>
          <a:ln w="9525">
            <a:solidFill>
              <a:srgbClr val="C9D9E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320040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시흥 B1 · 안산 B2 중심 증설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FC-BGA · FC-CSP · MLB 생산능력 확대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신규 라인 = 신규 인력 · 신규 불량 패턴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4261104" y="1691640"/>
            <a:ext cx="3657600" cy="3931920"/>
          </a:xfrm>
          <a:prstGeom prst="rect">
            <a:avLst/>
          </a:prstGeom>
          <a:solidFill>
            <a:srgbClr val="F7FAFD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261104" y="1691640"/>
            <a:ext cx="54864" cy="3931920"/>
          </a:xfrm>
          <a:prstGeom prst="rect">
            <a:avLst/>
          </a:prstGeom>
          <a:solidFill>
            <a:srgbClr val="3C6791"/>
          </a:solidFill>
          <a:ln/>
        </p:spPr>
      </p:sp>
      <p:pic>
        <p:nvPicPr>
          <p:cNvPr id="22" name="Image 1" descr="/tmp/claude-0/-home-user-claude/3fc5374a-f1b9-5111-8941-57c2cf2efc1a/scratchpad/build/assets/ch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456" y="1783080"/>
            <a:ext cx="685800" cy="68580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4489704" y="18745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30층</a:t>
            </a:r>
            <a:endParaRPr lang="en-US" sz="3000" dirty="0"/>
          </a:p>
        </p:txBody>
      </p:sp>
      <p:sp>
        <p:nvSpPr>
          <p:cNvPr id="24" name="Text 20"/>
          <p:cNvSpPr txBox="1"/>
          <p:nvPr/>
        </p:nvSpPr>
        <p:spPr>
          <a:xfrm>
            <a:off x="4489704" y="2560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대면적 · 고다층화 (2028 로드맵)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4489704" y="3017520"/>
            <a:ext cx="3200400" cy="0"/>
          </a:xfrm>
          <a:prstGeom prst="line">
            <a:avLst/>
          </a:prstGeom>
          <a:noFill/>
          <a:ln w="9525">
            <a:solidFill>
              <a:srgbClr val="C9D9E8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4489704" y="320040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100mm급 · 20층+ 대면적 FC-BGA 개발 (2024)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2028년 30층 · 240×237mm급 로드맵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층수·면적이 커질수록 불량 원인 경로 복잡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8065008" y="1691640"/>
            <a:ext cx="3657600" cy="3931920"/>
          </a:xfrm>
          <a:prstGeom prst="rect">
            <a:avLst/>
          </a:prstGeom>
          <a:solidFill>
            <a:srgbClr val="F7FAFD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065008" y="1691640"/>
            <a:ext cx="54864" cy="3931920"/>
          </a:xfrm>
          <a:prstGeom prst="rect">
            <a:avLst/>
          </a:prstGeom>
          <a:solidFill>
            <a:srgbClr val="B8860B"/>
          </a:solidFill>
          <a:ln/>
        </p:spPr>
      </p:sp>
      <p:pic>
        <p:nvPicPr>
          <p:cNvPr id="29" name="Image 2" descr="/tmp/claude-0/-home-user-claude/3fc5374a-f1b9-5111-8941-57c2cf2efc1a/scratchpad/build/assets/bar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2488" y="1810512"/>
            <a:ext cx="777240" cy="584498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8293608" y="18745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~70%</a:t>
            </a:r>
            <a:endParaRPr lang="en-US" sz="3000" dirty="0"/>
          </a:p>
        </p:txBody>
      </p:sp>
      <p:sp>
        <p:nvSpPr>
          <p:cNvPr id="31" name="Text 26"/>
          <p:cNvSpPr txBox="1"/>
          <p:nvPr/>
        </p:nvSpPr>
        <p:spPr>
          <a:xfrm>
            <a:off x="8293608" y="2560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대면적 제품 초기 수율</a:t>
            </a:r>
            <a:endParaRPr lang="en-US" sz="1400" dirty="0"/>
          </a:p>
        </p:txBody>
      </p:sp>
      <p:sp>
        <p:nvSpPr>
          <p:cNvPr id="32" name="Shape 27"/>
          <p:cNvSpPr/>
          <p:nvPr/>
        </p:nvSpPr>
        <p:spPr>
          <a:xfrm>
            <a:off x="8293608" y="3017520"/>
            <a:ext cx="3200400" cy="0"/>
          </a:xfrm>
          <a:prstGeom prst="line">
            <a:avLst/>
          </a:prstGeom>
          <a:noFill/>
          <a:ln w="9525">
            <a:solidFill>
              <a:srgbClr val="C9D9E8"/>
            </a:solidFill>
            <a:prstDash val="solid"/>
          </a:ln>
        </p:spPr>
      </p:sp>
      <p:sp>
        <p:nvSpPr>
          <p:cNvPr id="33" name="Text 28"/>
          <p:cNvSpPr txBox="1"/>
          <p:nvPr/>
        </p:nvSpPr>
        <p:spPr>
          <a:xfrm>
            <a:off x="8293608" y="320040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증권사 추정치 (회사 공식 수치 아님)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램프업 기간 단축 = 수익성 직결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1차 미팅에서 실제 현황 확인 필요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01752"/>
            <a:ext cx="45720" cy="20116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2651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Ⅰ. 제안 배경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현장 과제 가설: 데이터는 있으나 판단에 연결되지 않는다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아래 4가지는 외부 관점의 가설입니다. 1차 미팅에서 사실 여부와 우선순위를 확인합니다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9525">
            <a:solidFill>
              <a:srgbClr val="C9D9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5870448"/>
            <a:ext cx="11274552" cy="457200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58704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핵심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문제는 데이터가 없는 것이 아니라, 판단에 필요한 데이터가 하나로 연결되지 않는 것입니다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55080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※ 코난테크놀로지 가설 — 대덕전자 내부 확인 전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105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Konan Technology  |  대덕전자 제조 AX 제안 · 1차 미팅 논의자료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6510528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04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9509760" y="1097280"/>
            <a:ext cx="2221992" cy="256032"/>
          </a:xfrm>
          <a:prstGeom prst="roundRect">
            <a:avLst>
              <a:gd name="adj" fmla="val 50000"/>
            </a:avLst>
          </a:prstGeom>
          <a:solidFill>
            <a:srgbClr val="FBF5E6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509760" y="1097280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가설 · 1차 미팅에서 검증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1664208"/>
            <a:ext cx="5596128" cy="1938528"/>
          </a:xfrm>
          <a:prstGeom prst="rect">
            <a:avLst/>
          </a:prstGeom>
          <a:solidFill>
            <a:srgbClr val="F7FAFD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1664208"/>
            <a:ext cx="54864" cy="1938528"/>
          </a:xfrm>
          <a:prstGeom prst="rect">
            <a:avLst/>
          </a:prstGeom>
          <a:solidFill>
            <a:srgbClr val="B8860B"/>
          </a:solidFill>
          <a:ln/>
        </p:spPr>
      </p:sp>
      <p:pic>
        <p:nvPicPr>
          <p:cNvPr id="17" name="Image 0" descr="/tmp/claude-0/-home-user-claude/3fc5374a-f1b9-5111-8941-57c2cf2efc1a/scratchpad/build/asset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1773936"/>
            <a:ext cx="658368" cy="658368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685800" y="18013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① 불량 원인 추적이 수작업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2532888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불량 발생 시 공정이력(MES) · 검사(AOI/BBT) · 설비 로그 · 약품 분석을 사람이 엮어서 추적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신제품·신규 라인 램프업 시 분석 요청 급증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135624" y="1664208"/>
            <a:ext cx="5596128" cy="1938528"/>
          </a:xfrm>
          <a:prstGeom prst="rect">
            <a:avLst/>
          </a:prstGeom>
          <a:solidFill>
            <a:srgbClr val="F7FAFD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135624" y="1664208"/>
            <a:ext cx="54864" cy="1938528"/>
          </a:xfrm>
          <a:prstGeom prst="rect">
            <a:avLst/>
          </a:prstGeom>
          <a:solidFill>
            <a:srgbClr val="3C6791"/>
          </a:solidFill>
          <a:ln/>
        </p:spPr>
      </p:sp>
      <p:pic>
        <p:nvPicPr>
          <p:cNvPr id="22" name="Image 1" descr="/tmp/claude-0/-home-user-claude/3fc5374a-f1b9-5111-8941-57c2cf2efc1a/scratchpad/build/assets/book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0504" y="1773936"/>
            <a:ext cx="658368" cy="658368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6364224" y="18013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② 과거 불량·대책 이력이 흩어짐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6364224" y="2532888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8D · CAR · 불량 분석 보고서가 부서·개인 폴더에 산재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같은 불량이 재발해도 당시 원인과 대책을 찾기 어려움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457200" y="3739896"/>
            <a:ext cx="5596128" cy="1938528"/>
          </a:xfrm>
          <a:prstGeom prst="rect">
            <a:avLst/>
          </a:prstGeom>
          <a:solidFill>
            <a:srgbClr val="F7FAFD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57200" y="3739896"/>
            <a:ext cx="54864" cy="1938528"/>
          </a:xfrm>
          <a:prstGeom prst="rect">
            <a:avLst/>
          </a:prstGeom>
          <a:solidFill>
            <a:srgbClr val="3C6791"/>
          </a:solidFill>
          <a:ln/>
        </p:spPr>
      </p:sp>
      <p:pic>
        <p:nvPicPr>
          <p:cNvPr id="27" name="Image 2" descr="/tmp/claude-0/-home-user-claude/3fc5374a-f1b9-5111-8941-57c2cf2efc1a/scratchpad/build/assets/doc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3849624"/>
            <a:ext cx="658368" cy="658368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685800" y="387705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③ 고객 품질 대응 문서 부담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685800" y="4608576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고객사 8D · CAR · Audit 대응 문서 작성에 엔지니어 시간 소요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고객사별 양식·용어·기한이 달라 작성 편차 발생</a:t>
            </a:r>
            <a:endParaRPr lang="en-US" sz="1250" dirty="0"/>
          </a:p>
        </p:txBody>
      </p:sp>
      <p:sp>
        <p:nvSpPr>
          <p:cNvPr id="30" name="Shape 25"/>
          <p:cNvSpPr/>
          <p:nvPr/>
        </p:nvSpPr>
        <p:spPr>
          <a:xfrm>
            <a:off x="6135624" y="3739896"/>
            <a:ext cx="5596128" cy="1938528"/>
          </a:xfrm>
          <a:prstGeom prst="rect">
            <a:avLst/>
          </a:prstGeom>
          <a:solidFill>
            <a:srgbClr val="F7FAFD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135624" y="3739896"/>
            <a:ext cx="54864" cy="1938528"/>
          </a:xfrm>
          <a:prstGeom prst="rect">
            <a:avLst/>
          </a:prstGeom>
          <a:solidFill>
            <a:srgbClr val="3C6791"/>
          </a:solidFill>
          <a:ln/>
        </p:spPr>
      </p:sp>
      <p:pic>
        <p:nvPicPr>
          <p:cNvPr id="32" name="Image 3" descr="/tmp/claude-0/-home-user-claude/3fc5374a-f1b9-5111-8941-57c2cf2efc1a/scratchpad/build/assets/peop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0504" y="3849624"/>
            <a:ext cx="658368" cy="658368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6364224" y="387705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④ 숙련자 노하우 의존</a:t>
            </a:r>
            <a:endParaRPr lang="en-US" sz="1500" dirty="0"/>
          </a:p>
        </p:txBody>
      </p:sp>
      <p:sp>
        <p:nvSpPr>
          <p:cNvPr id="34" name="Text 28"/>
          <p:cNvSpPr txBox="1"/>
          <p:nvPr/>
        </p:nvSpPr>
        <p:spPr>
          <a:xfrm>
            <a:off x="6364224" y="4608576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공정 조건 조정 · 이상 징후 판단의 "감"이 숙련자 머릿속에 존재</a:t>
            </a:r>
            <a:endParaRPr lang="en-US" sz="125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인력 이동·증설 인력 투입 시 분석 품질 편차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01752"/>
            <a:ext cx="45720" cy="20116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2651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Ⅱ. 참고 사례: 영풍전자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영풍전자 제조 AX: 전자회로기판 고장탐구 지식 자산화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숙련자의 고장탐구 노하우를 지식그래프로 옮기고, AI와 엔지니어가 협업하는 구조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9525">
            <a:solidFill>
              <a:srgbClr val="C9D9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5870448"/>
            <a:ext cx="11274552" cy="457200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58704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핵심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숙련자의 탐구 순서를 지식그래프로 옮기고, AI는 초안 · 사람은 확정합니다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55080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출처: 코난테크놀로지 보도자료(중기부 AI 응용제품 신속 상용화 사업 선정) · 영풍전자 「AI 응용제품 신속 상용화 지원사업」 발표평가(2026.05)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105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Konan Technology  |  대덕전자 제조 AX 제안 · 1차 미팅 논의자료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6510528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05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1691640"/>
            <a:ext cx="3657600" cy="3931920"/>
          </a:xfrm>
          <a:prstGeom prst="rect">
            <a:avLst/>
          </a:prstGeom>
          <a:solidFill>
            <a:srgbClr val="F7FAFD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691640"/>
            <a:ext cx="54864" cy="3931920"/>
          </a:xfrm>
          <a:prstGeom prst="rect">
            <a:avLst/>
          </a:prstGeom>
          <a:solidFill>
            <a:srgbClr val="3C6791"/>
          </a:solidFill>
          <a:ln/>
        </p:spPr>
      </p:sp>
      <p:pic>
        <p:nvPicPr>
          <p:cNvPr id="15" name="Image 0" descr="/tmp/claude-0/-home-user-claude/3fc5374a-f1b9-5111-8941-57c2cf2efc1a/scratchpad/build/assets/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19272" y="1764792"/>
            <a:ext cx="685800" cy="68580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40080" y="18013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사업 개요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2514600"/>
            <a:ext cx="3337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과제: AI 기반 제조 지식 자산화 및 전자회로기판 제조 공정 관리 자동화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중기부 AI 응용제품 신속 상용화 지원사업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12개월 (2026.07 ~ 2027.06)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컨소시엄 5개 기관: 영풍전자(도입) · 코난테크놀로지(AI 솔루션) · 애버커스(Agent) · 국립창원대(온톨로지) · 경남TP(기획)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261104" y="1691640"/>
            <a:ext cx="3657600" cy="3931920"/>
          </a:xfrm>
          <a:prstGeom prst="rect">
            <a:avLst/>
          </a:prstGeom>
          <a:solidFill>
            <a:srgbClr val="F7FAFD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261104" y="1691640"/>
            <a:ext cx="54864" cy="3931920"/>
          </a:xfrm>
          <a:prstGeom prst="rect">
            <a:avLst/>
          </a:prstGeom>
          <a:solidFill>
            <a:srgbClr val="B8860B"/>
          </a:solidFill>
          <a:ln/>
        </p:spPr>
      </p:sp>
      <p:pic>
        <p:nvPicPr>
          <p:cNvPr id="20" name="Image 1" descr="/tmp/claude-0/-home-user-claude/3fc5374a-f1b9-5111-8941-57c2cf2efc1a/scratchpad/build/assets/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3176" y="1764792"/>
            <a:ext cx="685800" cy="68580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4443984" y="18013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AS-IS: 전 과정 수작업</a:t>
            </a:r>
            <a:endParaRPr lang="en-US" sz="1500" dirty="0"/>
          </a:p>
        </p:txBody>
      </p:sp>
      <p:sp>
        <p:nvSpPr>
          <p:cNvPr id="22" name="Text 18"/>
          <p:cNvSpPr txBox="1"/>
          <p:nvPr/>
        </p:nvSpPr>
        <p:spPr>
          <a:xfrm>
            <a:off x="4443984" y="2514600"/>
            <a:ext cx="3337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육안검사 → 전원 인가 → 회로도 분석 → 계측기 진단 → 부품 교환 → 보고서 수기 작성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개인 재량·숙련도에 따라 수리시간 편차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고장탐구 이력·시정조치 데이터가 흩어져 사례 재활용 곤란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회로도·데이터시트·시험절차서가 부서별로 산재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8065008" y="1691640"/>
            <a:ext cx="3657600" cy="3931920"/>
          </a:xfrm>
          <a:prstGeom prst="rect">
            <a:avLst/>
          </a:prstGeom>
          <a:solidFill>
            <a:srgbClr val="F7FAFD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065008" y="1691640"/>
            <a:ext cx="54864" cy="3931920"/>
          </a:xfrm>
          <a:prstGeom prst="rect">
            <a:avLst/>
          </a:prstGeom>
          <a:solidFill>
            <a:srgbClr val="3C6791"/>
          </a:solidFill>
          <a:ln/>
        </p:spPr>
      </p:sp>
      <p:pic>
        <p:nvPicPr>
          <p:cNvPr id="25" name="Image 2" descr="/tmp/claude-0/-home-user-claude/3fc5374a-f1b9-5111-8941-57c2cf2efc1a/scratchpad/build/assets/person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7080" y="1764792"/>
            <a:ext cx="685800" cy="685800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8247888" y="18013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TO-BE: AI + 엔지니어 협업</a:t>
            </a:r>
            <a:endParaRPr lang="en-US" sz="1500" dirty="0"/>
          </a:p>
        </p:txBody>
      </p:sp>
      <p:sp>
        <p:nvSpPr>
          <p:cNvPr id="27" name="Text 22"/>
          <p:cNvSpPr txBox="1"/>
          <p:nvPr/>
        </p:nvSpPr>
        <p:spPr>
          <a:xfrm>
            <a:off x="8247888" y="2514600"/>
            <a:ext cx="33375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고장 현상 입력 → 추정 원인 · 의심 부품 · 확인 절차 단계별 제안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검사 Agent: 회로도·데이터시트 분석, 기준값 자동 제시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유사 고장사례 자동 매칭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FA Report · 품질검사 · MRB 보고서 초안 자동 생성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엔지니어 검증 · 승인 (HITL)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01752"/>
            <a:ext cx="45720" cy="20116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2651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Ⅱ. 참고 사례: 영풍전자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영풍전자 목표 성과지표와 단계적 확산 구조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기준선(현재 수준)을 먼저 측정했기에 목표를 숫자로 세울 수 있었습니다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9525">
            <a:solidFill>
              <a:srgbClr val="C9D9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5870448"/>
            <a:ext cx="11274552" cy="457200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58704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핵심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"작게 실증하고, 숫자로 증명하고, 그 숫자로 다음 투자를 결정한다"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55080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출처: 영풍전자 「AI 응용제품 신속 상용화 지원사업」 발표평가(2026.05) — 모든 수치는 사업 종료 시점 목표치이며 달성 실적이 아님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105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Konan Technology  |  대덕전자 제조 AX 제안 · 1차 미팅 논의자료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6510528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06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1691640"/>
            <a:ext cx="6949440" cy="3931920"/>
          </a:xfrm>
          <a:prstGeom prst="rect">
            <a:avLst/>
          </a:prstGeom>
          <a:solidFill>
            <a:srgbClr val="F7FAFD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691640"/>
            <a:ext cx="54864" cy="3931920"/>
          </a:xfrm>
          <a:prstGeom prst="rect">
            <a:avLst/>
          </a:prstGeom>
          <a:solidFill>
            <a:srgbClr val="3C679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18013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목표 KPI (사업 종료 시점 목표)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897880" y="1856232"/>
            <a:ext cx="1325880" cy="256032"/>
          </a:xfrm>
          <a:prstGeom prst="roundRect">
            <a:avLst>
              <a:gd name="adj" fmla="val 50000"/>
            </a:avLst>
          </a:prstGeom>
          <a:solidFill>
            <a:srgbClr val="FBF5E6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97880" y="1856232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진행 중 · 목표치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5800" y="2377440"/>
            <a:ext cx="20574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25146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50%↓</a:t>
            </a:r>
            <a:endParaRPr lang="en-US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32461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고장 원인 분석 시간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898648" y="2377440"/>
            <a:ext cx="20574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898648" y="25146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70%↓</a:t>
            </a:r>
            <a:endParaRPr lang="en-US" sz="3200" dirty="0"/>
          </a:p>
        </p:txBody>
      </p:sp>
      <p:sp>
        <p:nvSpPr>
          <p:cNvPr id="23" name="Text 21"/>
          <p:cNvSpPr txBox="1"/>
          <p:nvPr/>
        </p:nvSpPr>
        <p:spPr>
          <a:xfrm>
            <a:off x="2990088" y="32461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보고서 작성 시간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111496" y="2377440"/>
            <a:ext cx="205740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11496" y="25146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80%↓</a:t>
            </a:r>
            <a:endParaRPr lang="en-US" sz="3200" dirty="0"/>
          </a:p>
        </p:txBody>
      </p:sp>
      <p:sp>
        <p:nvSpPr>
          <p:cNvPr id="26" name="Text 24"/>
          <p:cNvSpPr txBox="1"/>
          <p:nvPr/>
        </p:nvSpPr>
        <p:spPr>
          <a:xfrm>
            <a:off x="5202936" y="32461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기술문서 검색 시간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85800" y="3977640"/>
            <a:ext cx="2057400" cy="1371600"/>
          </a:xfrm>
          <a:prstGeom prst="rect">
            <a:avLst/>
          </a:prstGeom>
          <a:solidFill>
            <a:srgbClr val="EAF1F8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" y="41148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85%↑</a:t>
            </a:r>
            <a:endParaRPr lang="en-US" sz="32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48463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유사 고장사례 매칭 정확도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898648" y="3977640"/>
            <a:ext cx="2057400" cy="1371600"/>
          </a:xfrm>
          <a:prstGeom prst="rect">
            <a:avLst/>
          </a:prstGeom>
          <a:solidFill>
            <a:srgbClr val="EAF1F8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898648" y="41148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90%↑</a:t>
            </a:r>
            <a:endParaRPr lang="en-US" sz="3200" dirty="0"/>
          </a:p>
        </p:txBody>
      </p:sp>
      <p:sp>
        <p:nvSpPr>
          <p:cNvPr id="32" name="Text 30"/>
          <p:cNvSpPr txBox="1"/>
          <p:nvPr/>
        </p:nvSpPr>
        <p:spPr>
          <a:xfrm>
            <a:off x="2990088" y="48463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표준 코드 적용률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111496" y="3977640"/>
            <a:ext cx="2057400" cy="1371600"/>
          </a:xfrm>
          <a:prstGeom prst="rect">
            <a:avLst/>
          </a:prstGeom>
          <a:solidFill>
            <a:srgbClr val="EAF1F8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111496" y="411480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95%↑</a:t>
            </a:r>
            <a:endParaRPr lang="en-US" sz="3200" dirty="0"/>
          </a:p>
        </p:txBody>
      </p:sp>
      <p:sp>
        <p:nvSpPr>
          <p:cNvPr id="35" name="Text 33"/>
          <p:cNvSpPr txBox="1"/>
          <p:nvPr/>
        </p:nvSpPr>
        <p:spPr>
          <a:xfrm>
            <a:off x="5202936" y="484632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데이터 정합성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589520" y="1691640"/>
            <a:ext cx="4142232" cy="3931920"/>
          </a:xfrm>
          <a:prstGeom prst="rect">
            <a:avLst/>
          </a:prstGeom>
          <a:solidFill>
            <a:srgbClr val="F7FAFD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589520" y="1691640"/>
            <a:ext cx="54864" cy="3931920"/>
          </a:xfrm>
          <a:prstGeom prst="rect">
            <a:avLst/>
          </a:prstGeom>
          <a:solidFill>
            <a:srgbClr val="B8860B"/>
          </a:solidFill>
          <a:ln/>
        </p:spPr>
      </p:sp>
      <p:pic>
        <p:nvPicPr>
          <p:cNvPr id="38" name="Image 0" descr="/tmp/claude-0/-home-user-claude/3fc5374a-f1b9-5111-8941-57c2cf2efc1a/scratchpad/build/assets/stai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69880" y="1755648"/>
            <a:ext cx="1097280" cy="808944"/>
          </a:xfrm>
          <a:prstGeom prst="rect">
            <a:avLst/>
          </a:prstGeom>
        </p:spPr>
      </p:pic>
      <p:sp>
        <p:nvSpPr>
          <p:cNvPr id="39" name="Text 36"/>
          <p:cNvSpPr txBox="1"/>
          <p:nvPr/>
        </p:nvSpPr>
        <p:spPr>
          <a:xfrm>
            <a:off x="7772400" y="18013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단계적 확산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7772400" y="2651760"/>
            <a:ext cx="384048" cy="384048"/>
          </a:xfrm>
          <a:prstGeom prst="ellipse">
            <a:avLst/>
          </a:prstGeom>
          <a:solidFill>
            <a:srgbClr val="B8860B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7772400" y="2651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42" name="Text 39"/>
          <p:cNvSpPr txBox="1"/>
          <p:nvPr/>
        </p:nvSpPr>
        <p:spPr>
          <a:xfrm>
            <a:off x="8321040" y="2606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1단계 · 사업 기간 내</a:t>
            </a:r>
            <a:endParaRPr lang="en-US" sz="1250" dirty="0"/>
          </a:p>
        </p:txBody>
      </p:sp>
      <p:sp>
        <p:nvSpPr>
          <p:cNvPr id="43" name="Text 40"/>
          <p:cNvSpPr txBox="1"/>
          <p:nvPr/>
        </p:nvSpPr>
        <p:spPr>
          <a:xfrm>
            <a:off x="8321040" y="28986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본사 PBA 제조·검사 공정 시범 운영</a:t>
            </a:r>
            <a:endParaRPr lang="en-US" sz="1150" dirty="0"/>
          </a:p>
        </p:txBody>
      </p:sp>
      <p:sp>
        <p:nvSpPr>
          <p:cNvPr id="44" name="Shape 41"/>
          <p:cNvSpPr/>
          <p:nvPr/>
        </p:nvSpPr>
        <p:spPr>
          <a:xfrm>
            <a:off x="7772400" y="3566160"/>
            <a:ext cx="384048" cy="384048"/>
          </a:xfrm>
          <a:prstGeom prst="ellipse">
            <a:avLst/>
          </a:prstGeom>
          <a:solidFill>
            <a:srgbClr val="0E2240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7772400" y="35661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46" name="Text 43"/>
          <p:cNvSpPr txBox="1"/>
          <p:nvPr/>
        </p:nvSpPr>
        <p:spPr>
          <a:xfrm>
            <a:off x="8321040" y="35204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2단계 · 종료 후 1년</a:t>
            </a:r>
            <a:endParaRPr lang="en-US" sz="1250" dirty="0"/>
          </a:p>
        </p:txBody>
      </p:sp>
      <p:sp>
        <p:nvSpPr>
          <p:cNvPr id="47" name="Text 44"/>
          <p:cNvSpPr txBox="1"/>
          <p:nvPr/>
        </p:nvSpPr>
        <p:spPr>
          <a:xfrm>
            <a:off x="8321040" y="38130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타 사업장 확대, MES·ERP 통합 연동</a:t>
            </a:r>
            <a:endParaRPr lang="en-US" sz="1150" dirty="0"/>
          </a:p>
        </p:txBody>
      </p:sp>
      <p:sp>
        <p:nvSpPr>
          <p:cNvPr id="48" name="Shape 45"/>
          <p:cNvSpPr/>
          <p:nvPr/>
        </p:nvSpPr>
        <p:spPr>
          <a:xfrm>
            <a:off x="7772400" y="4480560"/>
            <a:ext cx="384048" cy="384048"/>
          </a:xfrm>
          <a:prstGeom prst="ellipse">
            <a:avLst/>
          </a:prstGeom>
          <a:solidFill>
            <a:srgbClr val="0E2240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7772400" y="4480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8321040" y="4434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3단계 · 종료 후 2~3년</a:t>
            </a:r>
            <a:endParaRPr lang="en-US" sz="1250" dirty="0"/>
          </a:p>
        </p:txBody>
      </p:sp>
      <p:sp>
        <p:nvSpPr>
          <p:cNvPr id="51" name="Text 48"/>
          <p:cNvSpPr txBox="1"/>
          <p:nvPr/>
        </p:nvSpPr>
        <p:spPr>
          <a:xfrm>
            <a:off x="8321040" y="4727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동종업계 B2B 패키지 공급</a:t>
            </a:r>
            <a:endParaRPr lang="en-US" sz="1150" dirty="0"/>
          </a:p>
        </p:txBody>
      </p:sp>
      <p:sp>
        <p:nvSpPr>
          <p:cNvPr id="52" name="Text 49"/>
          <p:cNvSpPr txBox="1"/>
          <p:nvPr/>
        </p:nvSpPr>
        <p:spPr>
          <a:xfrm>
            <a:off x="7772400" y="5257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확산 조건: 내부 KPI 달성 → 투자심의 → 확산 예산 확보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01752"/>
            <a:ext cx="45720" cy="20116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2651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Ⅲ. 대덕전자 적용 방안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사례에서 가져올 것과 바꿀 것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영풍전자는 조립품(PBA) 고장진단, 대덕전자는 기판 제조 불량 원인분석입니다. 그대로 옮기면 맞지 않습니다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9525">
            <a:solidFill>
              <a:srgbClr val="C9D9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5870448"/>
            <a:ext cx="11274552" cy="457200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58704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핵심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구조는 검증 중인 것을 쓰고, 대상 업무는 대덕전자 공정에 맞게 다시 설계합니다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105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Konan Technology  |  대덕전자 제조 AX 제안 · 1차 미팅 논의자료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11247120" y="6510528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07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1691640"/>
            <a:ext cx="5120640" cy="3931920"/>
          </a:xfrm>
          <a:prstGeom prst="rect">
            <a:avLst/>
          </a:prstGeom>
          <a:solidFill>
            <a:srgbClr val="F7FAFD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691640"/>
            <a:ext cx="54864" cy="3931920"/>
          </a:xfrm>
          <a:prstGeom prst="rect">
            <a:avLst/>
          </a:prstGeom>
          <a:solidFill>
            <a:srgbClr val="3C6791"/>
          </a:solidFill>
          <a:ln/>
        </p:spPr>
      </p:sp>
      <p:pic>
        <p:nvPicPr>
          <p:cNvPr id="14" name="Image 0" descr="/tmp/claude-0/-home-user-claude/3fc5374a-f1b9-5111-8941-57c2cf2efc1a/scratchpad/build/asset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1764792"/>
            <a:ext cx="685800" cy="68580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685800" y="18013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가져올 것 — 구조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251460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숙련자 판단의 지식 자산화 (온톨로지 · 지식그래프)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업무 단위 AI Agent (분석 · 검색 · 보고서)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보고서 초안 자동 생성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HITL: AI는 초안과 근거, 확정은 엔지니어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온프레미스 운영으로 기술자료 외부 반출 차단</a:t>
            </a:r>
            <a:endParaRPr lang="en-US" sz="13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3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기준선 측정 → 목표 KPI → 단계적 확산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733288" y="3291840"/>
            <a:ext cx="731520" cy="731520"/>
          </a:xfrm>
          <a:prstGeom prst="rightArrow">
            <a:avLst/>
          </a:prstGeom>
          <a:solidFill>
            <a:srgbClr val="E2B23A"/>
          </a:solidFill>
          <a:ln/>
        </p:spPr>
      </p:sp>
      <p:sp>
        <p:nvSpPr>
          <p:cNvPr id="18" name="Shape 15"/>
          <p:cNvSpPr/>
          <p:nvPr/>
        </p:nvSpPr>
        <p:spPr>
          <a:xfrm>
            <a:off x="6611112" y="1691640"/>
            <a:ext cx="5120640" cy="3931920"/>
          </a:xfrm>
          <a:prstGeom prst="rect">
            <a:avLst/>
          </a:prstGeom>
          <a:solidFill>
            <a:srgbClr val="FBF5E6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611112" y="1691640"/>
            <a:ext cx="54864" cy="3931920"/>
          </a:xfrm>
          <a:prstGeom prst="rect">
            <a:avLst/>
          </a:prstGeom>
          <a:solidFill>
            <a:srgbClr val="B8860B"/>
          </a:solidFill>
          <a:ln/>
        </p:spPr>
      </p:sp>
      <p:pic>
        <p:nvPicPr>
          <p:cNvPr id="20" name="Image 1" descr="/tmp/claude-0/-home-user-claude/3fc5374a-f1b9-5111-8941-57c2cf2efc1a/scratchpad/build/assets/exchan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3072" y="1764792"/>
            <a:ext cx="685800" cy="68580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6839712" y="18013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바꿀 것 — 대상 업무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6839712" y="251460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조립품 단품 고장진단</a:t>
            </a:r>
            <a:endParaRPr lang="en-US" sz="1150" dirty="0"/>
          </a:p>
        </p:txBody>
      </p:sp>
      <p:sp>
        <p:nvSpPr>
          <p:cNvPr id="23" name="Text 19"/>
          <p:cNvSpPr txBox="1"/>
          <p:nvPr/>
        </p:nvSpPr>
        <p:spPr>
          <a:xfrm>
            <a:off x="8823960" y="2514600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Text 20"/>
          <p:cNvSpPr txBox="1"/>
          <p:nvPr/>
        </p:nvSpPr>
        <p:spPr>
          <a:xfrm>
            <a:off x="9189720" y="25146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기판 로트·공정 단위 불량 원인분석</a:t>
            </a:r>
            <a:endParaRPr lang="en-US" sz="1200" dirty="0"/>
          </a:p>
        </p:txBody>
      </p:sp>
      <p:sp>
        <p:nvSpPr>
          <p:cNvPr id="25" name="Shape 21"/>
          <p:cNvSpPr/>
          <p:nvPr/>
        </p:nvSpPr>
        <p:spPr>
          <a:xfrm>
            <a:off x="6839712" y="3172968"/>
            <a:ext cx="4709160" cy="0"/>
          </a:xfrm>
          <a:prstGeom prst="line">
            <a:avLst/>
          </a:prstGeom>
          <a:noFill/>
          <a:ln w="9525">
            <a:solidFill>
              <a:srgbClr val="E8DDBF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6839712" y="326440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회로도 · 데이터시트</a:t>
            </a:r>
            <a:endParaRPr lang="en-US" sz="1150" dirty="0"/>
          </a:p>
        </p:txBody>
      </p:sp>
      <p:sp>
        <p:nvSpPr>
          <p:cNvPr id="27" name="Text 23"/>
          <p:cNvSpPr txBox="1"/>
          <p:nvPr/>
        </p:nvSpPr>
        <p:spPr>
          <a:xfrm>
            <a:off x="8823960" y="3264408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Text 24"/>
          <p:cNvSpPr txBox="1"/>
          <p:nvPr/>
        </p:nvSpPr>
        <p:spPr>
          <a:xfrm>
            <a:off x="9189720" y="326440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공정조건 · 검사 · 설비 · 약품 데이터</a:t>
            </a:r>
            <a:endParaRPr lang="en-US" sz="1200" dirty="0"/>
          </a:p>
        </p:txBody>
      </p:sp>
      <p:sp>
        <p:nvSpPr>
          <p:cNvPr id="29" name="Shape 25"/>
          <p:cNvSpPr/>
          <p:nvPr/>
        </p:nvSpPr>
        <p:spPr>
          <a:xfrm>
            <a:off x="6839712" y="3922776"/>
            <a:ext cx="4709160" cy="0"/>
          </a:xfrm>
          <a:prstGeom prst="line">
            <a:avLst/>
          </a:prstGeom>
          <a:noFill/>
          <a:ln w="9525">
            <a:solidFill>
              <a:srgbClr val="E8DDBF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6839712" y="401421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부품 교환 · 수리</a:t>
            </a:r>
            <a:endParaRPr lang="en-US" sz="1150" dirty="0"/>
          </a:p>
        </p:txBody>
      </p:sp>
      <p:sp>
        <p:nvSpPr>
          <p:cNvPr id="31" name="Text 27"/>
          <p:cNvSpPr txBox="1"/>
          <p:nvPr/>
        </p:nvSpPr>
        <p:spPr>
          <a:xfrm>
            <a:off x="8823960" y="4014216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→</a:t>
            </a:r>
            <a:endParaRPr lang="en-US" sz="1400" dirty="0"/>
          </a:p>
        </p:txBody>
      </p:sp>
      <p:sp>
        <p:nvSpPr>
          <p:cNvPr id="32" name="Text 28"/>
          <p:cNvSpPr txBox="1"/>
          <p:nvPr/>
        </p:nvSpPr>
        <p:spPr>
          <a:xfrm>
            <a:off x="9189720" y="401421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공정 조건 조정 · 재발 방지 대책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6839712" y="4672584"/>
            <a:ext cx="4709160" cy="0"/>
          </a:xfrm>
          <a:prstGeom prst="line">
            <a:avLst/>
          </a:prstGeom>
          <a:noFill/>
          <a:ln w="9525">
            <a:solidFill>
              <a:srgbClr val="E8DDBF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6839712" y="476402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방산 FA · MRB 보고서</a:t>
            </a:r>
            <a:endParaRPr lang="en-US" sz="1150" dirty="0"/>
          </a:p>
        </p:txBody>
      </p:sp>
      <p:sp>
        <p:nvSpPr>
          <p:cNvPr id="35" name="Text 31"/>
          <p:cNvSpPr txBox="1"/>
          <p:nvPr/>
        </p:nvSpPr>
        <p:spPr>
          <a:xfrm>
            <a:off x="8823960" y="4764024"/>
            <a:ext cx="320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Text 32"/>
          <p:cNvSpPr txBox="1"/>
          <p:nvPr/>
        </p:nvSpPr>
        <p:spPr>
          <a:xfrm>
            <a:off x="9189720" y="476402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고객사 8D · CAR · Audit 대응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01752"/>
            <a:ext cx="45720" cy="20116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2651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Ⅲ. 대덕전자 적용 방안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영풍전자 구성요소 → 대덕전자 적용안 매핑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같은 6개 구성요소를 기판 제조 업무 언어로 바꾸면 다음과 같습니다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9525">
            <a:solidFill>
              <a:srgbClr val="C9D9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5870448"/>
            <a:ext cx="11274552" cy="457200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58704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핵심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6개 구성요소는 같고, 다루는 데이터와 업무만 바뀝니다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55080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※ 대덕전자 적용안은 제안 초안이며, 1차 미팅·진단 결과에 따라 조정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105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Konan Technology  |  대덕전자 제조 AX 제안 · 1차 미팅 논의자료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6510528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08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74552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840480"/>
                <a:gridCol w="5696712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구성요소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영풍전자 (PBA 고장진단)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대덕전자 적용안 (기판 제조)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2240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지식 자산화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D6E8E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고장진단 지식그래프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D6E8E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(증상 → 회로영역 → 의심부품 → 조치)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공정-불량 지식그래프</a:t>
                      </a:r>
                      <a:endParaRPr lang="en-US" sz="11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(제품·층구조 → 공정 → 설비·자재 → 불량모드 → 원인 → 대책)</a:t>
                      </a:r>
                      <a:endParaRPr lang="en-US" sz="11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2240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분석 Agent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D6E8E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검사 Agent: 회로도·데이터시트 분석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불량 원인분석 Agent: 로트 이력·검사·설비·약품 데이터를 연결해 원인 후보를 근거와 함께 제시</a:t>
                      </a:r>
                      <a:endParaRPr lang="en-US" sz="11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2240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사례 검색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D6E8E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유사 고장사례 매칭 Agent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유사 불량 검색 Agent: 과거 8D·CAR·불량 이력에서 유사 사례와 당시 대책 제시</a:t>
                      </a:r>
                      <a:endParaRPr lang="en-US" sz="11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2240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보고서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D6E8E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고장탐구 결과서 · FA · MRB 초안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품질 보고서 초안: 8D · CAR · 고객 Audit 대응 · 주간 품질회의 자료</a:t>
                      </a:r>
                      <a:endParaRPr lang="en-US" sz="11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2240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문서 Q&amp;A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D6E8E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RAG 기반 기술문서 질의응답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공정·고객 스펙 Q&amp;A: 공정 표준서 · 작업지시서 · 고객 스펙 · 설비 매뉴얼</a:t>
                      </a:r>
                      <a:endParaRPr lang="en-US" sz="11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2240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최종 확정</a:t>
                      </a:r>
                      <a:endParaRPr lang="en-US" sz="12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D6E8E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현장 엔지니어 검증 · 승인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품질 · 공정 엔지니어 검증 · 승인 (AI는 초안과 근거만 제시)</a:t>
                      </a:r>
                      <a:endParaRPr lang="en-US" sz="11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109728" marR="109728" marT="45720" marB="45720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01752"/>
            <a:ext cx="45720" cy="20116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2651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Ⅲ. 대덕전자 적용 방안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4대 적용 업무: 업무 단위 AI Agent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불량 발생부터 고객 보고까지, 품질 엔지니어의 하루를 기준으로 구성했습니다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9525">
            <a:solidFill>
              <a:srgbClr val="C9D9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5870448"/>
            <a:ext cx="11274552" cy="457200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58704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핵심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PoC는 4개 중 1~2개 업무로 시작합니다. 대상은 1차 미팅과 진단 결과로 정합니다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55080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※ PoC 후보 우선순위는 코난테크놀로지 제안 — 데이터 연계성·성과 측정 가능성 확인 후 확정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105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Konan Technology  |  대덕전자 제조 AX 제안 · 1차 미팅 논의자료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6510528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09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1691640"/>
            <a:ext cx="2715768" cy="3931920"/>
          </a:xfrm>
          <a:prstGeom prst="rect">
            <a:avLst/>
          </a:prstGeom>
          <a:solidFill>
            <a:srgbClr val="FBF5E6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691640"/>
            <a:ext cx="54864" cy="3931920"/>
          </a:xfrm>
          <a:prstGeom prst="rect">
            <a:avLst/>
          </a:prstGeom>
          <a:solidFill>
            <a:srgbClr val="B8860B"/>
          </a:solidFill>
          <a:ln/>
        </p:spPr>
      </p:sp>
      <p:pic>
        <p:nvPicPr>
          <p:cNvPr id="15" name="Image 0" descr="/tmp/claude-0/-home-user-claude/3fc5374a-f1b9-5111-8941-57c2cf2efc1a/scratchpad/build/assets/ch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9032" y="1828800"/>
            <a:ext cx="868680" cy="86868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685800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UC1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94360" y="30632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불량 원인분석 Agent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731520" y="3566160"/>
            <a:ext cx="2194560" cy="0"/>
          </a:xfrm>
          <a:prstGeom prst="line">
            <a:avLst/>
          </a:prstGeom>
          <a:noFill/>
          <a:ln w="9525">
            <a:solidFill>
              <a:srgbClr val="C9D9E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85800" y="3675888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입력: 불량 현상 · 로트/패널 ID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출력: 의심 공정 · 원인 후보 · 근거 데이터 · 확인 절차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1243584" y="5193792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243584" y="519379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PoC 후보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310128" y="1691640"/>
            <a:ext cx="2715768" cy="3931920"/>
          </a:xfrm>
          <a:prstGeom prst="rect">
            <a:avLst/>
          </a:prstGeom>
          <a:solidFill>
            <a:srgbClr val="FBF5E6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310128" y="1691640"/>
            <a:ext cx="54864" cy="3931920"/>
          </a:xfrm>
          <a:prstGeom prst="rect">
            <a:avLst/>
          </a:prstGeom>
          <a:solidFill>
            <a:srgbClr val="B8860B"/>
          </a:solidFill>
          <a:ln/>
        </p:spPr>
      </p:sp>
      <p:pic>
        <p:nvPicPr>
          <p:cNvPr id="24" name="Image 1" descr="/tmp/claude-0/-home-user-claude/3fc5374a-f1b9-5111-8941-57c2cf2efc1a/scratchpad/build/assets/doc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1828800"/>
            <a:ext cx="868680" cy="86868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3538728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UC2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3447288" y="30632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유사 불량 검색 Agent</a:t>
            </a:r>
            <a:endParaRPr lang="en-US" sz="1450" dirty="0"/>
          </a:p>
        </p:txBody>
      </p:sp>
      <p:sp>
        <p:nvSpPr>
          <p:cNvPr id="27" name="Shape 23"/>
          <p:cNvSpPr/>
          <p:nvPr/>
        </p:nvSpPr>
        <p:spPr>
          <a:xfrm>
            <a:off x="3584448" y="3566160"/>
            <a:ext cx="2194560" cy="0"/>
          </a:xfrm>
          <a:prstGeom prst="line">
            <a:avLst/>
          </a:prstGeom>
          <a:noFill/>
          <a:ln w="9525">
            <a:solidFill>
              <a:srgbClr val="C9D9E8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3538728" y="3675888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입력: 불량 모드 · 제품 · 공정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출력: 과거 유사 사례 · 당시 원인 · 대책과 효과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4096512" y="5193792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4096512" y="519379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PoC 후보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163056" y="1691640"/>
            <a:ext cx="2715768" cy="3931920"/>
          </a:xfrm>
          <a:prstGeom prst="rect">
            <a:avLst/>
          </a:prstGeom>
          <a:solidFill>
            <a:srgbClr val="F7FAFD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163056" y="1691640"/>
            <a:ext cx="54864" cy="3931920"/>
          </a:xfrm>
          <a:prstGeom prst="rect">
            <a:avLst/>
          </a:prstGeom>
          <a:solidFill>
            <a:srgbClr val="3C6791"/>
          </a:solidFill>
          <a:ln/>
        </p:spPr>
      </p:sp>
      <p:pic>
        <p:nvPicPr>
          <p:cNvPr id="33" name="Image 2" descr="/tmp/claude-0/-home-user-claude/3fc5374a-f1b9-5111-8941-57c2cf2efc1a/scratchpad/build/assets/boo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888" y="1828800"/>
            <a:ext cx="868680" cy="868680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6391656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UC3</a:t>
            </a:r>
            <a:endParaRPr lang="en-US" sz="1100" dirty="0"/>
          </a:p>
        </p:txBody>
      </p:sp>
      <p:sp>
        <p:nvSpPr>
          <p:cNvPr id="35" name="Text 30"/>
          <p:cNvSpPr txBox="1"/>
          <p:nvPr/>
        </p:nvSpPr>
        <p:spPr>
          <a:xfrm>
            <a:off x="6300216" y="30632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품질 보고서 초안 Agent</a:t>
            </a:r>
            <a:endParaRPr lang="en-US" sz="1450" dirty="0"/>
          </a:p>
        </p:txBody>
      </p:sp>
      <p:sp>
        <p:nvSpPr>
          <p:cNvPr id="36" name="Shape 31"/>
          <p:cNvSpPr/>
          <p:nvPr/>
        </p:nvSpPr>
        <p:spPr>
          <a:xfrm>
            <a:off x="6437376" y="3566160"/>
            <a:ext cx="2194560" cy="0"/>
          </a:xfrm>
          <a:prstGeom prst="line">
            <a:avLst/>
          </a:prstGeom>
          <a:noFill/>
          <a:ln w="9525">
            <a:solidFill>
              <a:srgbClr val="C9D9E8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6391656" y="3675888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입력: 분석 결과 · 고객사 양식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출력: 8D · CAR · Audit 대응 문서 초안</a:t>
            </a:r>
            <a:endParaRPr lang="en-US" sz="1150" dirty="0"/>
          </a:p>
        </p:txBody>
      </p:sp>
      <p:sp>
        <p:nvSpPr>
          <p:cNvPr id="38" name="Shape 33"/>
          <p:cNvSpPr/>
          <p:nvPr/>
        </p:nvSpPr>
        <p:spPr>
          <a:xfrm>
            <a:off x="6949440" y="5193792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C6791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6949440" y="519379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2단계</a:t>
            </a:r>
            <a:endParaRPr lang="en-US" sz="950" dirty="0"/>
          </a:p>
        </p:txBody>
      </p:sp>
      <p:sp>
        <p:nvSpPr>
          <p:cNvPr id="40" name="Shape 35"/>
          <p:cNvSpPr/>
          <p:nvPr/>
        </p:nvSpPr>
        <p:spPr>
          <a:xfrm>
            <a:off x="9015984" y="1691640"/>
            <a:ext cx="2715768" cy="3931920"/>
          </a:xfrm>
          <a:prstGeom prst="rect">
            <a:avLst/>
          </a:prstGeom>
          <a:solidFill>
            <a:srgbClr val="F7FAFD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9015984" y="1691640"/>
            <a:ext cx="54864" cy="3931920"/>
          </a:xfrm>
          <a:prstGeom prst="rect">
            <a:avLst/>
          </a:prstGeom>
          <a:solidFill>
            <a:srgbClr val="3C6791"/>
          </a:solidFill>
          <a:ln/>
        </p:spPr>
      </p:sp>
      <p:pic>
        <p:nvPicPr>
          <p:cNvPr id="42" name="Image 3" descr="/tmp/claude-0/-home-user-claude/3fc5374a-f1b9-5111-8941-57c2cf2efc1a/scratchpad/build/assets/glob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57816" y="1828800"/>
            <a:ext cx="868680" cy="868680"/>
          </a:xfrm>
          <a:prstGeom prst="rect">
            <a:avLst/>
          </a:prstGeom>
        </p:spPr>
      </p:pic>
      <p:sp>
        <p:nvSpPr>
          <p:cNvPr id="43" name="Text 37"/>
          <p:cNvSpPr txBox="1"/>
          <p:nvPr/>
        </p:nvSpPr>
        <p:spPr>
          <a:xfrm>
            <a:off x="9244584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UC4</a:t>
            </a:r>
            <a:endParaRPr lang="en-US" sz="1100" dirty="0"/>
          </a:p>
        </p:txBody>
      </p:sp>
      <p:sp>
        <p:nvSpPr>
          <p:cNvPr id="44" name="Text 38"/>
          <p:cNvSpPr txBox="1"/>
          <p:nvPr/>
        </p:nvSpPr>
        <p:spPr>
          <a:xfrm>
            <a:off x="9153144" y="306324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공정 · 고객 스펙 Q&amp;A</a:t>
            </a:r>
            <a:endParaRPr lang="en-US" sz="1450" dirty="0"/>
          </a:p>
        </p:txBody>
      </p:sp>
      <p:sp>
        <p:nvSpPr>
          <p:cNvPr id="45" name="Shape 39"/>
          <p:cNvSpPr/>
          <p:nvPr/>
        </p:nvSpPr>
        <p:spPr>
          <a:xfrm>
            <a:off x="9290304" y="3566160"/>
            <a:ext cx="2194560" cy="0"/>
          </a:xfrm>
          <a:prstGeom prst="line">
            <a:avLst/>
          </a:prstGeom>
          <a:noFill/>
          <a:ln w="9525">
            <a:solidFill>
              <a:srgbClr val="C9D9E8"/>
            </a:solidFill>
            <a:prstDash val="solid"/>
          </a:ln>
        </p:spPr>
      </p:sp>
      <p:sp>
        <p:nvSpPr>
          <p:cNvPr id="46" name="Text 40"/>
          <p:cNvSpPr txBox="1"/>
          <p:nvPr/>
        </p:nvSpPr>
        <p:spPr>
          <a:xfrm>
            <a:off x="9244584" y="3675888"/>
            <a:ext cx="2331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입력: 자연어 질문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출력: 표준서 · 스펙 · 매뉴얼 근거 답변 (출처 표시)</a:t>
            </a:r>
            <a:endParaRPr lang="en-US" sz="1150" dirty="0"/>
          </a:p>
        </p:txBody>
      </p:sp>
      <p:sp>
        <p:nvSpPr>
          <p:cNvPr id="47" name="Shape 41"/>
          <p:cNvSpPr/>
          <p:nvPr/>
        </p:nvSpPr>
        <p:spPr>
          <a:xfrm>
            <a:off x="9802368" y="5193792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3C6791"/>
            </a:solidFill>
            <a:prstDash val="solid"/>
          </a:ln>
        </p:spPr>
      </p:sp>
      <p:sp>
        <p:nvSpPr>
          <p:cNvPr id="48" name="Text 42"/>
          <p:cNvSpPr txBox="1"/>
          <p:nvPr/>
        </p:nvSpPr>
        <p:spPr>
          <a:xfrm>
            <a:off x="9802368" y="519379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2단계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01752"/>
            <a:ext cx="45720" cy="20116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2651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Ⅲ. 대덕전자 적용 방안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공정-불량 지식그래프: 숙련자의 원인 추적 순서를 그래프로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"이 불량이면 어느 공정의 어떤 조건부터 본다"는 판단을 재사용 가능한 경로로 만듭니다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9525">
            <a:solidFill>
              <a:srgbClr val="C9D9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5870448"/>
            <a:ext cx="11274552" cy="457200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58704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핵심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숙련자의 "추적 순서"와 "효과 있었던 대책"이 그래프의 길과 숫자가 됩니다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55080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※ 아래 예시는 설명을 위한 가상 예시이며 대덕전자의 실제 불량·공정 데이터가 아님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105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Konan Technology  |  대덕전자 제조 AX 제안 · 1차 미팅 논의자료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6510528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10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169164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0E224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17647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제품 · 층구조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1DC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Product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130552" y="1984248"/>
            <a:ext cx="219456" cy="237744"/>
          </a:xfrm>
          <a:prstGeom prst="rightArrow">
            <a:avLst/>
          </a:prstGeom>
          <a:solidFill>
            <a:srgbClr val="E2B23A"/>
          </a:solidFill>
          <a:ln/>
        </p:spPr>
      </p:sp>
      <p:sp>
        <p:nvSpPr>
          <p:cNvPr id="17" name="Shape 15"/>
          <p:cNvSpPr/>
          <p:nvPr/>
        </p:nvSpPr>
        <p:spPr>
          <a:xfrm>
            <a:off x="2377440" y="169164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0E224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377440" y="17647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공정 단계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237744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1DC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ProcessStep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050792" y="1984248"/>
            <a:ext cx="219456" cy="237744"/>
          </a:xfrm>
          <a:prstGeom prst="rightArrow">
            <a:avLst/>
          </a:prstGeom>
          <a:solidFill>
            <a:srgbClr val="E2B23A"/>
          </a:solidFill>
          <a:ln/>
        </p:spPr>
      </p:sp>
      <p:sp>
        <p:nvSpPr>
          <p:cNvPr id="21" name="Shape 19"/>
          <p:cNvSpPr/>
          <p:nvPr/>
        </p:nvSpPr>
        <p:spPr>
          <a:xfrm>
            <a:off x="4297680" y="169164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0E224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297680" y="17647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설비 · 자재 · 약품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29768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1DC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Equipment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971032" y="1984248"/>
            <a:ext cx="219456" cy="237744"/>
          </a:xfrm>
          <a:prstGeom prst="rightArrow">
            <a:avLst/>
          </a:prstGeom>
          <a:solidFill>
            <a:srgbClr val="E2B23A"/>
          </a:solidFill>
          <a:ln/>
        </p:spPr>
      </p:sp>
      <p:sp>
        <p:nvSpPr>
          <p:cNvPr id="25" name="Shape 23"/>
          <p:cNvSpPr/>
          <p:nvPr/>
        </p:nvSpPr>
        <p:spPr>
          <a:xfrm>
            <a:off x="6217920" y="169164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B8860B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217920" y="17647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불량 모드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21792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3D6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DefectMode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891272" y="1984248"/>
            <a:ext cx="219456" cy="237744"/>
          </a:xfrm>
          <a:prstGeom prst="rightArrow">
            <a:avLst/>
          </a:prstGeom>
          <a:solidFill>
            <a:srgbClr val="E2B23A"/>
          </a:solidFill>
          <a:ln/>
        </p:spPr>
      </p:sp>
      <p:sp>
        <p:nvSpPr>
          <p:cNvPr id="29" name="Shape 27"/>
          <p:cNvSpPr/>
          <p:nvPr/>
        </p:nvSpPr>
        <p:spPr>
          <a:xfrm>
            <a:off x="8138160" y="169164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0E2240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138160" y="17647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원인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813816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1DC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RootCause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811512" y="1984248"/>
            <a:ext cx="219456" cy="237744"/>
          </a:xfrm>
          <a:prstGeom prst="rightArrow">
            <a:avLst/>
          </a:prstGeom>
          <a:solidFill>
            <a:srgbClr val="E2B23A"/>
          </a:solidFill>
          <a:ln/>
        </p:spPr>
      </p:sp>
      <p:sp>
        <p:nvSpPr>
          <p:cNvPr id="33" name="Shape 31"/>
          <p:cNvSpPr/>
          <p:nvPr/>
        </p:nvSpPr>
        <p:spPr>
          <a:xfrm>
            <a:off x="10058400" y="169164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0E2240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10058400" y="1764792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대책 · 효과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10058400" y="21488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9D1DC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Countermeasure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2788920"/>
            <a:ext cx="3657600" cy="2834640"/>
          </a:xfrm>
          <a:prstGeom prst="rect">
            <a:avLst/>
          </a:prstGeom>
          <a:solidFill>
            <a:srgbClr val="F7FAFD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2788920"/>
            <a:ext cx="54864" cy="2834640"/>
          </a:xfrm>
          <a:prstGeom prst="rect">
            <a:avLst/>
          </a:prstGeom>
          <a:solidFill>
            <a:srgbClr val="3C679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85800" y="28803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그래프 구성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85800" y="333756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노드: 제품 · 층구조 · 공정 단계 · 설비 · 자재/약품 · 불량 모드 · 원인 · 대책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관계: 발생 공정 · 유발 · 의심(추론) · 해결됨 · 재발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키: 로트 / 패널 ID로 MES · 검사 데이터와 연결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261104" y="2788920"/>
            <a:ext cx="3657600" cy="2834640"/>
          </a:xfrm>
          <a:prstGeom prst="rect">
            <a:avLst/>
          </a:prstGeom>
          <a:solidFill>
            <a:srgbClr val="F7FAFD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261104" y="2788920"/>
            <a:ext cx="54864" cy="2834640"/>
          </a:xfrm>
          <a:prstGeom prst="rect">
            <a:avLst/>
          </a:prstGeom>
          <a:solidFill>
            <a:srgbClr val="3C6791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489704" y="28803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관계에 "경험"을 담는 법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4489704" y="3337560"/>
            <a:ext cx="3291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대책별 과거 효과율 (재발 여부)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평균 원인 확정 시간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최근 발생일 · 신뢰도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→ "이 대책이 과거에 효과 있었음"을 근거로 제시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065008" y="2788920"/>
            <a:ext cx="3666744" cy="2834640"/>
          </a:xfrm>
          <a:prstGeom prst="rect">
            <a:avLst/>
          </a:prstGeom>
          <a:solidFill>
            <a:srgbClr val="FBF5E6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065008" y="2788920"/>
            <a:ext cx="54864" cy="2834640"/>
          </a:xfrm>
          <a:prstGeom prst="rect">
            <a:avLst/>
          </a:prstGeom>
          <a:solidFill>
            <a:srgbClr val="B8860B"/>
          </a:solidFill>
          <a:ln/>
        </p:spPr>
      </p:sp>
      <p:pic>
        <p:nvPicPr>
          <p:cNvPr id="46" name="Image 0" descr="/tmp/claude-0/-home-user-claude/3fc5374a-f1b9-5111-8941-57c2cf2efc1a/scratchpad/build/assets/grap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0" y="2834640"/>
            <a:ext cx="1234440" cy="766204"/>
          </a:xfrm>
          <a:prstGeom prst="rect">
            <a:avLst/>
          </a:prstGeom>
        </p:spPr>
      </p:pic>
      <p:sp>
        <p:nvSpPr>
          <p:cNvPr id="47" name="Text 44"/>
          <p:cNvSpPr txBox="1"/>
          <p:nvPr/>
        </p:nvSpPr>
        <p:spPr>
          <a:xfrm>
            <a:off x="8293608" y="288036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경로 예시 (가상)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8293608" y="3639312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불량 모드: 층간 박리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→ 발생 공정: 적층(프레스)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→ 원인 후보: 프레스 조건 편차 · 자재 흡습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→ 확인: 해당 로트 프레스 로그 · 자재 보관 이력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→ 과거 대책: 프리베이크 조건 조정 (효과율 표시)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01752"/>
            <a:ext cx="45720" cy="20116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2651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Ⅲ. 대덕전자 적용 방안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업무 흐름: AI는 근거 있는 초안, 확정은 품질 엔지니어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불량 접수부터 지식 환류까지, 사람이 승인 단계를 쥐고 있는 구조(HITL)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9525">
            <a:solidFill>
              <a:srgbClr val="C9D9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5870448"/>
            <a:ext cx="11274552" cy="457200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58704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핵심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AI 도입의 최대 리스크는 정확도 부족이 아니라 "근거 없는 확신"입니다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55080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설계 원칙: 근거 제시(Evidence-first) · 사람 검수(HITL) · 모르면 모른다고 표시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105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Konan Technology  |  대덕전자 제조 AX 제안 · 1차 미팅 논의자료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6510528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11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1783080"/>
            <a:ext cx="1645920" cy="1188720"/>
          </a:xfrm>
          <a:prstGeom prst="roundRect">
            <a:avLst>
              <a:gd name="adj" fmla="val 6154"/>
            </a:avLst>
          </a:prstGeom>
          <a:solidFill>
            <a:srgbClr val="F7FAFD"/>
          </a:solidFill>
          <a:ln w="15875">
            <a:solidFill>
              <a:srgbClr val="3C679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0704" y="1600200"/>
            <a:ext cx="438912" cy="438912"/>
          </a:xfrm>
          <a:prstGeom prst="ellipse">
            <a:avLst/>
          </a:prstGeom>
          <a:solidFill>
            <a:srgbClr val="0E224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60704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2148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불량 접수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249631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현상 · 로트 ID 입력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130552" y="2258568"/>
            <a:ext cx="219456" cy="237744"/>
          </a:xfrm>
          <a:prstGeom prst="rightArrow">
            <a:avLst/>
          </a:prstGeom>
          <a:solidFill>
            <a:srgbClr val="E2B23A"/>
          </a:solidFill>
          <a:ln/>
        </p:spPr>
      </p:sp>
      <p:sp>
        <p:nvSpPr>
          <p:cNvPr id="19" name="Shape 17"/>
          <p:cNvSpPr/>
          <p:nvPr/>
        </p:nvSpPr>
        <p:spPr>
          <a:xfrm>
            <a:off x="2377440" y="1783080"/>
            <a:ext cx="1645920" cy="1188720"/>
          </a:xfrm>
          <a:prstGeom prst="roundRect">
            <a:avLst>
              <a:gd name="adj" fmla="val 6154"/>
            </a:avLst>
          </a:prstGeom>
          <a:solidFill>
            <a:srgbClr val="F7FAFD"/>
          </a:solidFill>
          <a:ln w="15875">
            <a:solidFill>
              <a:srgbClr val="3C679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80944" y="1600200"/>
            <a:ext cx="438912" cy="438912"/>
          </a:xfrm>
          <a:prstGeom prst="ellipse">
            <a:avLst/>
          </a:prstGeom>
          <a:solidFill>
            <a:srgbClr val="0E224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980944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2377440" y="2148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데이터 자동 수집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2468880" y="249631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공정이력 · 검사 · 설비 · 약품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050792" y="2258568"/>
            <a:ext cx="219456" cy="237744"/>
          </a:xfrm>
          <a:prstGeom prst="rightArrow">
            <a:avLst/>
          </a:prstGeom>
          <a:solidFill>
            <a:srgbClr val="E2B23A"/>
          </a:solidFill>
          <a:ln/>
        </p:spPr>
      </p:sp>
      <p:sp>
        <p:nvSpPr>
          <p:cNvPr id="25" name="Shape 23"/>
          <p:cNvSpPr/>
          <p:nvPr/>
        </p:nvSpPr>
        <p:spPr>
          <a:xfrm>
            <a:off x="4297680" y="1783080"/>
            <a:ext cx="1645920" cy="1188720"/>
          </a:xfrm>
          <a:prstGeom prst="roundRect">
            <a:avLst>
              <a:gd name="adj" fmla="val 6154"/>
            </a:avLst>
          </a:prstGeom>
          <a:solidFill>
            <a:srgbClr val="F7FAFD"/>
          </a:solidFill>
          <a:ln w="15875">
            <a:solidFill>
              <a:srgbClr val="3C679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01184" y="1600200"/>
            <a:ext cx="438912" cy="438912"/>
          </a:xfrm>
          <a:prstGeom prst="ellipse">
            <a:avLst/>
          </a:prstGeom>
          <a:solidFill>
            <a:srgbClr val="0E224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901184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297680" y="2148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AI 분석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389120" y="249631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원인 후보 · 근거 · 유사 사례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971032" y="2258568"/>
            <a:ext cx="219456" cy="237744"/>
          </a:xfrm>
          <a:prstGeom prst="rightArrow">
            <a:avLst/>
          </a:prstGeom>
          <a:solidFill>
            <a:srgbClr val="E2B23A"/>
          </a:solidFill>
          <a:ln/>
        </p:spPr>
      </p:sp>
      <p:sp>
        <p:nvSpPr>
          <p:cNvPr id="31" name="Shape 29"/>
          <p:cNvSpPr/>
          <p:nvPr/>
        </p:nvSpPr>
        <p:spPr>
          <a:xfrm>
            <a:off x="6217920" y="1783080"/>
            <a:ext cx="1645920" cy="1188720"/>
          </a:xfrm>
          <a:prstGeom prst="roundRect">
            <a:avLst>
              <a:gd name="adj" fmla="val 6154"/>
            </a:avLst>
          </a:prstGeom>
          <a:solidFill>
            <a:srgbClr val="F7FAFD"/>
          </a:solidFill>
          <a:ln w="15875">
            <a:solidFill>
              <a:srgbClr val="3C679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21424" y="1600200"/>
            <a:ext cx="438912" cy="438912"/>
          </a:xfrm>
          <a:prstGeom prst="ellipse">
            <a:avLst/>
          </a:prstGeom>
          <a:solidFill>
            <a:srgbClr val="0E224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821424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217920" y="2148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보고서 초안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309360" y="249631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8D · CAR 자동 작성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891272" y="2258568"/>
            <a:ext cx="219456" cy="237744"/>
          </a:xfrm>
          <a:prstGeom prst="rightArrow">
            <a:avLst/>
          </a:prstGeom>
          <a:solidFill>
            <a:srgbClr val="E2B23A"/>
          </a:solidFill>
          <a:ln/>
        </p:spPr>
      </p:sp>
      <p:sp>
        <p:nvSpPr>
          <p:cNvPr id="37" name="Shape 35"/>
          <p:cNvSpPr/>
          <p:nvPr/>
        </p:nvSpPr>
        <p:spPr>
          <a:xfrm>
            <a:off x="8138160" y="1783080"/>
            <a:ext cx="1645920" cy="1188720"/>
          </a:xfrm>
          <a:prstGeom prst="roundRect">
            <a:avLst>
              <a:gd name="adj" fmla="val 6154"/>
            </a:avLst>
          </a:prstGeom>
          <a:solidFill>
            <a:srgbClr val="FBF5E6"/>
          </a:solidFill>
          <a:ln w="15875">
            <a:solidFill>
              <a:srgbClr val="B8860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741664" y="1600200"/>
            <a:ext cx="438912" cy="438912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741664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5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8138160" y="2148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엔지니어 검증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8229600" y="249631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수정 · 보완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9811512" y="2258568"/>
            <a:ext cx="219456" cy="237744"/>
          </a:xfrm>
          <a:prstGeom prst="rightArrow">
            <a:avLst/>
          </a:prstGeom>
          <a:solidFill>
            <a:srgbClr val="E2B23A"/>
          </a:solidFill>
          <a:ln/>
        </p:spPr>
      </p:sp>
      <p:sp>
        <p:nvSpPr>
          <p:cNvPr id="43" name="Shape 41"/>
          <p:cNvSpPr/>
          <p:nvPr/>
        </p:nvSpPr>
        <p:spPr>
          <a:xfrm>
            <a:off x="10058400" y="1783080"/>
            <a:ext cx="1645920" cy="1188720"/>
          </a:xfrm>
          <a:prstGeom prst="roundRect">
            <a:avLst>
              <a:gd name="adj" fmla="val 6154"/>
            </a:avLst>
          </a:prstGeom>
          <a:solidFill>
            <a:srgbClr val="FBF5E6"/>
          </a:solidFill>
          <a:ln w="15875">
            <a:solidFill>
              <a:srgbClr val="B8860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661904" y="1600200"/>
            <a:ext cx="438912" cy="438912"/>
          </a:xfrm>
          <a:prstGeom prst="ellipse">
            <a:avLst/>
          </a:prstGeom>
          <a:solidFill>
            <a:srgbClr val="B8860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10661904" y="1600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6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10058400" y="21488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승인 · 환류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10149840" y="249631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확정 지식을 그래프에 축적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1280160" y="3246120"/>
            <a:ext cx="9601200" cy="0"/>
          </a:xfrm>
          <a:prstGeom prst="line">
            <a:avLst/>
          </a:prstGeom>
          <a:noFill/>
          <a:ln w="15875">
            <a:solidFill>
              <a:srgbClr val="B8860B"/>
            </a:solidFill>
            <a:prstDash val="dash"/>
            <a:headEnd type="triangle"/>
          </a:ln>
        </p:spPr>
      </p:sp>
      <p:sp>
        <p:nvSpPr>
          <p:cNvPr id="49" name="Text 47"/>
          <p:cNvSpPr txBox="1"/>
          <p:nvPr/>
        </p:nvSpPr>
        <p:spPr>
          <a:xfrm>
            <a:off x="3200400" y="32918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← 승인·수정 기록이 다시 지식그래프로 쌓여 다음 분석이 정확해집니다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457200" y="3017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C6791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AI 영역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10360152" y="30175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사람 영역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" y="3749040"/>
            <a:ext cx="3657600" cy="1874520"/>
          </a:xfrm>
          <a:prstGeom prst="rect">
            <a:avLst/>
          </a:prstGeom>
          <a:solidFill>
            <a:srgbClr val="F7FAFD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7200" y="3749040"/>
            <a:ext cx="54864" cy="1874520"/>
          </a:xfrm>
          <a:prstGeom prst="rect">
            <a:avLst/>
          </a:prstGeom>
          <a:solidFill>
            <a:srgbClr val="3C6791"/>
          </a:solidFill>
          <a:ln/>
        </p:spPr>
      </p:sp>
      <p:pic>
        <p:nvPicPr>
          <p:cNvPr id="54" name="Image 0" descr="/tmp/claude-0/-home-user-claude/3fc5374a-f1b9-5111-8941-57c2cf2efc1a/scratchpad/build/asset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931920"/>
            <a:ext cx="685800" cy="685800"/>
          </a:xfrm>
          <a:prstGeom prst="rect">
            <a:avLst/>
          </a:prstGeom>
        </p:spPr>
      </p:pic>
      <p:sp>
        <p:nvSpPr>
          <p:cNvPr id="55" name="Text 52"/>
          <p:cNvSpPr txBox="1"/>
          <p:nvPr/>
        </p:nvSpPr>
        <p:spPr>
          <a:xfrm>
            <a:off x="1554480" y="3931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근거 제시</a:t>
            </a:r>
            <a:endParaRPr lang="en-US" sz="1450" dirty="0"/>
          </a:p>
        </p:txBody>
      </p:sp>
      <p:sp>
        <p:nvSpPr>
          <p:cNvPr id="56" name="Text 53"/>
          <p:cNvSpPr txBox="1"/>
          <p:nvPr/>
        </p:nvSpPr>
        <p:spPr>
          <a:xfrm>
            <a:off x="1554480" y="434340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모든 답변에 원본 데이터 · 문서 · 과거 사례를 연결해 화면에 함께 표시</a:t>
            </a:r>
            <a:endParaRPr lang="en-US" sz="1150" dirty="0"/>
          </a:p>
        </p:txBody>
      </p:sp>
      <p:sp>
        <p:nvSpPr>
          <p:cNvPr id="57" name="Shape 54"/>
          <p:cNvSpPr/>
          <p:nvPr/>
        </p:nvSpPr>
        <p:spPr>
          <a:xfrm>
            <a:off x="4261104" y="3749040"/>
            <a:ext cx="3657600" cy="1874520"/>
          </a:xfrm>
          <a:prstGeom prst="rect">
            <a:avLst/>
          </a:prstGeom>
          <a:solidFill>
            <a:srgbClr val="F7FAFD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4261104" y="3749040"/>
            <a:ext cx="54864" cy="1874520"/>
          </a:xfrm>
          <a:prstGeom prst="rect">
            <a:avLst/>
          </a:prstGeom>
          <a:solidFill>
            <a:srgbClr val="B8860B"/>
          </a:solidFill>
          <a:ln/>
        </p:spPr>
      </p:sp>
      <p:pic>
        <p:nvPicPr>
          <p:cNvPr id="59" name="Image 1" descr="/tmp/claude-0/-home-user-claude/3fc5374a-f1b9-5111-8941-57c2cf2efc1a/scratchpad/build/assets/person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704" y="3931920"/>
            <a:ext cx="685800" cy="685800"/>
          </a:xfrm>
          <a:prstGeom prst="rect">
            <a:avLst/>
          </a:prstGeom>
        </p:spPr>
      </p:pic>
      <p:sp>
        <p:nvSpPr>
          <p:cNvPr id="60" name="Text 56"/>
          <p:cNvSpPr txBox="1"/>
          <p:nvPr/>
        </p:nvSpPr>
        <p:spPr>
          <a:xfrm>
            <a:off x="5358384" y="3931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사람이 확정</a:t>
            </a:r>
            <a:endParaRPr lang="en-US" sz="1450" dirty="0"/>
          </a:p>
        </p:txBody>
      </p:sp>
      <p:sp>
        <p:nvSpPr>
          <p:cNvPr id="61" name="Text 57"/>
          <p:cNvSpPr txBox="1"/>
          <p:nvPr/>
        </p:nvSpPr>
        <p:spPr>
          <a:xfrm>
            <a:off x="5358384" y="434340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AI는 원인을 "후보"로 제시. 확정 · 고객 제출은 품질 엔지니어가 승인</a:t>
            </a:r>
            <a:endParaRPr lang="en-US" sz="1150" dirty="0"/>
          </a:p>
        </p:txBody>
      </p:sp>
      <p:sp>
        <p:nvSpPr>
          <p:cNvPr id="62" name="Shape 58"/>
          <p:cNvSpPr/>
          <p:nvPr/>
        </p:nvSpPr>
        <p:spPr>
          <a:xfrm>
            <a:off x="8065008" y="3749040"/>
            <a:ext cx="3657600" cy="1874520"/>
          </a:xfrm>
          <a:prstGeom prst="rect">
            <a:avLst/>
          </a:prstGeom>
          <a:solidFill>
            <a:srgbClr val="F7FAFD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8065008" y="3749040"/>
            <a:ext cx="54864" cy="1874520"/>
          </a:xfrm>
          <a:prstGeom prst="rect">
            <a:avLst/>
          </a:prstGeom>
          <a:solidFill>
            <a:srgbClr val="3C6791"/>
          </a:solidFill>
          <a:ln/>
        </p:spPr>
      </p:sp>
      <p:pic>
        <p:nvPicPr>
          <p:cNvPr id="64" name="Image 2" descr="/tmp/claude-0/-home-user-claude/3fc5374a-f1b9-5111-8941-57c2cf2efc1a/scratchpad/build/assets/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08" y="3931920"/>
            <a:ext cx="685800" cy="685800"/>
          </a:xfrm>
          <a:prstGeom prst="rect">
            <a:avLst/>
          </a:prstGeom>
        </p:spPr>
      </p:pic>
      <p:sp>
        <p:nvSpPr>
          <p:cNvPr id="65" name="Text 60"/>
          <p:cNvSpPr txBox="1"/>
          <p:nvPr/>
        </p:nvSpPr>
        <p:spPr>
          <a:xfrm>
            <a:off x="9162288" y="39319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모르면 모른다고</a:t>
            </a:r>
            <a:endParaRPr lang="en-US" sz="1450" dirty="0"/>
          </a:p>
        </p:txBody>
      </p:sp>
      <p:sp>
        <p:nvSpPr>
          <p:cNvPr id="66" name="Text 61"/>
          <p:cNvSpPr txBox="1"/>
          <p:nvPr/>
        </p:nvSpPr>
        <p:spPr>
          <a:xfrm>
            <a:off x="9162288" y="4343400"/>
            <a:ext cx="2377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근거가 부족하면 "판단 불가 · 추가 데이터 필요"로 표시. 그럴듯한 오답 방지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01752"/>
            <a:ext cx="45720" cy="20116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2651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Ⅳ. 시스템 구성과 추진 계획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시스템 구성: 5-Layer AX Stack (대덕전자 적용안)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AI 모델은 한 층일 뿐입니다. 성패는 아래 두 층(데이터 · 지식)에서 갈립니다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9525">
            <a:solidFill>
              <a:srgbClr val="C9D9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5870448"/>
            <a:ext cx="11274552" cy="457200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58704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핵심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L1 · L2(데이터와 지식)는 대덕전자 고유 자산으로 남고, L3(모델)는 더 좋은 것으로 교체할 수 있습니다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55080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※ 연계 대상 시스템은 예시 — 실제 보유 시스템과 데이터 형식은 1차 미팅·진단에서 확인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105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Konan Technology  |  대덕전자 제조 AX 제안 · 1차 미팅 논의자료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6510528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12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1664208"/>
            <a:ext cx="7863840" cy="713232"/>
          </a:xfrm>
          <a:prstGeom prst="rect">
            <a:avLst/>
          </a:prstGeom>
          <a:solidFill>
            <a:srgbClr val="F7FAFD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664208"/>
            <a:ext cx="685800" cy="713232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1664208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L5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298448" y="1664208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사용자 화면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3520440" y="1664208"/>
            <a:ext cx="4709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불량 분석 워크벤치 · 품질 Q&amp;A 챗봇 · 보고서 편집 화면 · 대시보드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487168"/>
            <a:ext cx="7863840" cy="713232"/>
          </a:xfrm>
          <a:prstGeom prst="rect">
            <a:avLst/>
          </a:prstGeom>
          <a:solidFill>
            <a:srgbClr val="F7FAFD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487168"/>
            <a:ext cx="685800" cy="713232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" y="2487168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L4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298448" y="2487168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서비스 로직 (AI Agent)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3520440" y="2487168"/>
            <a:ext cx="4709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원인분석 · 유사 불량 검색 · 보고서 초안 · 스펙 Q&amp;A Agent, 오케스트레이션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310128"/>
            <a:ext cx="7863840" cy="713232"/>
          </a:xfrm>
          <a:prstGeom prst="rect">
            <a:avLst/>
          </a:prstGeom>
          <a:solidFill>
            <a:srgbClr val="F7FAFD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310128"/>
            <a:ext cx="685800" cy="713232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7200" y="3310128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L3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298448" y="3310128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검색 / 생성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520440" y="3310128"/>
            <a:ext cx="4709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온프레미스 LLM · RAG · Graph-RAG · Query Router (질문 의도별 분기)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133088"/>
            <a:ext cx="7863840" cy="713232"/>
          </a:xfrm>
          <a:prstGeom prst="rect">
            <a:avLst/>
          </a:prstGeom>
          <a:solidFill>
            <a:srgbClr val="EAF1F8"/>
          </a:solidFill>
          <a:ln w="15875">
            <a:solidFill>
              <a:srgbClr val="3C679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133088"/>
            <a:ext cx="685800" cy="713232"/>
          </a:xfrm>
          <a:prstGeom prst="rect">
            <a:avLst/>
          </a:prstGeom>
          <a:solidFill>
            <a:srgbClr val="3C679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57200" y="4133088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L2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1298448" y="4133088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지식 / 데이터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3520440" y="4133088"/>
            <a:ext cx="4709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공정-불량 지식그래프 · 벡터DB · 정형 DB · 공정·불량 용어사전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956048"/>
            <a:ext cx="7863840" cy="713232"/>
          </a:xfrm>
          <a:prstGeom prst="rect">
            <a:avLst/>
          </a:prstGeom>
          <a:solidFill>
            <a:srgbClr val="EAF1F8"/>
          </a:solidFill>
          <a:ln w="15875">
            <a:solidFill>
              <a:srgbClr val="3C679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4956048"/>
            <a:ext cx="685800" cy="713232"/>
          </a:xfrm>
          <a:prstGeom prst="rect">
            <a:avLst/>
          </a:prstGeom>
          <a:solidFill>
            <a:srgbClr val="3C679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57200" y="4956048"/>
            <a:ext cx="685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L1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1298448" y="4956048"/>
            <a:ext cx="2194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데이터 연계 · 표준화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3520440" y="4956048"/>
            <a:ext cx="4709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MES · QMS · SPC · AOI/AVI · BBT · 설비 로그 · 8D/CAR · 표준서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503920" y="1664208"/>
            <a:ext cx="3227832" cy="2011680"/>
          </a:xfrm>
          <a:prstGeom prst="rect">
            <a:avLst/>
          </a:prstGeom>
          <a:solidFill>
            <a:srgbClr val="F7FAFD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503920" y="1664208"/>
            <a:ext cx="54864" cy="2011680"/>
          </a:xfrm>
          <a:prstGeom prst="rect">
            <a:avLst/>
          </a:prstGeom>
          <a:solidFill>
            <a:srgbClr val="3C6791"/>
          </a:solidFill>
          <a:ln/>
        </p:spPr>
      </p:sp>
      <p:pic>
        <p:nvPicPr>
          <p:cNvPr id="40" name="Image 0" descr="/tmp/claude-0/-home-user-claude/3fc5374a-f1b9-5111-8941-57c2cf2efc1a/scratchpad/build/assets/gau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1737360"/>
            <a:ext cx="621792" cy="621792"/>
          </a:xfrm>
          <a:prstGeom prst="rect">
            <a:avLst/>
          </a:prstGeom>
        </p:spPr>
      </p:pic>
      <p:sp>
        <p:nvSpPr>
          <p:cNvPr id="41" name="Text 38"/>
          <p:cNvSpPr txBox="1"/>
          <p:nvPr/>
        </p:nvSpPr>
        <p:spPr>
          <a:xfrm>
            <a:off x="8686800" y="175564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운영 거버넌스</a:t>
            </a:r>
            <a:endParaRPr lang="en-US" sz="1350" dirty="0"/>
          </a:p>
        </p:txBody>
      </p:sp>
      <p:sp>
        <p:nvSpPr>
          <p:cNvPr id="42" name="Text 39"/>
          <p:cNvSpPr txBox="1"/>
          <p:nvPr/>
        </p:nvSpPr>
        <p:spPr>
          <a:xfrm>
            <a:off x="8686800" y="24688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LLMOps: 모델 배포 · 교체 · 성능</a:t>
            </a:r>
            <a:endParaRPr lang="en-US" sz="11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RAGOps: 문서 수집 · 색인 · 품질</a:t>
            </a:r>
            <a:endParaRPr lang="en-US" sz="11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AgentOps: 실행 관측 · 실패 감지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8503920" y="3794760"/>
            <a:ext cx="3227832" cy="1892808"/>
          </a:xfrm>
          <a:prstGeom prst="rect">
            <a:avLst/>
          </a:prstGeom>
          <a:solidFill>
            <a:srgbClr val="FBF5E6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8503920" y="3794760"/>
            <a:ext cx="54864" cy="1892808"/>
          </a:xfrm>
          <a:prstGeom prst="rect">
            <a:avLst/>
          </a:prstGeom>
          <a:solidFill>
            <a:srgbClr val="B8860B"/>
          </a:solidFill>
          <a:ln/>
        </p:spPr>
      </p:sp>
      <p:pic>
        <p:nvPicPr>
          <p:cNvPr id="45" name="Image 1" descr="/tmp/claude-0/-home-user-claude/3fc5374a-f1b9-5111-8941-57c2cf2efc1a/scratchpad/build/assets/lo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3867912"/>
            <a:ext cx="621792" cy="621792"/>
          </a:xfrm>
          <a:prstGeom prst="rect">
            <a:avLst/>
          </a:prstGeom>
        </p:spPr>
      </p:pic>
      <p:sp>
        <p:nvSpPr>
          <p:cNvPr id="46" name="Text 42"/>
          <p:cNvSpPr txBox="1"/>
          <p:nvPr/>
        </p:nvSpPr>
        <p:spPr>
          <a:xfrm>
            <a:off x="8686800" y="38862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보안 · 통제</a:t>
            </a:r>
            <a:endParaRPr lang="en-US" sz="1350" dirty="0"/>
          </a:p>
        </p:txBody>
      </p:sp>
      <p:sp>
        <p:nvSpPr>
          <p:cNvPr id="47" name="Text 43"/>
          <p:cNvSpPr txBox="1"/>
          <p:nvPr/>
        </p:nvSpPr>
        <p:spPr>
          <a:xfrm>
            <a:off x="8686800" y="457200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온프레미스: 고객사 기술자료 외부 반출 없음</a:t>
            </a:r>
            <a:endParaRPr lang="en-US" sz="11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사용자별 권한 (RBAC)</a:t>
            </a:r>
            <a:endParaRPr lang="en-US" sz="11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1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감사 · 승인 로그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01752"/>
            <a:ext cx="45720" cy="20116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2651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Ⅳ. 시스템 구성과 추진 계획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추진 로드맵: 진단 → PoC → 실증 확대 → 고도화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전사 도입을 한 번에 결정하지 않습니다. 업무 1건에서 숫자로 증명한 뒤 확대합니다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9525">
            <a:solidFill>
              <a:srgbClr val="C9D9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5870448"/>
            <a:ext cx="11274552" cy="457200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58704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핵심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1단계 진단에서 기준선을 측정해야, 이후 모든 단계의 성과를 숫자로 증명할 수 있습니다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55080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※ 단계별 기간은 일반적인 가정치이며, 대덕전자의 데이터 상태·업무 범위에 따라 조정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105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Konan Technology  |  대덕전자 제조 AX 제안 · 1차 미팅 논의자료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6510528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13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2514600"/>
            <a:ext cx="2715768" cy="3108960"/>
          </a:xfrm>
          <a:prstGeom prst="rect">
            <a:avLst/>
          </a:prstGeom>
          <a:solidFill>
            <a:srgbClr val="FBF5E6"/>
          </a:solidFill>
          <a:ln w="15875">
            <a:solidFill>
              <a:srgbClr val="B886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514600"/>
            <a:ext cx="2715768" cy="68580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256946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3D6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Step 1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825496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진단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737360" y="2569464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FF3D6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4~6주 (가정)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383280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업무 · 데이터 · 숙련자 진단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기준선 측정 (분석 시간 · 보고서 시간)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PoC 대상 업무 · 범위 확정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310128" y="2258568"/>
            <a:ext cx="2715768" cy="3364992"/>
          </a:xfrm>
          <a:prstGeom prst="rect">
            <a:avLst/>
          </a:prstGeom>
          <a:solidFill>
            <a:srgbClr val="F7FAFD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10128" y="2258568"/>
            <a:ext cx="2715768" cy="685800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3493008" y="23134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Step 2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3493008" y="2569464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PoC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590288" y="231343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9D1DC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약 3개월 (가정)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3493008" y="3127248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제품 1종 · 불량 모드 상위 3~5개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과거 데이터로 원인분석 · 검색 정확도 검증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KPI 검증 → 투자 심의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63056" y="2002536"/>
            <a:ext cx="2715768" cy="3621024"/>
          </a:xfrm>
          <a:prstGeom prst="rect">
            <a:avLst/>
          </a:prstGeom>
          <a:solidFill>
            <a:srgbClr val="F7FAFD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63056" y="2002536"/>
            <a:ext cx="2715768" cy="685800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45936" y="2057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Step 3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345936" y="231343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실증 확대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443216" y="20574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9D1DC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6~12개월 (가정)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6345936" y="2871216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라인 · 제품 확대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MES · QMS 연동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보고서 초안 자동화 적용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015984" y="1746504"/>
            <a:ext cx="2715768" cy="3877056"/>
          </a:xfrm>
          <a:prstGeom prst="rect">
            <a:avLst/>
          </a:prstGeom>
          <a:solidFill>
            <a:srgbClr val="F7FAFD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15984" y="1746504"/>
            <a:ext cx="2715768" cy="685800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9198864" y="18013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Step 4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9198864" y="20574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고도화 · 확산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296144" y="180136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C9D1DC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이후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9198864" y="2615184"/>
            <a:ext cx="2423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공정 조건-수율 상관 분석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설비 이상 조기 경보</a:t>
            </a:r>
            <a:endParaRPr lang="en-US" sz="115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사업장 간 확산 · 운영 내재화</a:t>
            </a:r>
            <a:endParaRPr lang="en-US" sz="1150" dirty="0"/>
          </a:p>
        </p:txBody>
      </p:sp>
      <p:pic>
        <p:nvPicPr>
          <p:cNvPr id="37" name="Image 0" descr="/tmp/claude-0/-home-user-claude/3fc5374a-f1b9-5111-8941-57c2cf2efc1a/scratchpad/build/assets/stai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4160520"/>
            <a:ext cx="1371600" cy="1011180"/>
          </a:xfrm>
          <a:prstGeom prst="rect">
            <a:avLst/>
          </a:prstGeom>
        </p:spPr>
      </p:pic>
      <p:sp>
        <p:nvSpPr>
          <p:cNvPr id="38" name="Text 35"/>
          <p:cNvSpPr txBox="1"/>
          <p:nvPr/>
        </p:nvSpPr>
        <p:spPr>
          <a:xfrm>
            <a:off x="457200" y="15727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사업 방식: ① 자체 투자  ② 정부지원사업 연계 (도입기업 자격 요건 확인 후)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01752"/>
            <a:ext cx="45720" cy="20116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2651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Ⅳ. 시스템 구성과 추진 계획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기대효과와 KPI 설계: 목표치는 진단 후 함께 정합니다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지금 숫자를 약속하지 않습니다. 기준선을 재고, 그 위에 목표를 세웁니다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9525">
            <a:solidFill>
              <a:srgbClr val="C9D9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5870448"/>
            <a:ext cx="11274552" cy="457200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58704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핵심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목표치를 미리 약속하지 않습니다. 진단에서 측정한 기준선으로 함께 정합니다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55080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참고: 영풍전자 목표치(분석시간 50%↓ · 보고서 70%↓)는 다른 업무 · 공정의 목표이며 대덕전자에 그대로 적용되지 않음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105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Konan Technology  |  대덕전자 제조 AX 제안 · 1차 미팅 논의자료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6510528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14</a:t>
            </a:r>
            <a:endParaRPr lang="en-US" sz="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6949440" cy="914400"/>
        </p:xfrm>
        <a:graphic>
          <a:graphicData uri="http://schemas.openxmlformats.org/drawingml/2006/table">
            <a:tbl>
              <a:tblPr/>
              <a:tblGrid>
                <a:gridCol w="685800"/>
                <a:gridCol w="2377440"/>
                <a:gridCol w="2697480"/>
                <a:gridCol w="118872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구분</a:t>
                      </a:r>
                      <a:endParaRPr lang="en-US" sz="11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KPI 후보</a:t>
                      </a:r>
                      <a:endParaRPr lang="en-US" sz="11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기준선 측정 방법</a:t>
                      </a:r>
                      <a:endParaRPr lang="en-US" sz="11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목표</a:t>
                      </a:r>
                      <a:endParaRPr lang="en-US" sz="11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860B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결과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2240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불량 원인분석 리드타임</a:t>
                      </a:r>
                      <a:endParaRPr lang="en-US" sz="11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불량 접수 → 원인 확정까지 시간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E99A5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진단 후 합의</a:t>
                      </a:r>
                      <a:endParaRPr lang="en-US" sz="10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860B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결과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2240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8D · CAR 보고서 작성 시간</a:t>
                      </a:r>
                      <a:endParaRPr lang="en-US" sz="11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건당 작성 소요 시간 (작성자별)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E99A5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진단 후 합의</a:t>
                      </a:r>
                      <a:endParaRPr lang="en-US" sz="10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860B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결과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2240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유사 불량 검색 시간 · 적중률</a:t>
                      </a:r>
                      <a:endParaRPr lang="en-US" sz="11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과거 사례 탐색 시간, 상위 N건 적중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E99A5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진단 후 합의</a:t>
                      </a:r>
                      <a:endParaRPr lang="en-US" sz="10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B8860B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결과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2240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재발 불량 건수</a:t>
                      </a:r>
                      <a:endParaRPr lang="en-US" sz="11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동일 불량 모드 재발 건수 / 분기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E99A5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진단 후 합의</a:t>
                      </a:r>
                      <a:endParaRPr lang="en-US" sz="10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C6791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선행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2240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데이터 연계율 · 용어 표준화율</a:t>
                      </a:r>
                      <a:endParaRPr lang="en-US" sz="11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로트 ID 기준 연결 비율, 불량 코드 매핑률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E99A5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진단 후 합의</a:t>
                      </a:r>
                      <a:endParaRPr lang="en-US" sz="10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C6791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선행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2240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검수 정합률 · 사용률</a:t>
                      </a:r>
                      <a:endParaRPr lang="en-US" sz="11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엔지니어 승인 비율, 주간 활성 사용자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E99A5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진단 후 합의</a:t>
                      </a:r>
                      <a:endParaRPr lang="en-US" sz="10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91440" marR="91440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7589520" y="1691640"/>
            <a:ext cx="4142232" cy="3931920"/>
          </a:xfrm>
          <a:prstGeom prst="rect">
            <a:avLst/>
          </a:prstGeom>
          <a:solidFill>
            <a:srgbClr val="FBF5E6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589520" y="1691640"/>
            <a:ext cx="54864" cy="3931920"/>
          </a:xfrm>
          <a:prstGeom prst="rect">
            <a:avLst/>
          </a:prstGeom>
          <a:solidFill>
            <a:srgbClr val="B8860B"/>
          </a:solidFill>
          <a:ln/>
        </p:spPr>
      </p:sp>
      <p:pic>
        <p:nvPicPr>
          <p:cNvPr id="16" name="Image 0" descr="/tmp/claude-0/-home-user-claude/3fc5374a-f1b9-5111-8941-57c2cf2efc1a/scratchpad/build/assets/bar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1755648"/>
            <a:ext cx="1005840" cy="756409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7818120" y="18013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간이 효과 산정식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7818120" y="242316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연간 효과 =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① 절감 공수(MD) × MD당 인건비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＋ ② 수율 개선에 따른 손실 감소액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＋ ③ 재발 불량 · 클레임 감소액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＋ ④ 신규 인력 숙련 기간 단축 효과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6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회수 기간 = (구축비 + 연간 운영비 − 지원금) ÷ 연간 효과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01752"/>
            <a:ext cx="45720" cy="20116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2651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Ⅴ. 1차 미팅 사전 확인 사항  ①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사업 · 의사결정: 왜, 누가, 언제, 얼마로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제안 범위와 보고 라인을 정하기 위한 질문입니다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9525">
            <a:solidFill>
              <a:srgbClr val="C9D9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5870448"/>
            <a:ext cx="11274552" cy="457200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58704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핵심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스폰서와 성공 기준을 먼저 확인해야 PoC 결과가 다음 투자로 이어집니다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105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Konan Technology  |  대덕전자 제조 AX 제안 · 1차 미팅 논의자료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11247120" y="6510528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15</a:t>
            </a:r>
            <a:endParaRPr lang="en-US" sz="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74552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874520"/>
                <a:gridCol w="5605272"/>
                <a:gridCol w="33832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확인 항목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1차 미팅에서 확인할 질문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왜 필요한가 (제안서 반영처)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8860B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☐</a:t>
                      </a:r>
                      <a:endParaRPr lang="en-US" sz="13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2240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추진 배경 · 기대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AX 추진 목적은 무엇인가? (수율 · 인력 · 고객 대응 · 비용 중 우선순위)</a:t>
                      </a:r>
                      <a:endParaRPr lang="en-US" sz="10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D6E8E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문제 정의 · 제안 메시지</a:t>
                      </a:r>
                      <a:endParaRPr lang="en-US" sz="10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8860B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☐</a:t>
                      </a:r>
                      <a:endParaRPr lang="en-US" sz="13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2240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스폰서 · 주관 부서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추진 임원과 주관 부서는? (품질 · 생산기술 · IT · DX 중)</a:t>
                      </a:r>
                      <a:endParaRPr lang="en-US" sz="10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D6E8E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보고 라인 · 의사결정 경로</a:t>
                      </a:r>
                      <a:endParaRPr lang="en-US" sz="10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8860B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☐</a:t>
                      </a:r>
                      <a:endParaRPr lang="en-US" sz="13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2240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기존 추진 현황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스마트팩토리 · AI · MES 고도화 진행/계획, 기존 협력 업체는?</a:t>
                      </a:r>
                      <a:endParaRPr lang="en-US" sz="10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D6E8E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중복 회피 · 연계 범위</a:t>
                      </a:r>
                      <a:endParaRPr lang="en-US" sz="10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8860B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☐</a:t>
                      </a:r>
                      <a:endParaRPr lang="en-US" sz="13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2240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예산 · 일정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예산 편성 시기, 2027 사업계획 반영 여부, 희망 착수 시점은?</a:t>
                      </a:r>
                      <a:endParaRPr lang="en-US" sz="10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D6E8E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제안 규모 · 일정</a:t>
                      </a:r>
                      <a:endParaRPr lang="en-US" sz="10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8860B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☐</a:t>
                      </a:r>
                      <a:endParaRPr lang="en-US" sz="13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2240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정부지원 연계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지원사업 참여 의향은? 기업 규모 요건 충족 여부는?</a:t>
                      </a:r>
                      <a:endParaRPr lang="en-US" sz="10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D6E8E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재원 구조 (자체 / 지원)</a:t>
                      </a:r>
                      <a:endParaRPr lang="en-US" sz="10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8860B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☐</a:t>
                      </a:r>
                      <a:endParaRPr lang="en-US" sz="13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2240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성공 판단 기준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PoC 성공을 무엇으로 판단하는가? 내부 투자 심의 기준(ROI)은?</a:t>
                      </a:r>
                      <a:endParaRPr lang="en-US" sz="10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D6E8E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KPI · 효과 산정</a:t>
                      </a:r>
                      <a:endParaRPr lang="en-US" sz="10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8860B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☐</a:t>
                      </a:r>
                      <a:endParaRPr lang="en-US" sz="13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2240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의사결정 일정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내부 검토 · 승인 절차와 소요 기간은?</a:t>
                      </a:r>
                      <a:endParaRPr lang="en-US" sz="10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D6E8E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제안서 제출 시점</a:t>
                      </a:r>
                      <a:endParaRPr lang="en-US" sz="10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01752"/>
            <a:ext cx="45720" cy="20116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2651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Ⅴ. 1차 미팅 사전 확인 사항  ②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업무 · 공정: 어떤 불량을, 어떻게 분석하고 있는가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PoC 대상 업무를 고르고, 기준선을 측정할 수 있는지 확인하는 질문입니다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9525">
            <a:solidFill>
              <a:srgbClr val="C9D9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5870448"/>
            <a:ext cx="11274552" cy="457200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58704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핵심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불량 분석의 "현재 소요 시간"을 숫자로 말할 수 있는 업무가 첫 PoC 후보입니다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105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Konan Technology  |  대덕전자 제조 AX 제안 · 1차 미팅 논의자료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11247120" y="6510528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16</a:t>
            </a:r>
            <a:endParaRPr lang="en-US" sz="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74552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874520"/>
                <a:gridCol w="5605272"/>
                <a:gridCol w="33832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확인 항목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1차 미팅에서 확인할 질문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왜 필요한가 (제안서 반영처)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8860B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☐</a:t>
                      </a:r>
                      <a:endParaRPr lang="en-US" sz="13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2240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대상 제품 · 사업장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FC-BGA · FC-CSP · MLB · 메모리 모듈 중 우선 대상과 사업장은?</a:t>
                      </a:r>
                      <a:endParaRPr lang="en-US" sz="10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D6E8E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PoC 범위</a:t>
                      </a:r>
                      <a:endParaRPr lang="en-US" sz="10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8860B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☐</a:t>
                      </a:r>
                      <a:endParaRPr lang="en-US" sz="13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2240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주요 불량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수율 손실 상위 불량 모드 TOP 5와 주 발생 공정은?</a:t>
                      </a:r>
                      <a:endParaRPr lang="en-US" sz="10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D6E8E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지식그래프 초기 범위</a:t>
                      </a:r>
                      <a:endParaRPr lang="en-US" sz="10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8860B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☐</a:t>
                      </a:r>
                      <a:endParaRPr lang="en-US" sz="13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2240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원인분석 절차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불량 발생 → 원인 확정까지 절차, 참여 부서, 평균 소요 시간은?</a:t>
                      </a:r>
                      <a:endParaRPr lang="en-US" sz="10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D6E8E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기준선 · AS-IS 정의</a:t>
                      </a:r>
                      <a:endParaRPr lang="en-US" sz="10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8860B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☐</a:t>
                      </a:r>
                      <a:endParaRPr lang="en-US" sz="13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2240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분석 업무량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월 불량 분석 건수, 8D · CAR 건수, 고객 Audit 빈도는?</a:t>
                      </a:r>
                      <a:endParaRPr lang="en-US" sz="10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D6E8E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효과 산정 (절감 공수)</a:t>
                      </a:r>
                      <a:endParaRPr lang="en-US" sz="10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8860B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☐</a:t>
                      </a:r>
                      <a:endParaRPr lang="en-US" sz="13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2240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숙련자 현황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핵심 분석 엔지니어 수, 인터뷰 · 검수에 쓸 수 있는 시간은?</a:t>
                      </a:r>
                      <a:endParaRPr lang="en-US" sz="10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D6E8E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지식 구축 일정 · 실행 가능성</a:t>
                      </a:r>
                      <a:endParaRPr lang="en-US" sz="10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8860B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☐</a:t>
                      </a:r>
                      <a:endParaRPr lang="en-US" sz="13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2240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고객 요구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고객사별 보고 양식 · 기한, AI 활용에 대한 고객 제약은?</a:t>
                      </a:r>
                      <a:endParaRPr lang="en-US" sz="10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D6E8E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보고서 Agent 설계 · 리스크</a:t>
                      </a:r>
                      <a:endParaRPr lang="en-US" sz="10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8860B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☐</a:t>
                      </a:r>
                      <a:endParaRPr lang="en-US" sz="13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2240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반복 불량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재발이 잦은 불량과 그때마다 찾는 과거 자료는?</a:t>
                      </a:r>
                      <a:endParaRPr lang="en-US" sz="10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D6E8E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유사 불량 검색 우선순위</a:t>
                      </a:r>
                      <a:endParaRPr lang="en-US" sz="10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01752"/>
            <a:ext cx="45720" cy="20116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2651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Ⅴ. 1차 미팅 사전 확인 사항  ③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데이터 · IT: 판단에 필요한 데이터가 연결되는가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데이터 연계성은 PoC 성패를 가르는 최우선 기준입니다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9525">
            <a:solidFill>
              <a:srgbClr val="C9D9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5870448"/>
            <a:ext cx="11274552" cy="457200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58704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핵심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로트/패널 ID로 공정이력 · 검사 · 불량이 이어지는지가 가장 먼저 확인할 사항입니다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105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Konan Technology  |  대덕전자 제조 AX 제안 · 1차 미팅 논의자료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11247120" y="6510528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17</a:t>
            </a:r>
            <a:endParaRPr lang="en-US" sz="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11274552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874520"/>
                <a:gridCol w="5605272"/>
                <a:gridCol w="33832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확인 항목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1차 미팅에서 확인할 질문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왜 필요한가 (제안서 반영처)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8860B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☐</a:t>
                      </a:r>
                      <a:endParaRPr lang="en-US" sz="13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2240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업무 시스템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MES · QMS · SPC · ERP 제품명/버전, 데이터 보관 기간은?</a:t>
                      </a:r>
                      <a:endParaRPr lang="en-US" sz="10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D6E8E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연계 방식 · 범위</a:t>
                      </a:r>
                      <a:endParaRPr lang="en-US" sz="10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8860B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☐</a:t>
                      </a:r>
                      <a:endParaRPr lang="en-US" sz="13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2240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검사 데이터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AOI/AVI · BBT · X-ray · 단면 분석 결과의 저장 형식(이미지 / 수치 / 리포트)은?</a:t>
                      </a:r>
                      <a:endParaRPr lang="en-US" sz="10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D6E8E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수집 · 전처리 설계</a:t>
                      </a:r>
                      <a:endParaRPr lang="en-US" sz="10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8860B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☐</a:t>
                      </a:r>
                      <a:endParaRPr lang="en-US" sz="13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2240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설비 데이터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설비 로그 · 센서 · 레시피 데이터를 수집하고 있는가? 주기는?</a:t>
                      </a:r>
                      <a:endParaRPr lang="en-US" sz="10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D6E8E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Step 4 고도화 가능성</a:t>
                      </a:r>
                      <a:endParaRPr lang="en-US" sz="10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8860B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☐</a:t>
                      </a:r>
                      <a:endParaRPr lang="en-US" sz="13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2240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품질 문서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8D · CAR · 분석 보고서 · 표준서 · 고객 스펙의 수량 · 형식(PDF · HWP · Excel) · 위치는?</a:t>
                      </a:r>
                      <a:endParaRPr lang="en-US" sz="10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D6E8E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RAG · 지식 추출 범위</a:t>
                      </a:r>
                      <a:endParaRPr lang="en-US" sz="10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8860B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☐</a:t>
                      </a:r>
                      <a:endParaRPr lang="en-US" sz="13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2240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데이터 연결 키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로트 / 패널 ID로 공정이력 – 검사 – 불량이 연결되는가?</a:t>
                      </a:r>
                      <a:endParaRPr lang="en-US" sz="10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D6E8E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원인분석 Agent 실현성</a:t>
                      </a:r>
                      <a:endParaRPr lang="en-US" sz="10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8860B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☐</a:t>
                      </a:r>
                      <a:endParaRPr lang="en-US" sz="13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2240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용어 · 코드 표준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불량 코드 체계가 있는가? 부서 간 용어가 통일되어 있는가?</a:t>
                      </a:r>
                      <a:endParaRPr lang="en-US" sz="10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D6E8E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용어사전 구축 범위</a:t>
                      </a:r>
                      <a:endParaRPr lang="en-US" sz="10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8860B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☐</a:t>
                      </a:r>
                      <a:endParaRPr lang="en-US" sz="13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2240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PoC 데이터 접근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과거 데이터를 PoC에 쓸 수 있는가? 사내 분석 · 비식별 필요 여부는?</a:t>
                      </a:r>
                      <a:endParaRPr lang="en-US" sz="10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D6E8E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PoC 일정 · 보안 조치</a:t>
                      </a:r>
                      <a:endParaRPr lang="en-US" sz="10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01752"/>
            <a:ext cx="45720" cy="20116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2651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Ⅴ. 1차 미팅 사전 확인 사항  ④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보안 · 인프라 · 운영, 그리고 코난테크놀로지 준비사항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고객사 기술자료를 다루는 업무이므로 보안 조건을 먼저 확인합니다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9525">
            <a:solidFill>
              <a:srgbClr val="C9D9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5870448"/>
            <a:ext cx="11274552" cy="457200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58704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핵심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보안 조건이 아키텍처를 결정합니다. 1차 미팅에서 반드시 확인합니다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5105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Konan Technology  |  대덕전자 제조 AX 제안 · 1차 미팅 논의자료</a:t>
            </a:r>
            <a:endParaRPr lang="en-US" sz="800" dirty="0"/>
          </a:p>
        </p:txBody>
      </p:sp>
      <p:sp>
        <p:nvSpPr>
          <p:cNvPr id="11" name="Text 9"/>
          <p:cNvSpPr txBox="1"/>
          <p:nvPr/>
        </p:nvSpPr>
        <p:spPr>
          <a:xfrm>
            <a:off x="11247120" y="6510528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18</a:t>
            </a:r>
            <a:endParaRPr lang="en-US" sz="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73152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463040"/>
                <a:gridCol w="3291840"/>
                <a:gridCol w="21945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확인 항목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1차 미팅에서 확인할 질문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왜 필요한가 (제안서 반영처)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24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8860B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☐</a:t>
                      </a:r>
                      <a:endParaRPr lang="en-US" sz="13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2240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보안 정책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고객사 NDA 범위, 외부 클라우드 사용 가능 여부는?</a:t>
                      </a:r>
                      <a:endParaRPr lang="en-US" sz="10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D6E8E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구축 방식 (온프레미스)</a:t>
                      </a:r>
                      <a:endParaRPr lang="en-US" sz="10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8860B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☐</a:t>
                      </a:r>
                      <a:endParaRPr lang="en-US" sz="13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2240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인프라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GPU 서버 보유 · 도입 계획, 서버실 · 네트워크 정책은?</a:t>
                      </a:r>
                      <a:endParaRPr lang="en-US" sz="10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D6E8E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HW 구성 · 견적</a:t>
                      </a:r>
                      <a:endParaRPr lang="en-US" sz="10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8860B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☐</a:t>
                      </a:r>
                      <a:endParaRPr lang="en-US" sz="13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2240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사용자 규모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사용 부서 · 예상 사용자 수 · 동시 사용 규모는?</a:t>
                      </a:r>
                      <a:endParaRPr lang="en-US" sz="10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D6E8E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서버 사양 · 라이선스</a:t>
                      </a:r>
                      <a:endParaRPr lang="en-US" sz="10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8860B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☐</a:t>
                      </a:r>
                      <a:endParaRPr lang="en-US" sz="13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2240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운영 주체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도입 후 운영 담당(IT / DX)과 기대 유지보수 수준은?</a:t>
                      </a:r>
                      <a:endParaRPr lang="en-US" sz="10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D6E8E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운영 체계 · 교육</a:t>
                      </a:r>
                      <a:endParaRPr lang="en-US" sz="10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B8860B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☐</a:t>
                      </a:r>
                      <a:endParaRPr lang="en-US" sz="13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E2240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내부 승인</a:t>
                      </a:r>
                      <a:endParaRPr lang="en-US" sz="11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A37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보안 심의 · 정보보호 검토 절차가 있는가?</a:t>
                      </a:r>
                      <a:endParaRPr lang="en-US" sz="105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D6E8E"/>
                          </a:solidFill>
                          <a:latin typeface="페이퍼로지 6 SemiBold" pitchFamily="34" charset="0"/>
                          <a:ea typeface="페이퍼로지 6 SemiBold" pitchFamily="34" charset="-122"/>
                          <a:cs typeface="페이퍼로지 6 SemiBold" pitchFamily="34" charset="-120"/>
                        </a:rPr>
                        <a:t>일정 리스크</a:t>
                      </a:r>
                      <a:endParaRPr lang="en-US" sz="1000" dirty="0">
                        <a:latin typeface="페이퍼로지 6 SemiBold" charset="0"/>
                        <a:ea typeface="페이퍼로지 6 SemiBold" charset="0"/>
                        <a:cs typeface="페이퍼로지 6 SemiBold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9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D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7955280" y="1645920"/>
            <a:ext cx="3776472" cy="3977640"/>
          </a:xfrm>
          <a:prstGeom prst="rect">
            <a:avLst/>
          </a:prstGeom>
          <a:solidFill>
            <a:srgbClr val="FBF5E6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955280" y="1645920"/>
            <a:ext cx="54864" cy="3977640"/>
          </a:xfrm>
          <a:prstGeom prst="rect">
            <a:avLst/>
          </a:prstGeom>
          <a:solidFill>
            <a:srgbClr val="B8860B"/>
          </a:solidFill>
          <a:ln/>
        </p:spPr>
      </p:sp>
      <p:pic>
        <p:nvPicPr>
          <p:cNvPr id="15" name="Image 0" descr="/tmp/claude-0/-home-user-claude/3fc5374a-f1b9-5111-8941-57c2cf2efc1a/scratchpad/build/assets/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0" y="1719072"/>
            <a:ext cx="658368" cy="658368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8156448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코난테크놀로지 준비사항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8156448" y="2377440"/>
            <a:ext cx="34290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영풍전자 과제 구조 기반 시나리오 데모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기판 공정 · 불량 모드 용어사전 초안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상호 NDA 초안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사전 자료 요청서 (샘플 데이터 목록)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AX 우선순위 스코어카드 양식</a:t>
            </a:r>
            <a:endParaRPr lang="en-US" sz="1200" dirty="0"/>
          </a:p>
          <a:p>
            <a:pPr marL="342900" indent="-342900">
              <a:lnSpc>
                <a:spcPct val="108000"/>
              </a:lnSpc>
              <a:spcAft>
                <a:spcPts val="600"/>
              </a:spcAft>
              <a:buSzPct val="100000"/>
              <a:buChar char="▪"/>
            </a:pPr>
            <a:r>
              <a:rPr lang="en-US" sz="120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영풍전자 실명 · 수치 인용 동의 확인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01752"/>
            <a:ext cx="45720" cy="20116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26517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860B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Ⅴ. 1차 미팅 운영안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1차 미팅 진행안 (90분, 안)과 후속 산출물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5156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1차 미팅의 목표는 제안 확정이 아니라 "문제 정의와 진단 범위 합의"입니다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444752"/>
            <a:ext cx="11274552" cy="0"/>
          </a:xfrm>
          <a:prstGeom prst="line">
            <a:avLst/>
          </a:prstGeom>
          <a:noFill/>
          <a:ln w="9525">
            <a:solidFill>
              <a:srgbClr val="C9D9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5870448"/>
            <a:ext cx="11274552" cy="457200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587044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핵심 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미팅 종료 시 "진단 범위 · 자료 요청 · NDA" 세 가지를 합의하는 것이 목표입니다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355080"/>
            <a:ext cx="11247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※ 시간 배분은 제안안 — 대덕전자 참석자 구성에 따라 조정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65105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Konan Technology  |  대덕전자 제조 AX 제안 · 1차 미팅 논의자료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6510528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19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1719072"/>
            <a:ext cx="6949440" cy="658368"/>
          </a:xfrm>
          <a:prstGeom prst="rect">
            <a:avLst/>
          </a:prstGeom>
          <a:solidFill>
            <a:srgbClr val="F7FAFD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719072"/>
            <a:ext cx="960120" cy="658368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7200" y="1719072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10분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600200" y="171907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인사 · 미팅 목적 공유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3977640" y="1719072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오늘의 목표: 문제 정의와 진단 범위 합의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496312"/>
            <a:ext cx="6949440" cy="658368"/>
          </a:xfrm>
          <a:prstGeom prst="rect">
            <a:avLst/>
          </a:prstGeom>
          <a:solidFill>
            <a:srgbClr val="F7FAFD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496312"/>
            <a:ext cx="960120" cy="658368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57200" y="2496312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20분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249631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대덕전자 현황 청취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3977640" y="2496312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수율 · 품질 이슈, AX 추진 배경과 기대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273552"/>
            <a:ext cx="6949440" cy="658368"/>
          </a:xfrm>
          <a:prstGeom prst="rect">
            <a:avLst/>
          </a:prstGeom>
          <a:solidFill>
            <a:srgbClr val="F7FAFD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273552"/>
            <a:ext cx="960120" cy="658368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7200" y="3273552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20분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600200" y="327355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영풍전자 사례 · 데모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3977640" y="3273552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구조 · HITL 흐름 · 목표 KPI (목표치임을 명시)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050792"/>
            <a:ext cx="6949440" cy="658368"/>
          </a:xfrm>
          <a:prstGeom prst="rect">
            <a:avLst/>
          </a:prstGeom>
          <a:solidFill>
            <a:srgbClr val="FBF5E6"/>
          </a:solidFill>
          <a:ln w="9525">
            <a:solidFill>
              <a:srgbClr val="B8860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050792"/>
            <a:ext cx="960120" cy="658368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57200" y="4050792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25분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1600200" y="405079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사전 확인 사항 질의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3977640" y="4050792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사업 · 공정 · 데이터 · 보안 체크리스트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828032"/>
            <a:ext cx="6949440" cy="658368"/>
          </a:xfrm>
          <a:prstGeom prst="rect">
            <a:avLst/>
          </a:prstGeom>
          <a:solidFill>
            <a:srgbClr val="F7FAFD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4828032"/>
            <a:ext cx="960120" cy="658368"/>
          </a:xfrm>
          <a:prstGeom prst="rect">
            <a:avLst/>
          </a:prstGeom>
          <a:solidFill>
            <a:srgbClr val="0E224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457200" y="4828032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15분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1600200" y="482803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다음 단계 합의</a:t>
            </a:r>
            <a:endParaRPr lang="en-US" sz="1350" dirty="0"/>
          </a:p>
        </p:txBody>
      </p:sp>
      <p:sp>
        <p:nvSpPr>
          <p:cNvPr id="37" name="Text 35"/>
          <p:cNvSpPr txBox="1"/>
          <p:nvPr/>
        </p:nvSpPr>
        <p:spPr>
          <a:xfrm>
            <a:off x="3977640" y="4828032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6E8E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진단 범위 · 자료 요청 · NDA · 후속 일정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589520" y="1719072"/>
            <a:ext cx="4142232" cy="3904488"/>
          </a:xfrm>
          <a:prstGeom prst="rect">
            <a:avLst/>
          </a:prstGeom>
          <a:solidFill>
            <a:srgbClr val="F7FAFD"/>
          </a:solidFill>
          <a:ln w="9525">
            <a:solidFill>
              <a:srgbClr val="C9D9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89520" y="1719072"/>
            <a:ext cx="54864" cy="3904488"/>
          </a:xfrm>
          <a:prstGeom prst="rect">
            <a:avLst/>
          </a:prstGeom>
          <a:solidFill>
            <a:srgbClr val="3C6791"/>
          </a:solidFill>
          <a:ln/>
        </p:spPr>
      </p:sp>
      <p:pic>
        <p:nvPicPr>
          <p:cNvPr id="40" name="Image 0" descr="/tmp/claude-0/-home-user-claude/3fc5374a-f1b9-5111-8941-57c2cf2efc1a/scratchpad/build/assets/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7080" y="1792224"/>
            <a:ext cx="658368" cy="658368"/>
          </a:xfrm>
          <a:prstGeom prst="rect">
            <a:avLst/>
          </a:prstGeom>
        </p:spPr>
      </p:pic>
      <p:sp>
        <p:nvSpPr>
          <p:cNvPr id="41" name="Text 38"/>
          <p:cNvSpPr txBox="1"/>
          <p:nvPr/>
        </p:nvSpPr>
        <p:spPr>
          <a:xfrm>
            <a:off x="7790688" y="1828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0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미팅 후 산출물</a:t>
            </a:r>
            <a:endParaRPr lang="en-US" sz="1500" dirty="0"/>
          </a:p>
        </p:txBody>
      </p:sp>
      <p:sp>
        <p:nvSpPr>
          <p:cNvPr id="42" name="Shape 39"/>
          <p:cNvSpPr/>
          <p:nvPr/>
        </p:nvSpPr>
        <p:spPr>
          <a:xfrm>
            <a:off x="7790688" y="2450592"/>
            <a:ext cx="914400" cy="384048"/>
          </a:xfrm>
          <a:prstGeom prst="roundRect">
            <a:avLst>
              <a:gd name="adj" fmla="val 23810"/>
            </a:avLst>
          </a:prstGeom>
          <a:solidFill>
            <a:srgbClr val="0E2240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7790688" y="245059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D+2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8823960" y="245059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회의록 · 확인 사항 정리본 송부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7790688" y="3227832"/>
            <a:ext cx="914400" cy="384048"/>
          </a:xfrm>
          <a:prstGeom prst="roundRect">
            <a:avLst>
              <a:gd name="adj" fmla="val 23810"/>
            </a:avLst>
          </a:prstGeom>
          <a:solidFill>
            <a:srgbClr val="0E2240"/>
          </a:solidFill>
          <a:ln/>
        </p:spPr>
      </p:sp>
      <p:sp>
        <p:nvSpPr>
          <p:cNvPr id="46" name="Text 43"/>
          <p:cNvSpPr txBox="1"/>
          <p:nvPr/>
        </p:nvSpPr>
        <p:spPr>
          <a:xfrm>
            <a:off x="7790688" y="32278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D+5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8823960" y="322783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사전 자료 요청서 · NDA 체결</a:t>
            </a:r>
            <a:endParaRPr lang="en-US" sz="1150" dirty="0"/>
          </a:p>
        </p:txBody>
      </p:sp>
      <p:sp>
        <p:nvSpPr>
          <p:cNvPr id="48" name="Shape 45"/>
          <p:cNvSpPr/>
          <p:nvPr/>
        </p:nvSpPr>
        <p:spPr>
          <a:xfrm>
            <a:off x="7790688" y="4005072"/>
            <a:ext cx="914400" cy="384048"/>
          </a:xfrm>
          <a:prstGeom prst="roundRect">
            <a:avLst>
              <a:gd name="adj" fmla="val 23810"/>
            </a:avLst>
          </a:prstGeom>
          <a:solidFill>
            <a:srgbClr val="0E2240"/>
          </a:solidFill>
          <a:ln/>
        </p:spPr>
      </p:sp>
      <p:sp>
        <p:nvSpPr>
          <p:cNvPr id="49" name="Text 46"/>
          <p:cNvSpPr txBox="1"/>
          <p:nvPr/>
        </p:nvSpPr>
        <p:spPr>
          <a:xfrm>
            <a:off x="7790688" y="400507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D+14</a:t>
            </a:r>
            <a:endParaRPr lang="en-US" sz="1100" dirty="0"/>
          </a:p>
        </p:txBody>
      </p:sp>
      <p:sp>
        <p:nvSpPr>
          <p:cNvPr id="50" name="Text 47"/>
          <p:cNvSpPr txBox="1"/>
          <p:nvPr/>
        </p:nvSpPr>
        <p:spPr>
          <a:xfrm>
            <a:off x="8823960" y="400507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진단 계획서 (범위 · 일정 · 인력)</a:t>
            </a:r>
            <a:endParaRPr lang="en-US" sz="1150" dirty="0"/>
          </a:p>
        </p:txBody>
      </p:sp>
      <p:sp>
        <p:nvSpPr>
          <p:cNvPr id="51" name="Shape 48"/>
          <p:cNvSpPr/>
          <p:nvPr/>
        </p:nvSpPr>
        <p:spPr>
          <a:xfrm>
            <a:off x="7790688" y="4782312"/>
            <a:ext cx="914400" cy="384048"/>
          </a:xfrm>
          <a:prstGeom prst="roundRect">
            <a:avLst>
              <a:gd name="adj" fmla="val 23810"/>
            </a:avLst>
          </a:prstGeom>
          <a:solidFill>
            <a:srgbClr val="B8860B"/>
          </a:solidFill>
          <a:ln/>
        </p:spPr>
      </p:sp>
      <p:sp>
        <p:nvSpPr>
          <p:cNvPr id="52" name="Text 49"/>
          <p:cNvSpPr txBox="1"/>
          <p:nvPr/>
        </p:nvSpPr>
        <p:spPr>
          <a:xfrm>
            <a:off x="7790688" y="478231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진단 후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8823960" y="4782312"/>
            <a:ext cx="2788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정식 제안서 (KPI 목표 포함)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laude/3fc5374a-f1b9-5111-8941-57c2cf2efc1a/scratchpad/build/assets/closi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THANK YOU  ·  Q &amp; A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8288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감사</a:t>
            </a:r>
            <a:pPr indent="0" marL="0">
              <a:buNone/>
            </a:pPr>
            <a:r>
              <a:rPr lang="en-US" sz="5800" b="1" dirty="0">
                <a:solidFill>
                  <a:srgbClr val="E2B23A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합니다</a:t>
            </a:r>
            <a:endParaRPr lang="en-US" sz="5800" dirty="0"/>
          </a:p>
        </p:txBody>
      </p:sp>
      <p:sp>
        <p:nvSpPr>
          <p:cNvPr id="5" name="Shape 2"/>
          <p:cNvSpPr/>
          <p:nvPr/>
        </p:nvSpPr>
        <p:spPr>
          <a:xfrm>
            <a:off x="731520" y="3246120"/>
            <a:ext cx="731520" cy="36576"/>
          </a:xfrm>
          <a:prstGeom prst="rect">
            <a:avLst/>
          </a:prstGeom>
          <a:solidFill>
            <a:srgbClr val="E2B23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31520" y="347472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"기판 수율의 판단을 회사의 자산으로"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9D1DC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대덕전자 제조 AX,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9D1DC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불량 원인분석 업무 1건에서 시작합니다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800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㈜코난테크놀로지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519379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1DC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염종학 이사 (국방 · 전략사업부)    jonghak.yeom@konantech.com    010-9082-1522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8521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E99A5"/>
                </a:solidFill>
                <a:latin typeface="페이퍼로지 6 SemiBold" pitchFamily="34" charset="0"/>
                <a:ea typeface="페이퍼로지 6 SemiBold" pitchFamily="34" charset="-122"/>
                <a:cs typeface="페이퍼로지 6 SemiBold" pitchFamily="34" charset="-120"/>
              </a:rPr>
              <a:t>대덕전자 제조 AX 제안  |  2026. 10.  |  www.konantech.com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페이퍼로지 6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페이퍼로지 6 SemiBol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Konan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대덕전자 제조 AX 제안 (1차 미팅 논의자료)</dc:title>
  <dc:subject>PptxGenJS Presentation</dc:subject>
  <dc:creator>㈜코난테크놀로지 염종학</dc:creator>
  <cp:lastModifiedBy>㈜코난테크놀로지 염종학</cp:lastModifiedBy>
  <cp:revision>1</cp:revision>
  <dcterms:created xsi:type="dcterms:W3CDTF">2026-10-21T10:23:47Z</dcterms:created>
  <dcterms:modified xsi:type="dcterms:W3CDTF">2026-10-21T10:23:47Z</dcterms:modified>
</cp:coreProperties>
</file>