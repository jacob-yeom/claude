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[0:00~1:00] 인사. 오늘 60분 동안 '제조 암묵지'를 어떻게 회사 자산으로 바꾸는지, 실제 진행 중인 세 사례와 함께 말씀드리고, 마지막에 우리 회사는 어디부터 시작해야 하는지 숫자로 정하는 방법을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[1:00~2:00] 순서 안내. Ⅱ는 '무엇을 갖춰야 하나', Ⅲ은 '암묵지를 어떻게 꺼내나', Ⅳ는 '실제로 어떻게 했나', Ⅴ는 '우리 회사는 무엇부터 하나'입니다.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[2:00~4:00] 세 가지 숫자를 강조: 숙련 도달 5년, 판단 편차 ±30%, 수리공수 700MD. 이 숫자들은 실제 과제에서 진단한 현재 수준입니다. 객석에 질문: '우리 회사에서 5년 안에 은퇴하는 핵심 기술자가 몇 명입니까?'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[4:00~7:00] 기존 AI 과제는 '불량입니다'에서 끝났지만, AX는 '왜 불량인지, 무엇을 점검할지, 보고서까지' 이어집니다. 3단계 로드맵은 포항 과제의 실제 계획입니다. 자율실행은 마지막 단계이고, 처음부터 목표로 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[7:00~9:30] 이 그림 한 장이 오늘의 지도입니다. CEO가 기억할 점: 모델(L3)은 매년 바뀝니다. 남는 것은 회사가 정리한 데이터와 지식(L1·L2)입니다. 그래서 투자의 중심도 L1·L2여야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[9:30~12:00] AAS는 '설비와 자산의 디지털 명함'이라고 설명하면 이해가 쉽습니다. 국제표준(IEC 63278-1)이라 다른 회사·협력사와 데이터를 주고받을 때 공통 언어가 됩니다. 신규 센서를 무조건 늘리기보다 이미 있는 ERP·MES부터 연결하는 것이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[12:00~14:30] 실제 질문 하나로 차이를 보여줍니다. RAG는 '어느 문서에 있다'까지, Graph-RAG는 '어디를 먼저 재 보라'까지 갑니다. 회사의 판단 노하우는 문서보다 관계 속에 있기 때문에 지식그래프가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[14:30~17:00] Agent는 '업무 하나를 맡는 AI 직원'으로 설명합니다. 영풍전자는 접수→분석→결과서→검증→승인의 전 과정을 연결했습니다. 사람이 승인 단계를 쥐고 있으므로 책임 소재가 분명하고, 승인·수정 기록이 다시 지식으로 쌓입니다.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[17:00~19:00] 인프라 규모 감을 드리는 슬라이드입니다. 실제 규모는 업무 범위·동시 사용자 수에 따라 달라지므로 그대로 적용하면 안 된다고 꼭 말할 것. 핵심은 운영 도구(Ops)가 있어야 데이터가 늘고 모델이 바뀌어도 성능이 유지된다는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[19:00~22:00] 객석 참여: '여러분 현장에도 뜬 납, 먹통 같은 말이 있으시죠?' 이 말들을 표준어와 연결해야 AI가 알아듣습니다. 두 번째 예시는 철강 명장의 판단을 규칙 한 줄로 바꾼 것입니다. 이 한 줄이 쌓인 것이 지식그래프입니다.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[22:00~24:00] 특히 ③번이 자주 간과됩니다. ERP·MES는 있는데 테이블끼리 어떻게 이어지는지는 담당자만 압니다. 이 부분을 다룬 것이 뒤에 나올 서연이화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[24:00~26:30] 과거 온톨로지 구축이 비싸고 오래 걸렸던 이유는 사람이 전부 손으로 했기 때문입니다. 지금은 LLM이 문서에서 개체·관계·규칙 초안을 뽑고, 명장은 맞다/틀리다만 판단합니다. 명장의 시간을 가장 적게 쓰는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[26:30~29:00] 숙련자는 증상을 보면 어느 회로부터, 어느 부품을, 어디를 재볼지 순서가 머릿속에 있습니다. 그 순서를 그래프로 옮기고, 관계마다 과거 성공률·수리시간을 붙이면 신입도 같은 순서로 탐구할 수 있습니다. 숫자는 설계 문서의 예시값임을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[29:00~31:00] 실제 연주 공정 문장 하나로 시연하듯 설명합니다. 핵심은 마지막 P5: 모든 지식에 근거가 붙습니다. 그래서 AI 답변을 보고 '이 말 어디서 나왔어?'라고 물으면 원문 문장까지 보여줄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[31:00~32:30] 같은 불량을 부서마다 다르게 부르면, 검색이 절반을 놓칩니다. 용어사전이 있으면 '냉납'을 검색해도 '솔더크랙'으로 적힌 과거 사례를 찾아줍니다.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[32:30~34:00] Ⅲ 파트 마무리. 세 가지 원칙이 있어야 명장도 AI를 '내 노하우를 지키는 도구'로 받아들입니다. 이제 이 원칙이 실제 현장에서 어떻게 적용되고 있는지 세 사례로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[34:00~35:00] 세 사례를 비교표로 먼저 보여드립니다. 정직하게 말씀드릴 점: 영풍전자와 포항은 진행 중이라 숫자는 목표입니다. 서연이화는 PoC 결과가 나와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[35:00~39:00] 강조점 두 가지. (1) 허위 관계 0건: AI가 틀린 관계를 확정한 경우가 없었습니다. 애매하면 사람에게 넘깁니다. (2) 정의서에 없던 관계 9건: 사람이 문서화하지 않았던 지식을 AI가 찾아냈습니다. 바로 이것이 '데이터 속 암묵지'입니다. ※ 고객사 실명 공개 동의 확인 필요(내부 자료 일부는 비식별 처리됨).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[39:00~42:00] 방산 PBA는 다품종·소량이라 같은 고장이 반복되지 않는 것처럼 보이지만, 회로블록·부품 수준에서는 패턴이 있습니다. 그 패턴을 지식그래프로 만든 것이 핵심입니다. 기존 스마트공장 투자(ERP·MES)가 AX의 준비도로 이어졌다는 점을 강조. ※ 내부 수치(700MD·폐기 77개) 외부 공개 동의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[42:00~44:00] 이 슬라이드는 CEO 의사결정 방식의 모범 사례로 소개합니다. 전사 도입을 한 번에 결정하지 않고, 본사 1개 공정에서 KPI를 확인한 뒤 투자심의로 확산합니다. Ⅴ 파트의 우선순위 결정 방법과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[44:00~48:00] 대구·경북 CEO께 가장 가까운 사례. 중소 협력사가 혼자 AI를 도입하기엔 비용 장벽이 큽니다. 산단 차원에서 표준과 코어를 만들고, 검증된 Agent를 카세트처럼 끼워 쓰게 하는 것이 확산 전략입니다. 숙련 도달 5년→1년이 가장 강력한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[48:00~49:00] 사례 파트 요약. 다음 질문으로 자연스럽게 넘어갑니다: 그래서 우리는 무엇부터 해야 하나.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[49:00~51:00] 많은 기업이 '가장 골치 아픈 문제'를 첫 과제로 고르다가 실패합니다. 데이터가 없거나 성과를 잴 수 없으면 1년 뒤 '효과가 있었나?'라는 질문에 답할 수 없습니다. 포항 과제도 데이터 연계와 성과 측정을 최우선 기준으로 삼았습니다.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[51:00~53:30] 이 표는 그대로 가져가 사내 회의에서 쓰실 수 있습니다. 가치 4개, 실행 4개 지표. 가중치와 구간은 저희 제안값이므로 회사 사정에 맞게 바꾸시면 됩니다. 중요한 것은 '느낌'이 아니라 같은 잣대로 후보들을 비교하는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[53:30~55:00] 가상 예시임을 반드시 언급. 같은 회사 안에서도 '고장탐구'는 바로 할 수 있고, '예지정비'는 데이터부터 쌓아야 하고, '보고서 작성'은 범용 도구로 빨리 해결할 수 있습니다. 세 가지를 다르게 다뤄야 예산이 낭비되지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[55:00~56:30] 구체 금액은 회사마다 달라서 일반화하지 않습니다. 대신 산식과 기준선의 중요성을 강조합니다. 정부지원 비율(영풍전자 약 70%)은 다음 세션 조윤성 박사님의 정부지원 강의로 자연스럽게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[56:30~58:00] Step1 진단에서 'AX 도입 준비가 되어 있는가'를 먼저 봅니다. 준비가 되었으면 바로 업무 1건 PoC로 갑니다. 준비가 안 되었다면 두 갈래 교육이 있습니다. 임직원은 업무자동화 AI 활용 교육(환급/비환급), 경영진은 제조암묵지 AI 최고경영자과정(비환급). 교육을 마치면 다시 진단으로 돌아와 PoC 여부를 판단합니다.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[58:00~59:00] 현장에서 바로 체크해 보시도록 시간을 30초 드립니다. 이 체크리스트는 세미나 사전·사후 설문으로도 쓸 수 있고, 원하시는 기업은 1:1 진단으로 이어갈 수 있다고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[59:00~60:00] 세 가지 메시지로 정리하고 Q&amp;A로 넘어갑니다. 다음 세션(AI 정부지원) 연결 멘트: '오늘 말씀드린 STEP 1을 정부 지원사업과 어떻게 연결하는지는 조윤성 박사님께서 이어서 설명해 주십니다.'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배포용 부록. 강의 중 넘기지 않고 질문이 나오면 참고 자료로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Q&amp;A. 1:1 AX 진단 상담 신청을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mailto:jonghak.yeom@konantech.com" TargetMode="External"/><Relationship Id="rId1" Type="http://schemas.openxmlformats.org/officeDocument/2006/relationships/image" Target="../media/Slide-31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AX 세미나  ·  대구·경북 / 경기 기업 CEO  ·  2026. 11.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명장의 판단을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회사의 자산으로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337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암묵지 기반 지식베이스 구축과 제조 AX 서비스 실행 전략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7307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서연이화 · 영풍전자 · 포항 AX실증산단 사례 중심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4480560"/>
            <a:ext cx="731520" cy="36576"/>
          </a:xfrm>
          <a:prstGeom prst="rect">
            <a:avLst/>
          </a:prstGeom>
          <a:solidFill>
            <a:srgbClr val="E2B23A"/>
          </a:solidFill>
          <a:ln w="12700">
            <a:solidFill>
              <a:srgbClr val="E2B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091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㈜코난테크놀로지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5074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염종학 이사 (국방 · 전략사업부)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5394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Manufacturing AX Seminar for CEOs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오늘 이야기할 순서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60분 · 5개 파트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737360"/>
            <a:ext cx="7680960" cy="713232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7373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830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왜 지금 제조 AX인가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83080" y="21214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현장의 3대 위기, 제조 AI와 제조 AX의 차이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95160" y="173736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5분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578608"/>
            <a:ext cx="7680960" cy="713232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57860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83080" y="2624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AX 서비스의 구성요소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83080" y="29626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5-Layer AX Stack: 데이터 · 지식 · AI 엔진 · Agent · 운영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95160" y="2578608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12분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419856"/>
            <a:ext cx="7680960" cy="713232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1985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783080" y="34655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암묵지: 개념과 구현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38039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명장의 '감'을 근거–조건–결과 구조로 꺼내는 방법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95160" y="341985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15분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7680960" cy="713232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26110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783080" y="4306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구축 사례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783080" y="46451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서연이화 · 영풍전자 · 포항 AX실증산단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95160" y="4261104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15분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5102352"/>
            <a:ext cx="7680960" cy="713232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1023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783080" y="5148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AX 도입 우선순위 결정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783080" y="54864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정량 스코어카드 · 효과 산정 · 도입 로드맵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95160" y="5102352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10분</a:t>
            </a:r>
            <a:endParaRPr lang="en-US" sz="1400" dirty="0"/>
          </a:p>
        </p:txBody>
      </p:sp>
      <p:pic>
        <p:nvPicPr>
          <p:cNvPr id="35" name="Image 0" descr="/tmp/claude-0/-home-user-claude/9cbe668c-2a39-5ca0-8ea8-cc6111a6ea41/scratchpad/build/assets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20240"/>
            <a:ext cx="3017520" cy="28999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03920" y="4983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DATA → KNOWLEDGE → AI AGENT → VALUE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남은 3분은 Q&amp;A로 둡니다.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Ⅰ. 왜 지금 제조 AX인가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현장의 3대 위기: 사람 · 지식 · 성과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AI가 없어서가 아니라, 판단의 근거가 회사에 남지 않는 것이 문제입니다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39776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9272" y="176479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사람: 숙련 인력의 단절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505456"/>
            <a:ext cx="336499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숙련공 고령화·은퇴로 조업 노하우 유실 위기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신규 인력이 숙련 수준에 이르는 데 약 5년 (포항 철강 현재 수준 진단)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인력 수급이 어렵고 인원 변동이 잦아 숙련도 편차 심화 (영풍전자)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61104" y="1691640"/>
            <a:ext cx="365760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61104" y="1691640"/>
            <a:ext cx="54864" cy="39776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7" name="Image 1" descr="/tmp/claude-0/-home-user-claude/9cbe668c-2a39-5ca0-8ea8-cc6111a6ea41/scratchpad/build/assets/image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76" y="1764792"/>
            <a:ext cx="685800" cy="685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43984" y="18013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지식: 머릿속과 메모에 갇힌 노하우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443984" y="2505456"/>
            <a:ext cx="336499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경험·직관·판단이 구전과 개인 메모에만 존재 → 디지털화 0% (포항 진단)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고장탐구 이력·시정조치 데이터가 흩어져 사례 재활용 곤란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회로도·데이터시트·시험절차서가 부서별로 산재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065008" y="1691640"/>
            <a:ext cx="365760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65008" y="1691640"/>
            <a:ext cx="54864" cy="39776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2" name="Image 2" descr="/tmp/claude-0/-home-user-claude/9cbe668c-2a39-5ca0-8ea8-cc6111a6ea41/scratchpad/build/assets/image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764792"/>
            <a:ext cx="685800" cy="6858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47888" y="18013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성과: 사람마다 다른 결과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47888" y="2505456"/>
            <a:ext cx="336499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조업 판단 표준편차 ±30% (포항 진단)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PBA 수리 공수 연 700MD, 7명 투입 · 수리 불가 폐기 77개 (영풍전자, 2025)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보고서 수기·반수기 작성, 작성자별 일관성 부족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숙련자가 떠나면 판단도 함께 떠납니다. 제조 AX의 출발점은 '판단의 자산화'입니다.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포항 AX실증산단 착수회의(2026.10) · 영풍전자 신속상용화 발표평가(2026.05) · 코난테크놀로지 회사소개서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Ⅰ. 왜 지금 제조 AX인가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AI에서 제조 AX로: 탐지·예측을 넘어 '설명'과 '실행'으로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AX(AI Transformation) = AI로 업무 방식 자체를 바꾸는 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구분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기존 제조 AI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제조 AX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목표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불량 탐지 · 고장 예측 (단일 과제)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업무 프로세스 전환 (접수 → 분석 → 보고 → 승인)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결과물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점수 · 경보 ("이상 있음")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근거와 함께 설명 ("왜 그렇게 판단하는가", XAI)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핵심 자산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학습 데이터 · 모델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지식베이스 (온톨로지 · 지식그래프) + Agent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사용자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데이터 과학자 · IT 부서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현장 엔지니어 · 조업 담당자 · 관리자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운영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모델 납품으로 종료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LLMOps · RAGOps · AgentOps로 지속 고도화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7724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Agent 성숙도 3단계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0" y="2148840"/>
            <a:ext cx="3959352" cy="914400"/>
          </a:xfrm>
          <a:prstGeom prst="rect">
            <a:avLst/>
          </a:prstGeom>
          <a:solidFill>
            <a:srgbClr val="E9F2FB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2221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1  정보제공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55280" y="2587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조업 지식 검색 · 판단 근거 설명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601200" y="3063240"/>
            <a:ext cx="274320" cy="228600"/>
          </a:xfrm>
          <a:prstGeom prst="downArrow">
            <a:avLst/>
          </a:prstGeom>
          <a:solidFill>
            <a:srgbClr val="8E99A5"/>
          </a:solidFill>
          <a:ln w="12700">
            <a:solidFill>
              <a:srgbClr val="8E99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0" y="3291840"/>
            <a:ext cx="3959352" cy="9144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0" y="3364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2  판단지원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0" y="3730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 이상 원인 추론 · 품질·설비 예측 제시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601200" y="4206240"/>
            <a:ext cx="274320" cy="228600"/>
          </a:xfrm>
          <a:prstGeom prst="downArrow">
            <a:avLst/>
          </a:prstGeom>
          <a:solidFill>
            <a:srgbClr val="8E99A5"/>
          </a:solidFill>
          <a:ln w="12700">
            <a:solidFill>
              <a:srgbClr val="8E99A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4434840"/>
            <a:ext cx="3959352" cy="9144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4507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3  자율실행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55280" y="4873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정비 우선순위 도출 · 실시간 경보 · 제어시스템 연계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대부분의 기업은 STEP 1(정보제공)부터 시작합니다. 단계를 건너뛰면 현장 신뢰를 잃습니다.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포항 AX실증산단 착수회의(2026.10) 자율수행형 Agent 고도화 로드맵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AX 서비스의 전체 구조: 5-Layer AX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모델은 한 층일 뿐입니다. 성패는 아래 두 층(데이터·지식)에서 갈립니다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676656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4592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645920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사용자 인터페이스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11880" y="1645920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현장 어시스턴트 · 범용 챗봇 · 대시보드 · 보고서 화면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676656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32304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432304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서비스 로직 (AI Agent)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11880" y="2432304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고장탐구 · 검사 · 유사사례 매칭 · 보고서 생성 Agent, 오케스트레이션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8229600" cy="676656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18688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21868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검색 / 생성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11880" y="3218688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온프레미스 LLM · RAG · Graph-RAG · Query Router(질문 의도별 분기)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8229600" cy="676656"/>
          </a:xfrm>
          <a:prstGeom prst="rect">
            <a:avLst/>
          </a:prstGeom>
          <a:solidFill>
            <a:srgbClr val="E9F2FB"/>
          </a:solidFill>
          <a:ln w="19050">
            <a:solidFill>
              <a:srgbClr val="3C67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05072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005072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지식 / 데이터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11880" y="400507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벡터DB · 지식그래프(온톨로지) · 정형 DB · 제조 용어사전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91456"/>
            <a:ext cx="8229600" cy="676656"/>
          </a:xfrm>
          <a:prstGeom prst="rect">
            <a:avLst/>
          </a:prstGeom>
          <a:solidFill>
            <a:srgbClr val="E9F2FB"/>
          </a:solidFill>
          <a:ln w="19050">
            <a:solidFill>
              <a:srgbClr val="3C67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791456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4791456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수집 · 표준화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611880" y="4791456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ERP · MES · SCM · DCS · 문서 · 영상 · 음성 → AAS 표준 모델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15400" y="1645920"/>
            <a:ext cx="2816352" cy="18745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5400" y="1645920"/>
            <a:ext cx="54864" cy="1874520"/>
          </a:xfrm>
          <a:prstGeom prst="rect">
            <a:avLst/>
          </a:prstGeom>
          <a:solidFill>
            <a:srgbClr val="4D8E7A"/>
          </a:solidFill>
          <a:ln w="12700">
            <a:solidFill>
              <a:srgbClr val="4D8E7A"/>
            </a:solidFill>
            <a:prstDash val="solid"/>
          </a:ln>
        </p:spPr>
      </p:sp>
      <p:pic>
        <p:nvPicPr>
          <p:cNvPr id="32" name="Image 0" descr="/tmp/claude-0/-home-user-claude/9cbe668c-2a39-5ca0-8ea8-cc6111a6ea41/scratchpad/build/assets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1719072"/>
            <a:ext cx="566928" cy="56692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098280" y="1755648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운영 거버넌스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098280" y="2340864"/>
            <a:ext cx="252374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LLMOps: 모델 배포·교체·성능 관리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RAGOps: 데이터 소스·색인 관리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AgentOps: 실행 관측·실패 감지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915400" y="3639312"/>
            <a:ext cx="2816352" cy="1938528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15400" y="3639312"/>
            <a:ext cx="54864" cy="1938528"/>
          </a:xfrm>
          <a:prstGeom prst="rect">
            <a:avLst/>
          </a:prstGeom>
          <a:solidFill>
            <a:srgbClr val="4D8E7A"/>
          </a:solidFill>
          <a:ln w="12700">
            <a:solidFill>
              <a:srgbClr val="4D8E7A"/>
            </a:solidFill>
            <a:prstDash val="solid"/>
          </a:ln>
        </p:spPr>
      </p:sp>
      <p:pic>
        <p:nvPicPr>
          <p:cNvPr id="37" name="Image 1" descr="/tmp/claude-0/-home-user-claude/9cbe668c-2a39-5ca0-8ea8-cc6111a6ea41/scratchpad/build/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096" y="3712464"/>
            <a:ext cx="566928" cy="56692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9098280" y="37490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보안 · 통제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9098280" y="4334256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온프레미스 운영(데이터 외부 유출 차단)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사용자별 권한(RBAC)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가드레일 · 감사·승인 로그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L1·L2(데이터와 지식)는 회사 고유 자산으로 남고, L3(모델)는 언제든 더 좋은 것으로 교체할 수 있습니다.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코난테크놀로지 AX 플랫폼 구축 사례(2026.08) 5-Layer AX Stack · 영풍전자 목표시스템 구성도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구성요소 ① 데이터 수집 · 표준화 (L1)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흩어진 현장 데이터를 하나의 표준 언어로 모읍니다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600200" cy="6858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수집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84832" y="1892808"/>
            <a:ext cx="256032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691640"/>
            <a:ext cx="1600200" cy="6858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룰 기반 파싱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05072" y="1892808"/>
            <a:ext cx="256032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691640"/>
            <a:ext cx="1600200" cy="685800"/>
          </a:xfrm>
          <a:prstGeom prst="rect">
            <a:avLst/>
          </a:prstGeom>
          <a:solidFill>
            <a:srgbClr val="E9F2FB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코드·단위 표준화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25312" y="1892808"/>
            <a:ext cx="256032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691640"/>
            <a:ext cx="1600200" cy="6858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품질 검증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45552" y="1892808"/>
            <a:ext cx="256032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691640"/>
            <a:ext cx="1600200" cy="685800"/>
          </a:xfrm>
          <a:prstGeom prst="rect">
            <a:avLst/>
          </a:prstGeom>
          <a:solidFill>
            <a:srgbClr val="E9F2FB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메타 생성 · 온톨로지 연결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65792" y="1892808"/>
            <a:ext cx="256032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1691640"/>
            <a:ext cx="1600200" cy="6858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04120" y="1691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분기 적재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2606040"/>
            <a:ext cx="3657600" cy="30632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606040"/>
            <a:ext cx="54864" cy="30632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29" name="Image 0" descr="/tmp/claude-0/-home-user-claude/9cbe668c-2a39-5ca0-8ea8-cc6111a6ea41/scratchpad/build/assets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8144" y="2679192"/>
            <a:ext cx="566928" cy="56692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40080" y="27157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어떤 데이터를 모으나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40080" y="3300984"/>
            <a:ext cx="3364992" cy="229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 시스템: ERP · MES · SCM · APS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설비·공정: DCS 운전 시계열, 알람 이력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품질: 검사 데이터, 고장탐구·시정조치 이력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문서: 도면 · 매뉴얼 · 시험절차서 (OCR)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사람: 명장 음성·판단 의견, 작업일지, 영상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261104" y="2606040"/>
            <a:ext cx="3657600" cy="30632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61104" y="2606040"/>
            <a:ext cx="54864" cy="30632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34" name="Image 1" descr="/tmp/claude-0/-home-user-claude/9cbe668c-2a39-5ca0-8ea8-cc6111a6ea41/scratchpad/build/assets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2679192"/>
            <a:ext cx="566928" cy="56692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443984" y="27157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어떻게 연결하나 (어댑터)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4443984" y="3300984"/>
            <a:ext cx="3364992" cy="229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REST API: 업무 시스템 표준 연동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파일: Log · CSV · XML · PDF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메시지: MQTT · Kafka 스트리밍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설비 확장: OPC-UA 등 산업 프로토콜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플러그인 방식으로 신규 설비 추가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8065008" y="2606040"/>
            <a:ext cx="3657600" cy="30632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065008" y="2606040"/>
            <a:ext cx="54864" cy="30632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39" name="Image 2" descr="/tmp/claude-0/-home-user-claude/9cbe668c-2a39-5ca0-8ea8-cc6111a6ea41/scratchpad/build/assets/image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2679192"/>
            <a:ext cx="566928" cy="56692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247888" y="27157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무엇으로 표준화하나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8247888" y="3300984"/>
            <a:ext cx="3364992" cy="229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AAS(자산관리셸, IEC 63278-1) 서브모델 설계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구성품 계층 4단계 코드 체계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통합 코드 매핑 테이블 (시스템 간 코드 통일)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용어사전 (현장어 ↔ 표준어)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RDB · 벡터DB · 그래프DB · 객체저장소로 분기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같은 현상을 다른 말로 부르면 AI는 다른 사건으로 봅니다. 용어 통일이 정확도를 좌우합니다.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신속상용화 발표평가(2026.05) 데이터 처리 체계 · 포항 AX실증산단 착수회의(2026.10)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구성요소 ② 지식 계층 (L2·L3): 문서 검색과 관계 추론을 함께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"A 보드 출력 전압이 불안정하다. 원인은?" 이라는 질문에 두 방식은 다르게 답합니다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5532120" cy="23774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23774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2664" y="176479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RAG (벡터 검색 기반)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523951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문서를 의미 단위로 잘라 '비슷한 내용'을 찾음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답: 관련 매뉴얼·절차서 페이지와 요약, 출처 표시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강점: 매뉴얼·규정 Q&amp;A, 보고서 초안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한계: 원인→현상→조치처럼 여러 단계를 잇는 질문에 약함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99632" y="1691640"/>
            <a:ext cx="5532120" cy="23774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1691640"/>
            <a:ext cx="54864" cy="2377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7" name="Image 1" descr="/tmp/claude-0/-home-user-claude/9cbe668c-2a39-5ca0-8ea8-cc6111a6ea41/scratchpad/build/assets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096" y="1764792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382512" y="1801368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Graph-RAG (지식그래프 기반)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382512" y="2386584"/>
            <a:ext cx="523951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개체(설비·부품·증상)와 관계를 따라 추론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답: 증상 → 회로영역 → 의심부품 → 측정 포인트 → 조치, 과거 성공률 함께 제시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강점: 고장 원인 역추적, 다단계 판단, 근거 경로 제시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전제: 온톨로지 설계와 검수가 필요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4206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질문 의도에 따라 자동 분기 (Query Router)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4617720"/>
            <a:ext cx="2103120" cy="1005840"/>
          </a:xfrm>
          <a:prstGeom prst="rect">
            <a:avLst/>
          </a:prstGeom>
          <a:solidFill>
            <a:srgbClr val="E9F2FB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4617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사용자 질문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2651760" y="4983480"/>
            <a:ext cx="411480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154680" y="4617720"/>
            <a:ext cx="2103120" cy="100584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0" y="4617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Query Router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(의도 파악)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349240" y="4983480"/>
            <a:ext cx="411480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852160" y="4617720"/>
            <a:ext cx="1874520" cy="100584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97880" y="4617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문서 질문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RAG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7863840" y="4617720"/>
            <a:ext cx="1874520" cy="1005840"/>
          </a:xfrm>
          <a:prstGeom prst="rect">
            <a:avLst/>
          </a:prstGeom>
          <a:solidFill>
            <a:srgbClr val="E9F2F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909560" y="4617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원인·관계 질문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Graph-RAG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9875520" y="4617720"/>
            <a:ext cx="1856232" cy="100584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921240" y="4617720"/>
            <a:ext cx="1764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실적·수치 질문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업무 DB 조회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문서는 RAG로, 판단은 지식그래프로. 두 가지를 함께 써야 '근거 있는 답'이 나옵니다.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신속상용화 발표평가(2026.05) 범용 Chatbot 운영 구성 · RIST 의미추출 모듈 Kick-off(2026.08) Query Router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구성요소 ③ AI 엔진 · ④ Agent 서비스 (L3·L4·L5)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 단위로 Agent를 만들고, 마지막 확정은 사람이 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56616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39776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704" y="176479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엔진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3273552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온프레미스 LLM (추론형 모델)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검색엔진 기반 고정밀 RAG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OCR · STT (도면·음성 디지털화)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Vision · VLM (영상·이미지 분석)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PHM (설비 예지정비)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인과추론 모델 (공정↔설비 원인 역추적)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69664" y="1691640"/>
            <a:ext cx="374904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9664" y="1691640"/>
            <a:ext cx="54864" cy="39776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7" name="Image 1" descr="/tmp/claude-0/-home-user-claude/9cbe668c-2a39-5ca0-8ea8-cc6111a6ea41/scratchpad/build/assets/image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1764792"/>
            <a:ext cx="566928" cy="35188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52544" y="1801368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 단위 Agent (예시)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352544" y="2386584"/>
            <a:ext cx="3456432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고장탐구 AI 어시스턴트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전원 비인가 / 인가 검사 Agent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유사 고장사례 매칭 Agent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보고서 자동 생성 (FA Report · 품질검사 · MRB)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기술문서 검색 · 업무 Q&amp;A 챗봇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Agent Builder: 현업이 노코드로 Agent 제작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0924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HITL(사람 검증) 업무 흐름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092440" y="2148840"/>
            <a:ext cx="3639312" cy="530352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0" y="2148840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 접수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784080" y="2688336"/>
            <a:ext cx="228600" cy="164592"/>
          </a:xfrm>
          <a:prstGeom prst="downArrow">
            <a:avLst/>
          </a:prstGeom>
          <a:solidFill>
            <a:srgbClr val="8E99A5"/>
          </a:solidFill>
          <a:ln w="12700">
            <a:solidFill>
              <a:srgbClr val="8E99A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092440" y="2862072"/>
            <a:ext cx="3639312" cy="530352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138160" y="286207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분석: 추정 원인 · 의심 부품 · 확인 절차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9784080" y="3401568"/>
            <a:ext cx="228600" cy="164592"/>
          </a:xfrm>
          <a:prstGeom prst="downArrow">
            <a:avLst/>
          </a:prstGeom>
          <a:solidFill>
            <a:srgbClr val="8E99A5"/>
          </a:solidFill>
          <a:ln w="12700">
            <a:solidFill>
              <a:srgbClr val="8E99A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92440" y="3575304"/>
            <a:ext cx="3639312" cy="530352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138160" y="3575304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결과서 초안 자동 출력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9784080" y="4114800"/>
            <a:ext cx="228600" cy="164592"/>
          </a:xfrm>
          <a:prstGeom prst="downArrow">
            <a:avLst/>
          </a:prstGeom>
          <a:solidFill>
            <a:srgbClr val="8E99A5"/>
          </a:solidFill>
          <a:ln w="12700">
            <a:solidFill>
              <a:srgbClr val="8E99A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92440" y="4288536"/>
            <a:ext cx="3639312" cy="530352"/>
          </a:xfrm>
          <a:prstGeom prst="rect">
            <a:avLst/>
          </a:prstGeom>
          <a:solidFill>
            <a:srgbClr val="E9F2F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138160" y="4288536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엔지니어 검증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9784080" y="4828032"/>
            <a:ext cx="228600" cy="164592"/>
          </a:xfrm>
          <a:prstGeom prst="downArrow">
            <a:avLst/>
          </a:prstGeom>
          <a:solidFill>
            <a:srgbClr val="8E99A5"/>
          </a:solidFill>
          <a:ln w="12700">
            <a:solidFill>
              <a:srgbClr val="8E99A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092440" y="5001768"/>
            <a:ext cx="3639312" cy="530352"/>
          </a:xfrm>
          <a:prstGeom prst="rect">
            <a:avLst/>
          </a:prstGeom>
          <a:solidFill>
            <a:srgbClr val="E9F2F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138160" y="500176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최종 승인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AI는 초안과 근거를 만들고, 판단은 엔지니어가 확정합니다. 이것이 현장이 AI를 받아들이는 조건입니다.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신속상용화 발표평가(2026.05) 고장탐구 업무 자동화 파이프라인 · 코난테크놀로지 회사소개서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Ⅱ. 제조 AX 서비스의 구성요소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구성요소 ⑤ 운영 · 거버넌스와 인프라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구축보다 운영이 어렵습니다. 6개월 뒤에도 쓰이는 시스템을 만드는 장치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377440" cy="27432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2743200"/>
          </a:xfrm>
          <a:prstGeom prst="rect">
            <a:avLst/>
          </a:prstGeom>
          <a:solidFill>
            <a:srgbClr val="4D8E7A"/>
          </a:solidFill>
          <a:ln w="12700">
            <a:solidFill>
              <a:srgbClr val="4D8E7A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176479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LLMOps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276856"/>
            <a:ext cx="208483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모델 전 생애주기 관리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노코드로 모델 배포·교체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GPU·응답 성능 대시보드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추가학습·미세조정·평가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71800" y="1691640"/>
            <a:ext cx="2377440" cy="27432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71800" y="1691640"/>
            <a:ext cx="54864" cy="2743200"/>
          </a:xfrm>
          <a:prstGeom prst="rect">
            <a:avLst/>
          </a:prstGeom>
          <a:solidFill>
            <a:srgbClr val="4D8E7A"/>
          </a:solidFill>
          <a:ln w="12700">
            <a:solidFill>
              <a:srgbClr val="4D8E7A"/>
            </a:solidFill>
            <a:prstDash val="solid"/>
          </a:ln>
        </p:spPr>
      </p:sp>
      <p:pic>
        <p:nvPicPr>
          <p:cNvPr id="17" name="Image 1" descr="/tmp/claude-0/-home-user-claude/9cbe668c-2a39-5ca0-8ea8-cc6111a6ea41/scratchpad/build/assets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764792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154680" y="18013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RAGOps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154680" y="2276856"/>
            <a:ext cx="208483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검색 품질 관리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소스·저장소 설정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문서 수집·전처리·청킹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신규 문서 상시 반영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0" y="1691640"/>
            <a:ext cx="2377440" cy="27432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0" y="1691640"/>
            <a:ext cx="54864" cy="2743200"/>
          </a:xfrm>
          <a:prstGeom prst="rect">
            <a:avLst/>
          </a:prstGeom>
          <a:solidFill>
            <a:srgbClr val="4D8E7A"/>
          </a:solidFill>
          <a:ln w="12700">
            <a:solidFill>
              <a:srgbClr val="4D8E7A"/>
            </a:solidFill>
            <a:prstDash val="solid"/>
          </a:ln>
        </p:spPr>
      </p:sp>
      <p:pic>
        <p:nvPicPr>
          <p:cNvPr id="22" name="Image 2" descr="/tmp/claude-0/-home-user-claude/9cbe668c-2a39-5ca0-8ea8-cc6111a6ea41/scratchpad/build/assets/image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764792"/>
            <a:ext cx="457200" cy="28377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69280" y="18013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AgentOps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669280" y="2276856"/>
            <a:ext cx="208483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Agent 실행 관리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입력·추론·도구 호출·응답 전 과정 관측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성능·비용·위험도 평가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실패 감지 · 가드레일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092440" y="1691640"/>
            <a:ext cx="3639312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92440" y="1691640"/>
            <a:ext cx="54864" cy="39776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7" name="Image 3" descr="/tmp/claude-0/-home-user-claude/9cbe668c-2a39-5ca0-8ea8-cc6111a6ea41/scratchpad/build/assets/imag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1764792"/>
            <a:ext cx="566928" cy="56692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75320" y="1801368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인프라 구성 예시 (영풍전자 실증)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275320" y="2386584"/>
            <a:ext cx="3346704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주요 추론 서버 2대 (각 RTX 6000 Pro × 2)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RAG 서버 · OCR 서버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온톨로지(그래프DB) 서버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LLMOps / AgentOps 관리 서버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WEB/WAS · DB · 객체저장소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Kubernetes 기반 통합 운영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신규 HW·네트워크 11종 12식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57200" y="4572000"/>
            <a:ext cx="7452360" cy="109728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57200" y="4572000"/>
            <a:ext cx="54864" cy="109728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4681728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보안 원칙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40080" y="5047488"/>
            <a:ext cx="7159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온프레미스(사내 서버) 운영으로 도면·공정 데이터 외부 반출 없음 · 사용자별 권한 · 감사·승인 로그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견적을 받을 때 '구축비'만 보지 말고 '운영 체계(누가, 무엇으로 관리하나)'를 함께 확인하십시오.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신속상용화 발표평가(2026.05) HW 구성도 · 코난테크놀로지 AX 플랫폼 구축 사례(2026.08) LLM Studio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암묵지란 무엇인가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매뉴얼에 적힌 '무엇을'이 아니라, 명장 머릿속의 '왜 · 언제 · 얼마나'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840480" cy="23774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2377440"/>
          </a:xfrm>
          <a:prstGeom prst="rect">
            <a:avLst/>
          </a:prstGeom>
          <a:solidFill>
            <a:srgbClr val="8E99A5"/>
          </a:solidFill>
          <a:ln w="12700">
            <a:solidFill>
              <a:srgbClr val="8E99A5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176479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형식지 (Explicit)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354787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문서로 적혀 있는 지식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표준작업서 · 매뉴얼 · 도면 · 시방서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"이 순서대로 점검한다"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4206240"/>
            <a:ext cx="3840480" cy="14630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206240"/>
            <a:ext cx="54864" cy="14630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7" name="Image 1" descr="/tmp/claude-0/-home-user-claude/9cbe668c-2a39-5ca0-8ea8-cc6111a6ea41/scratchpad/build/asset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4279392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0080" y="4315968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암묵지 (Tacit)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0080" y="490118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경험 · 직관 · 판단 — 명장의 '감'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"이 소리가 나면 베어링부터 본다"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0" y="1691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현장의 말 → 회사의 언어로 (영풍전자 용어사전 예시)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572000" y="2148840"/>
            <a:ext cx="2377440" cy="457200"/>
          </a:xfrm>
          <a:prstGeom prst="rect">
            <a:avLst/>
          </a:prstGeom>
          <a:solidFill>
            <a:srgbClr val="E9F2F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177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"뜬 납"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086600" y="2249424"/>
            <a:ext cx="365760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589520" y="2148840"/>
            <a:ext cx="4142232" cy="4572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35240" y="214884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ColdSolder (냉납)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572000" y="2715768"/>
            <a:ext cx="2377440" cy="457200"/>
          </a:xfrm>
          <a:prstGeom prst="rect">
            <a:avLst/>
          </a:prstGeom>
          <a:solidFill>
            <a:srgbClr val="E9F2F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17720" y="2715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"터진 캡"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086600" y="2816352"/>
            <a:ext cx="365760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589520" y="2715768"/>
            <a:ext cx="4142232" cy="4572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35240" y="2715768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Capacitor : PhysicalDamage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4572000" y="3282696"/>
            <a:ext cx="2377440" cy="457200"/>
          </a:xfrm>
          <a:prstGeom prst="rect">
            <a:avLst/>
          </a:prstGeom>
          <a:solidFill>
            <a:srgbClr val="E9F2F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617720" y="32826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"먹통"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7086600" y="3383280"/>
            <a:ext cx="365760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589520" y="3282696"/>
            <a:ext cx="4142232" cy="4572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635240" y="3282696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FunctionalFailure (기능 불량)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4572000" y="3977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명장의 판단 → 재사용 가능한 규칙으로 (포항 철강 예시)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4572000" y="4434840"/>
            <a:ext cx="2148840" cy="118872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572000" y="4480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조건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663440" y="4800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고속 가공 + 가혹 전단 부하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739128" y="4892040"/>
            <a:ext cx="246888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004304" y="4434840"/>
            <a:ext cx="2148840" cy="118872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04304" y="4480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현상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7095744" y="4800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툴 온도 급상승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9171432" y="4892040"/>
            <a:ext cx="246888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436608" y="4434840"/>
            <a:ext cx="2148840" cy="118872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436608" y="4480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결과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9528048" y="4800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내부 미세 균열 위험 증가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암묵지 자산화 = 명장의 판단을 '조건 → 현상 → 결과'와 '근거'의 구조로 꺼내 기록하는 일입니다.</a:t>
            </a:r>
            <a:endParaRPr lang="en-US" sz="1300" dirty="0"/>
          </a:p>
        </p:txBody>
      </p:sp>
      <p:sp>
        <p:nvSpPr>
          <p:cNvPr id="50" name="Text 46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신속상용화 발표평가(2026.05) PBA 전문 용어사전 · 포항 AX실증산단 착수회의(2026.10) 판단 체계 정형화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암묵지는 어디에 있나: 새로 만들기보다 '이미 있는데 연결 안 된 것'부터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네 곳에서 꺼냅니다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697480" cy="29718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297180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176479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① 사람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2404872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명장 인터뷰 · 음성 · 판단 의견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작업자–AI 대화 기록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검수 과정의 수정 의견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2697480" cy="86868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4754880"/>
            <a:ext cx="2478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인터뷰 대상자와 일정을 먼저 확보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10128" y="1691640"/>
            <a:ext cx="2697480" cy="29718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10128" y="1691640"/>
            <a:ext cx="54864" cy="297180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9" name="Image 1" descr="/tmp/claude-0/-home-user-claude/9cbe668c-2a39-5ca0-8ea8-cc6111a6ea41/scratchpad/build/assets/image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1764792"/>
            <a:ext cx="566928" cy="56692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93008" y="1801368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② 기록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493008" y="2386584"/>
            <a:ext cx="2404872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작업일지 · 트러블 메모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고장탐구 이력 · 시정조치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알람 이력 · 클레임 대응 기록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310128" y="4754880"/>
            <a:ext cx="2697480" cy="86868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19856" y="4754880"/>
            <a:ext cx="2478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형식이 제각각 → 용어 표준화 필요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163056" y="1691640"/>
            <a:ext cx="2697480" cy="29718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63056" y="1691640"/>
            <a:ext cx="54864" cy="297180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26" name="Image 2" descr="/tmp/claude-0/-home-user-claude/9cbe668c-2a39-5ca0-8ea8-cc6111a6ea41/scratchpad/build/assets/imag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764792"/>
            <a:ext cx="566928" cy="56692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45936" y="1801368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③ 시스템 데이터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345936" y="2386584"/>
            <a:ext cx="2404872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DCS·MES 운전 시계열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품질검사 데이터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DB 스키마와 컬럼 설명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163056" y="4754880"/>
            <a:ext cx="2697480" cy="86868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72784" y="4754880"/>
            <a:ext cx="2478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테이블 사이의 '관계'는 담당자 머릿속에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015984" y="1691640"/>
            <a:ext cx="2697480" cy="29718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015984" y="1691640"/>
            <a:ext cx="54864" cy="297180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33" name="Image 3" descr="/tmp/claude-0/-home-user-claude/9cbe668c-2a39-5ca0-8ea8-cc6111a6ea41/scratchpad/build/assets/image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808" y="1764792"/>
            <a:ext cx="566928" cy="56692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198864" y="1801368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④ 영상 · 문서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9198864" y="2386584"/>
            <a:ext cx="2404872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작업 영상 · 사진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회로도 · 도면 · 데이터시트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시험절차서 · 매뉴얼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9015984" y="4754880"/>
            <a:ext cx="2697480" cy="86868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125712" y="4754880"/>
            <a:ext cx="2478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OCR · Vision으로 디지털화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영풍전자는 BOM 23,598개, 승인도면 27,795건이 이미 전산에 있었습니다. 출발점은 '보유 데이터 목록'입니다.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신속상용화 발표평가(2026.05) AI 도입 환경 · 포항 AX실증산단 착수회의(2026.10) 6대 조업 데이터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암묵지 정형화 3단계 프로세스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수집 → 정형화 → 추론 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52044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55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①</a:t>
            </a:r>
            <a:endParaRPr lang="en-US" sz="2600" dirty="0"/>
          </a:p>
        </p:txBody>
      </p:sp>
      <p:pic>
        <p:nvPicPr>
          <p:cNvPr id="12" name="Image 0" descr="/tmp/claude-0/-home-user-claude/9cbe668c-2a39-5ca0-8ea8-cc6111a6ea41/scratchpad/build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783080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멀티모달 수집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4008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숙련공 작업 로그 · 음성 · 영상 · 센서 데이터를 함께 수집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995928" y="2359152"/>
            <a:ext cx="274320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1691640"/>
            <a:ext cx="352044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4840" y="1755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②</a:t>
            </a:r>
            <a:endParaRPr lang="en-US" sz="2600" dirty="0"/>
          </a:p>
        </p:txBody>
      </p:sp>
      <p:pic>
        <p:nvPicPr>
          <p:cNvPr id="18" name="Image 1" descr="/tmp/claude-0/-home-user-claude/9cbe668c-2a39-5ca0-8ea8-cc6111a6ea41/scratchpad/build/assets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78308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8348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온톨로지 · 지식그래프 정형화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48056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조업 의사결정을 개체 · 관계 · 규칙으로 구조화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836408" y="2359152"/>
            <a:ext cx="274320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138160" y="1691640"/>
            <a:ext cx="352044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75320" y="1755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③</a:t>
            </a:r>
            <a:endParaRPr lang="en-US" sz="2600" dirty="0"/>
          </a:p>
        </p:txBody>
      </p:sp>
      <p:pic>
        <p:nvPicPr>
          <p:cNvPr id="24" name="Image 2" descr="/tmp/claude-0/-home-user-claude/9cbe668c-2a39-5ca0-8ea8-cc6111a6ea41/scratchpad/build/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78308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2396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추론형 마스터 AI Agent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832104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그래프를 따라 원인을 추론하고 근거와 함께 설명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57200" y="34747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세부 파이프라인 (LLM 자동 추출 + 전문가 검수)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457200" y="3913632"/>
            <a:ext cx="1645920" cy="9144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자료 수집 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전처리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2121408" y="4233672"/>
            <a:ext cx="237744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377440" y="3913632"/>
            <a:ext cx="1645920" cy="9144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42316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도메인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용어사전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4041648" y="4233672"/>
            <a:ext cx="237744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297680" y="3913632"/>
            <a:ext cx="1645920" cy="9144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34340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의미 추출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개체→관계→규칙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5961888" y="4233672"/>
            <a:ext cx="237744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217920" y="3913632"/>
            <a:ext cx="1645920" cy="9144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26364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그래프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구조화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7882128" y="4233672"/>
            <a:ext cx="237744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138160" y="3913632"/>
            <a:ext cx="1645920" cy="914400"/>
          </a:xfrm>
          <a:prstGeom prst="rect">
            <a:avLst/>
          </a:prstGeom>
          <a:solidFill>
            <a:srgbClr val="E9F2F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18388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전문가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검수·승인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9802368" y="4233672"/>
            <a:ext cx="237744" cy="256032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0058400" y="3913632"/>
            <a:ext cx="1645920" cy="9144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10104120" y="391363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서비스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적용</a:t>
            </a:r>
            <a:endParaRPr lang="en-US" sz="1150" dirty="0"/>
          </a:p>
        </p:txBody>
      </p:sp>
      <p:sp>
        <p:nvSpPr>
          <p:cNvPr id="45" name="Text 40"/>
          <p:cNvSpPr/>
          <p:nvPr/>
        </p:nvSpPr>
        <p:spPr>
          <a:xfrm>
            <a:off x="4297680" y="4919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← 신규 용어 · 검수 결과 환류 (지식이 계속 쌓이는 구조)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목표: 새로 참여하는 기업은 소량의 현장 데이터만으로 숙련공 수준의 판단 지원을 받을 수 있게 함 (포항 실증 목표)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사람이 처음부터 온톨로지를 손으로 짜지 않습니다. LLM이 초안을 뽑고, 명장은 검수에 집중합니다.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포항 AX실증산단 사례(2026.08) 3단계 암묵지 정형화 프로세스 · RIST 의미추출 모듈 Kick-off(2026.08)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온톨로지 설계: 고장탐구 노하우를 '인과 경로'로 (영풍전자 PBA)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 엔지니어의 머릿속 탐구 순서를 그래프로 옮깁니다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7FAFD"/>
          </a:solidFill>
          <a:ln w="19050">
            <a:solidFill>
              <a:srgbClr val="3C67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 현상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Symptom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04872" y="2176272"/>
            <a:ext cx="329184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70632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7FAFD"/>
          </a:solidFill>
          <a:ln w="19050">
            <a:solidFill>
              <a:srgbClr val="3C67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회로 영역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70632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CircuitBlock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18304" y="2176272"/>
            <a:ext cx="329184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4064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7FAFD"/>
          </a:solidFill>
          <a:ln w="19050">
            <a:solidFill>
              <a:srgbClr val="3C67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의심 부품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84064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Component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31736" y="2176272"/>
            <a:ext cx="329184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7496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7FAFD"/>
          </a:solidFill>
          <a:ln w="19050">
            <a:solidFill>
              <a:srgbClr val="3C67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7496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측정 포인트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97496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MeasurementPoint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45168" y="2176272"/>
            <a:ext cx="329184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10928" y="17830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9F2FB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10928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시정 조치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10928" y="2331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CorrectiveAction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063240"/>
            <a:ext cx="3657600" cy="26060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063240"/>
            <a:ext cx="54864" cy="26060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31" name="Image 0" descr="/tmp/claude-0/-home-user-claude/9cbe668c-2a39-5ca0-8ea8-cc6111a6ea41/scratchpad/build/asset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8144" y="3136392"/>
            <a:ext cx="566928" cy="5669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40080" y="31729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그래프 구성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40080" y="3758184"/>
            <a:ext cx="3364992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노드 9종: 플랫폼 · 조립체 · PBA · 부품 · 회로블록 · 증상 · 고장모드 · 조치 · 측정포인트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관계 10종: 증상을 보임 · 유발 · 해결됨 · 측정 필요 · 의심(추론) 등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261104" y="3063240"/>
            <a:ext cx="3657600" cy="26060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61104" y="3063240"/>
            <a:ext cx="54864" cy="26060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36" name="Image 1" descr="/tmp/claude-0/-home-user-claude/9cbe668c-2a39-5ca0-8ea8-cc6111a6ea41/scratchpad/build/assets/image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3136392"/>
            <a:ext cx="566928" cy="42634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4443984" y="31729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관계에 '경험'을 담는 법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4443984" y="3758184"/>
            <a:ext cx="3364992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해결 관계에 과거 성공률 (예: 0.95)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평균 수리시간 (예: 30분)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최근 발생일 · 신뢰도 (예: 0.8)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"이 조치가 과거 95% 성공"을 근거로 제시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8065008" y="3063240"/>
            <a:ext cx="3657600" cy="26060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065008" y="3063240"/>
            <a:ext cx="54864" cy="26060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41" name="Image 2" descr="/tmp/claude-0/-home-user-claude/9cbe668c-2a39-5ca0-8ea8-cc6111a6ea41/scratchpad/build/assets/image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3136392"/>
            <a:ext cx="566928" cy="56692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247888" y="31729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활용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8247888" y="3758184"/>
            <a:ext cx="3364992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시나리오별 인과 경로 추적 → 의심부품과 조치 제안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과거 효과적이었던 조치 식별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복합 이상 진단: 증상과 회로영역 연결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숙련자의 '탐구 순서'와 '과거 성공 경험'이 그래프의 길과 숫자가 됩니다.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신속상용화 발표평가(2026.05) 고장탐구 인과관계 지식그래프(Neo4j) — 수치는 설계 예시값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문장 한 줄에서 지식을 꺼내는 과정 (철강 연주 공정 예시)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LLM이 단계별로 개체 → 관계 → 규칙 → 근거를 추출합니다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274552" cy="777240"/>
          </a:xfrm>
          <a:prstGeom prst="rect">
            <a:avLst/>
          </a:prstGeom>
          <a:solidFill>
            <a:srgbClr val="E9F2F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91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원문: "래들 잔여 용강이 200톤을 넘은 상태로 교환하면 필터가 턴디시로 배출되어 표면 결함을 야기할 수 있음"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697480" cy="23317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54864" cy="233172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61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P1 개체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72968"/>
            <a:ext cx="24048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래들 잔여 용강량 (변수)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래들 교환 (이벤트)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필터 배출 (결함 원인)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63824" y="3657600"/>
            <a:ext cx="137160" cy="22860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2651760"/>
            <a:ext cx="2697480" cy="23317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2651760"/>
            <a:ext cx="54864" cy="233172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761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P2 관계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93008" y="3172968"/>
            <a:ext cx="24048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잔여 용강량 —[원인]→ 필터 배출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조건: 200톤 초과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인과·영향·포함 등 6유형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16752" y="3657600"/>
            <a:ext cx="137160" cy="22860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2651760"/>
            <a:ext cx="2697480" cy="23317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2651760"/>
            <a:ext cx="54864" cy="233172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2761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P3 규칙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45936" y="3172968"/>
            <a:ext cx="24048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'잔여 용강 과다' 인과 규칙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우선순위: 높음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원문 문장과 연결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69680" y="3657600"/>
            <a:ext cx="137160" cy="22860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15984" y="2651760"/>
            <a:ext cx="2697480" cy="23317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15984" y="2651760"/>
            <a:ext cx="54864" cy="2331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98864" y="2761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P5 통합 · 근거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98864" y="3172968"/>
            <a:ext cx="24048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동의어를 대표어로 병합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충돌 시 '검수 필요' 표시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모든 노드·관계에 근거 ID 필수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P4(질문 의도·필요 정보 항목)는 질의 응답 단계에서 사용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5376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근거 연결 예: 출처 파일 · 문서 조각 번호 · 근거 문장을 별도 노드로 저장 → 답변마다 원문 추적 가능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AI가 만든 지식이라도 '어느 문서, 어느 문장에서 왔는지'가 항상 붙어 있어야 합니다.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RIST 작업자-LLM 대화 기반 온톨로지 자동 구현 — 의미추출 및 그래프 구조화 모듈 Kick-off(2026.08)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현장 언어를 AI 언어로: 제조 용어사전과 검색 확장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용어 정리는 지루하지만 정확도를 가장 크게 올리는 작업입니다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39776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8144" y="176479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한/영/약어 3중 용어사전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3364992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유형 용어 50종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부품 유형 용어 80종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계측기·측정 용어 40종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 단계 용어 30종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군 규격 약어 200종 이상 (MIL-STD 등)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(영풍전자 방산 PBA 설계안)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61104" y="1691640"/>
            <a:ext cx="365760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61104" y="1691640"/>
            <a:ext cx="54864" cy="39776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7" name="Image 1" descr="/tmp/claude-0/-home-user-claude/9cbe668c-2a39-5ca0-8ea8-cc6111a6ea41/scratchpad/build/assets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1764792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43984" y="18013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동의어 · 상위어 검색 확장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443984" y="2386584"/>
            <a:ext cx="3364992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사용자 입력: '냉납'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ColdSolder · 솔더크랙 · 접촉불량 · Cold Joint 함께 검색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사용자 입력: '부품 불량'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오삽 · 미삽 · 극성 오류 등 하위 유형 전체 검색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65008" y="1691640"/>
            <a:ext cx="365760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65008" y="1691640"/>
            <a:ext cx="54864" cy="39776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22" name="Image 2" descr="/tmp/claude-0/-home-user-claude/9cbe668c-2a39-5ca0-8ea8-cc6111a6ea41/scratchpad/build/assets/image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1764792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47888" y="18013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철강 연주 도메인 예시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47888" y="2386584"/>
            <a:ext cx="3364992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침지노즐 = SEN = 노즐 = submerged entry nozzle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몰드탕면레벨 = MdLv = 탕면 레벨 = mold level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전문용어가 쪼개지지 않도록 사용자 사전 등록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LLM 추출 → 전문가 검수 → 반영 → 신규 용어 환류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용어사전은 한 번 만들고 끝이 아니라 계속 자라는 회사의 '제조 국어사전'입니다.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신속상용화 발표평가(2026.05) PBA 전문 용어사전 · RIST 의미추출 모듈 Kick-off(2026.08) 도메인 사전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제조 암묵지: 개념과 구현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신뢰의 장치: 근거 · 검수 · 모르면 묻는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현장이 AI를 믿게 만드는 세 가지 설계 원칙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0" cy="32918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32918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8144" y="176479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근거 제시 (Evidence-first)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336499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모든 지식·답변에 출처 문서·문장·버전 연결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지식그래프 경로와 유사 사례를 화면에 함께 표시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61104" y="1691640"/>
            <a:ext cx="3657600" cy="32918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61104" y="1691640"/>
            <a:ext cx="54864" cy="32918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7" name="Image 1" descr="/tmp/claude-0/-home-user-claude/9cbe668c-2a39-5ca0-8ea8-cc6111a6ea41/scratchpad/build/asset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1764792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43984" y="18013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사람 검수 (HITL)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443984" y="2386584"/>
            <a:ext cx="336499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신뢰도가 낮거나 충돌하는 지식은 '검수 필요'로 분류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검수 정합률 목표 80% 이상 (RIST 과제 기준)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검수 확정본만 그래프DB에 적재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065008" y="1691640"/>
            <a:ext cx="3657600" cy="32918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65008" y="1691640"/>
            <a:ext cx="54864" cy="32918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2" name="Image 2" descr="/tmp/claude-0/-home-user-claude/9cbe668c-2a39-5ca0-8ea8-cc6111a6ea41/scratchpad/build/assets/imag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1764792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47888" y="18013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능동 질의 (모르면 묻기)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47888" y="2386584"/>
            <a:ext cx="336499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답에 필요한 정보가 없으면 빈칸으로 표시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AI가 먼저 질문: "압연기 출측온도의 정상범위 기준을 알려주세요"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답이 들어오면 빈칸을 지식으로 채움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"모르는 것을 모른다고 말하는 AI"가 현장에서 신뢰받습니다. 그럴듯한 오답이 가장 위험합니다.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도입의 최대 리스크는 정확도 부족이 아니라 '근거 없는 확신'입니다.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RIST 의미추출 모듈 Kick-off(2026.08) 자동 슬롯 채움·능동 질의 · 영풍전자 발표평가(2026.05)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Ⅳ. 구축 사례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세 가지 사례 한눈에 보기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업종도, 암묵지의 형태도 다르지만 같은 구조로 풀었습니다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200400"/>
                <a:gridCol w="331927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구분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서연이화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영풍전자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포항 AX실증산단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업종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자동차부품 제조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방산 전자회로기판(PBA)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철강 (가공·조업)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사업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서연이화 AX 구축사업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AI 응용제품 신속 상용화 지원사업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경북포항 스마트그린 AX실증산단 구축사업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기간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2026.06 ~ 12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2026.07 ~ 2027.06 (12개월)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2026 ~ 2029 (4년)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암묵지 대상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DB 속 '관계' 지식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(테이블·필드 간 의미)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고장탐구 숙련자 노하우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명장의 조업·정비 판단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핵심 방법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AI 관계 추정 + HITL 검수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→ 온톨로지 자산화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AAS 표준 + 온톨로지 +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Graph-RAG + 업무 Agent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AAS 표준 + 통합 온톨로지 +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추론·설명 Agent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현재 단계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PoC 결과 확보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구축 진행 중 (목표치 제시)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착수 (목표치 제시)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영풍전자·포항은 진행 중인 사업으로, 수치는 '달성 실적'이 아닌 '목표치'입니다.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각 사업 발표·착수 자료 (2026.05~10)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Ⅳ. 구축 사례  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서연이화 (자동차부품): DB 스키마 속 '관계 지식'의 자산화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ERP·MES는 있는데, 테이블끼리 어떻게 이어지는지는 담당자만 안다면?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93776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1600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76479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문제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46451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금형 등 기준정보 DB는 있으나 테이블·필드 간 관계와 의미는 정의서 밖, 담당자 경험에 의존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담당자 이동·퇴직 시 데이터 활용 단절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접근 방법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1097280" cy="105156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7947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DB 스키마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컬럼 설명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709928" y="3794760"/>
            <a:ext cx="1097280" cy="105156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55648" y="37947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관계 추정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(근거·득표)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962656" y="3794760"/>
            <a:ext cx="1097280" cy="1051560"/>
          </a:xfrm>
          <a:prstGeom prst="rect">
            <a:avLst/>
          </a:prstGeom>
          <a:solidFill>
            <a:srgbClr val="E9F2F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08376" y="37947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전문가 검수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(HITL)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15384" y="3794760"/>
            <a:ext cx="1097280" cy="105156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61104" y="37947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YAML/OWL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확정·그래프 적재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 대상: 금형마스터 7개 테이블 · 308개 필드 · FK 관계 16건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 결과 (실측)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0" y="2103120"/>
            <a:ext cx="1901952" cy="155448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217627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F1 67~72%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760720" y="295808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숨긴 관계 블라인드 복원 정확도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699248" y="2103120"/>
            <a:ext cx="1901952" cy="155448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99248" y="217627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12 / 16건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790688" y="295808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전면 은닉한 관계 중 복원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729216" y="2103120"/>
            <a:ext cx="1901952" cy="155448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29216" y="217627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9건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9820656" y="295808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정의서에 없던 관계 신규 발굴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(근거와 함께 추천)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669280" y="3794760"/>
            <a:ext cx="1901952" cy="155448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69280" y="386791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8E7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0건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5760720" y="464972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허위 관계 (잘못된 관계 확정)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699248" y="3794760"/>
            <a:ext cx="1901952" cy="155448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99248" y="386791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10 / 10회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7790688" y="464972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가짜 테이블 노이즈 방어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729216" y="3794760"/>
            <a:ext cx="1901952" cy="155448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729216" y="3867912"/>
            <a:ext cx="1901952" cy="808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HITL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9820656" y="4649724"/>
            <a:ext cx="1719072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추정 → 검수 → 자산화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AI의 역할은 정답 확정이 아니라 '검토할 가치가 있는 후보'를 근거와 함께 올리는 것입니다.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코난테크놀로지 AX 플랫폼 구축 사례(2026.08) · RIST 의미추출 모듈 Kick-off(2026.08) 온톨로지 레퍼런스②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Ⅳ. 구축 사례  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 (방산 PBA): 고장탐구 AI 어시스턴트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다품종·소량, 고신뢰성 회로기판의 고장탐구 전 과정을 AI + 엔지니어 협업으로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0" cy="20574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205740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8144" y="176479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사업 개요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3364992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과제: AI 기반 제조 지식 자산화 및 전자회로기판 제조 공정 관리 자동화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총 28.6억 원 (정부 20억 · 기업 8.6억)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12개월 · 참여 43명 · 5개 기관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858768"/>
            <a:ext cx="3657600" cy="1810512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858768"/>
            <a:ext cx="54864" cy="1810512"/>
          </a:xfrm>
          <a:prstGeom prst="rect">
            <a:avLst/>
          </a:prstGeom>
          <a:solidFill>
            <a:srgbClr val="4D8E7A"/>
          </a:solidFill>
          <a:ln w="12700">
            <a:solidFill>
              <a:srgbClr val="4D8E7A"/>
            </a:solidFill>
            <a:prstDash val="solid"/>
          </a:ln>
        </p:spPr>
      </p:sp>
      <p:pic>
        <p:nvPicPr>
          <p:cNvPr id="17" name="Image 1" descr="/tmp/claude-0/-home-user-claude/9cbe668c-2a39-5ca0-8ea8-cc6111a6ea41/scratchpad/build/assets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3931920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0080" y="3968496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이미 갖춘 IT 자산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0080" y="4553712"/>
            <a:ext cx="336499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SAP ERP · e-SCM · e-SFC(MES) · 도면관리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BOM 조립체 23,598 · 품목 85,789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승인도면 27,795 · 개발도면 11,353건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261104" y="1691640"/>
            <a:ext cx="361188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261104" y="1691640"/>
            <a:ext cx="54864" cy="39776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2" name="Image 2" descr="/tmp/claude-0/-home-user-claude/9cbe668c-2a39-5ca0-8ea8-cc6111a6ea41/scratchpad/build/assets/image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764792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43984" y="1801368"/>
            <a:ext cx="27706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AS-IS: 전 과정 수작업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443984" y="2386584"/>
            <a:ext cx="3319272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육안검사 → 전원 인가 → 회로도 분석 → 계측기 진단 → 부품 교환 → 보고서 수기 작성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개인 재량·숙련도에 따라 수리시간 편차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측정값 수기 비교로 판독 오류, SW 버전 체크 누락 위험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2025년 수리 공수 700MD · 7명 투입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수리 불가 폐기 77개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019288" y="1691640"/>
            <a:ext cx="3712464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19288" y="1691640"/>
            <a:ext cx="54864" cy="39776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27" name="Image 3" descr="/tmp/claude-0/-home-user-claude/9cbe668c-2a39-5ca0-8ea8-cc6111a6ea41/scratchpad/build/assets/image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1764792"/>
            <a:ext cx="566928" cy="56692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02168" y="1801368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TO-BE: AI + 엔지니어 협업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202168" y="2386584"/>
            <a:ext cx="3419856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 현상 입력 → 추정 원인 · 의심 부품 · 확인 절차 · 시정조치 단계별 제안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전원 비인가/인가 검사 Agent: 기준값 자동 제시, SW 불일치 자동 감지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유사 고장사례 자동 매칭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FA Report · 품질검사 · MRB 보고서 초안 자동 생성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엔지니어 검증 · 승인 (HITL)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2019년 ERP·MES, 2024년 APS 등 스마트공장 투자가 쌓여 있었기에 AX로 바로 갈 수 있었습니다.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「AI 응용제품 신속 상용화 지원사업」 발표평가(2026.05.19)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Ⅳ. 구축 사례  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영풍전자: 목표 성과지표와 단계적 확산 계획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목표치는 현재 수준(기준선)이 측정되어 있기에 세울 수 있었습니다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목표 KPI (사업 종료 시점 목표)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2377440" cy="12801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50%↓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276148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 원인 분석 시간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2057400"/>
            <a:ext cx="2377440" cy="12801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13055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70%↓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063240" y="276148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보고서 작성 시간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057400"/>
            <a:ext cx="2377440" cy="12801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13055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80%↓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77840" y="276148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기술문서 검색 시간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2377440" cy="12801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4787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85%↑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" y="417880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유사 고장사례 매칭 정확도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71800" y="3474720"/>
            <a:ext cx="2377440" cy="12801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354787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90%↑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063240" y="417880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표준 코드 적용률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3474720"/>
            <a:ext cx="2377440" cy="12801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3547872"/>
            <a:ext cx="2377440" cy="66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95%↑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577840" y="4178808"/>
            <a:ext cx="219456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정합성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9244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단계적 확산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092440" y="2057400"/>
            <a:ext cx="3639312" cy="8229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1단계 · 사업 기간 내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29600" y="2423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창원 본사 PBA 제조·검사 공정 시범 운영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2440" y="3017520"/>
            <a:ext cx="3639312" cy="8229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063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2단계 · 종료 후 1년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9600" y="3383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대전·성남 사업장 확대, MES·ERP 통합 연동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92440" y="3977640"/>
            <a:ext cx="3639312" cy="8229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3단계 · 종료 후 2~3년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0" y="4343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국내 방산전자 동종업계 B2B 패키지 공급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983480"/>
            <a:ext cx="11274552" cy="73152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983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확산 조건: </a:t>
            </a:r>
            <a:pPr indent="0" marL="0">
              <a:buNone/>
            </a:pPr>
            <a:r>
              <a:rPr lang="en-US" sz="125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내부 KPI 달성 → 투자심의 → 확산 예산 확보.  KPI가 다음 투자의 근거가 되는 구조입니다.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"작게 실증하고, 숫자로 증명하고, 그 숫자로 다음 투자를 결정한다."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「AI 응용제품 신속 상용화 지원사업」 발표평가(2026.05.19) — 모든 수치는 목표치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Ⅳ. 구축 사례  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포항 AX실증산단 (철강): 숙련공(명장) 조업 암묵지 자산화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산단 단위로 만들고, 검증된 Agent를 '카세트 모듈'로 여러 기업에 확산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749040" cy="228600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228600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2" name="Image 0" descr="/tmp/claude-0/-home-user-claude/9cbe668c-2a39-5ca0-8ea8-cc6111a6ea41/scratchpad/build/assets/imag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9584" y="1764792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01368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사업 개요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345643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경북포항 스마트그린 AX실증산단 구축사업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RIST(총괄) · 동국제강 · 제일테크노스 · 코난테크놀로지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4년 (2026~2029) · 업체별 실증 공정 1건부터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4096512"/>
            <a:ext cx="3749040" cy="1572768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096512"/>
            <a:ext cx="54864" cy="1572768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pic>
        <p:nvPicPr>
          <p:cNvPr id="17" name="Image 1" descr="/tmp/claude-0/-home-user-claude/9cbe668c-2a39-5ca0-8ea8-cc6111a6ea41/scratchpad/build/asse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4169664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0080" y="420624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모델 4종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0080" y="4791456"/>
            <a:ext cx="3456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Vision·VLM 분석 · 공정-설비 통합 추론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명장 판단 근거 설명 · 유사 사례 검색·설명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4348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현재 수준(Lv.2) → 목표 수준(Lv.4)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4434840" y="2103120"/>
            <a:ext cx="7296912" cy="658368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0" y="210312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암묵지 디지털 자산화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7589520" y="210312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0%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052560" y="2295144"/>
            <a:ext cx="457200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601200" y="2103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70% 이상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4434840" y="2880360"/>
            <a:ext cx="7296912" cy="658368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72000" y="28803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신규 인력 숙련 도달 기간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7589520" y="28803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5년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052560" y="3072384"/>
            <a:ext cx="457200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601200" y="28803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1년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4434840" y="3657600"/>
            <a:ext cx="7296912" cy="658368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72000" y="36576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조업 판단 표준편차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7589520" y="36576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±30%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9052560" y="3849624"/>
            <a:ext cx="457200" cy="274320"/>
          </a:xfrm>
          <a:prstGeom prst="rightArrow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601200" y="365760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±10% 이내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443484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연차별 계획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4434840" y="4846320"/>
            <a:ext cx="1719072" cy="822960"/>
          </a:xfrm>
          <a:prstGeom prst="rect">
            <a:avLst/>
          </a:prstGeom>
          <a:solidFill>
            <a:srgbClr val="E9F2FB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480560" y="4846320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2026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표준·데이터 체계 설계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263640" y="4846320"/>
            <a:ext cx="1719072" cy="82296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309360" y="4846320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2027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지식그래프 · 핵심 AI PoC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8092440" y="4846320"/>
            <a:ext cx="1719072" cy="82296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138160" y="4846320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2028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통합추론 · 카세트형 SaaS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9921240" y="4846320"/>
            <a:ext cx="1719072" cy="82296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966960" y="4846320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2029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현장 검증 · 전국 산단 전파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개별 기업이 혼자 하기 어려운 표준·온톨로지를 산단이 함께 만들고, 중소 협력사는 모듈을 가져다 씁니다.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코난테크놀로지 회사소개서(2026.08) M.AX Core · 포항 AX실증산단 착수회의(2026.10) — 수치는 목표치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Ⅳ. 구축 사례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세 사례가 주는 5가지 교훈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업종과 규모가 달라도 성공 조건은 같았습니다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778240" cy="694944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91640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1691640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작게 시작한다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1691640"/>
            <a:ext cx="4663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포항: 업체별 공정 1건 · 서연이화: 금형마스터 7개 테이블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96312"/>
            <a:ext cx="8778240" cy="694944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96312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2496312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있는 데이터부터 연결한다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2496312"/>
            <a:ext cx="4663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영풍전자: 기존 ERP·MES·도면 시스템 활용, 신규 수집은 그 다음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8778240" cy="694944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00984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80160" y="3300984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기준선을 먼저 잰다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80560" y="3300984"/>
            <a:ext cx="4663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조치시간·분석시간·공수의 현재값이 없으면 성과를 증명할 수 없음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05656"/>
            <a:ext cx="8778240" cy="694944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05656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80160" y="4105656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AI는 초안, 확정은 사람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0560" y="4105656"/>
            <a:ext cx="4663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허위 관계 0건 · 엔지니어 검증·승인 단계 유지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910328"/>
            <a:ext cx="8778240" cy="694944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910328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80160" y="4910328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처음부터 확산 구조로 설계한다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80560" y="4910328"/>
            <a:ext cx="4663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카세트 모듈 · 사업장 → 동종업계 단계적 확산</a:t>
            </a:r>
            <a:endParaRPr lang="en-US" sz="1200" dirty="0"/>
          </a:p>
        </p:txBody>
      </p:sp>
      <p:pic>
        <p:nvPicPr>
          <p:cNvPr id="30" name="Image 0" descr="/tmp/claude-0/-home-user-claude/9cbe668c-2a39-5ca0-8ea8-cc6111a6ea41/scratchpad/build/assets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377440"/>
            <a:ext cx="2286000" cy="171911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그렇다면 우리 회사는 '어떤 업무 1건'으로 시작해야 할까요? → Ⅴ. 우선순위 결정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서연이화 · 영풍전자 · 포항 AX실증산단 사업 자료 종합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우선순위의 원칙: 가치(Value) × 실행 가능성(Feasibility)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"가장 중요한 업무"가 아니라 "가치가 크고 지금 해낼 수 있는 업무"부터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3017520" cy="18745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전략 과제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가치 高 · 실행 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697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정비·표준화를 먼저 하고 추진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31920" y="1783080"/>
            <a:ext cx="3017520" cy="1874520"/>
          </a:xfrm>
          <a:prstGeom prst="rect">
            <a:avLst/>
          </a:prstGeom>
          <a:solidFill>
            <a:srgbClr val="E9F2F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1순위: Quick Win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2350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가치 高 · 실행 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9080" y="2697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 대상 — 공정·업무 1건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749040"/>
            <a:ext cx="3017520" cy="18745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886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가치 低 · 실행 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663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 단계에서 제외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31920" y="3749040"/>
            <a:ext cx="3017520" cy="18745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3886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개선 과제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6908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가치 低 · 실행 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69080" y="4663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LLM 사무자동화 등 범용 도구로 빠르게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82880" y="182880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가치 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5669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실행 가능성 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1783080"/>
            <a:ext cx="4416552" cy="384048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1783080"/>
            <a:ext cx="54864" cy="3840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89280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포항 실증 대상 선정 5대 기준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0" y="2304288"/>
            <a:ext cx="412394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가치 측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숙련공 의존도: 사람마다 판단 편차가 큰 공정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확산성: 같은 공정을 가진 기업이 많음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실행 측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인터뷰 인력: 참여 가능한 숙련공 보유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연계: 기존 예지보전·품질검사 데이터와 연결  ★최우선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성과 측정: 조치시간 등 현재 수준 측정 가능  ★최우선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연계와 성과 측정이 안 되는 과제는, 아무리 중요해도 첫 과제로 고르지 않습니다.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포항 AX실증산단 착수회의(2026.10) 실증 대상 선정 기준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정량 스코어카드: 후보 업무를 8개 지표로 점수화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각 지표를 1~5점으로 매기고 가중치를 곱해 가치 50점 + 실행 가능성 50점으로 환산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3383280"/>
                <a:gridCol w="1234440"/>
                <a:gridCol w="1234440"/>
                <a:gridCol w="1463040"/>
                <a:gridCol w="139903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축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지표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측정 방법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1점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3점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5점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가중치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가치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V1 업무 부하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해당 업무 연간 투입 공수(MD)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50MD 미만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약 200MD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500MD 이상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15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가치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V2 숙련 의존도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담당자 간 처리시간·판단 편차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10% 미만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약 20%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30% 이상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15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가치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V3 품질·손실 비용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불량·폐기·재작업·클레임 연간 비용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미미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중간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매출 영향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10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가치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V4 인력 리스크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5년 내 은퇴·이직 예상 핵심인력 비율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없음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일부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핵심 대부분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10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실행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F1 데이터 연계성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관련 데이터 전산화 수준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종이·구두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파일 산재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ERP·MES 축적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15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실행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F2 성과 측정성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현재 기준선(시간·건수) 측정 가능 여부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불가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추정 가능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이미 측정 중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15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실행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F3 전문가 참여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인터뷰·검수 가능한 숙련자 확보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불가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제한적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전담 가능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10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실행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F4 확산성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같은 업무를 가진 사업장·협력사 수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단독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2~3곳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다수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10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산식  </a:t>
            </a:r>
            <a:pPr indent="0" marL="0">
              <a:buNone/>
            </a:pPr>
            <a:r>
              <a:rPr lang="en-US" sz="115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가치 점수 = Σ(V 가중치 × 점수) ÷ 5   |   실행 점수 = Σ(F 가중치 × 점수) ÷ 5   |   각 축 30점 이상이면 '높음'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지표 구간·가중치·기준점(30점)은 코난테크놀로지 제안값입니다. 업종·규모에 맞게 조정해 쓰십시오.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포항 AX실증산단 선정 기준(2026.10) · 영풍전자 성과지표 체계(2026.05)를 바탕으로 재구성한 제안 모델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스코어카드 적용 예시 (가상의 부품 제조기업)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후보 업무 3개를 같은 잣대로 비교하면 '첫 과제'가 분명해집니다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594360"/>
                <a:gridCol w="59436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후보 업무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V1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V2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V3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V4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F1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F2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F3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F4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가치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실행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판정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A. 고장탐구 지원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5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5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46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38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1순위 PoC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B. 품질보고서 자동 작성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5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5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23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46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개선 과제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C. 설비 예지정비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5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37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24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전략 과제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7947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계산 예 (A): 가치 = (15×5 + 15×5 + 10×4 + 10×4) ÷ 5 = 46점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206240"/>
            <a:ext cx="7498080" cy="14630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4206240"/>
            <a:ext cx="54864" cy="146304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31596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해석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4727448"/>
            <a:ext cx="7205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A: 가치·실행 모두 높음 → 숙련자 인터뷰와 기존 이력 데이터로 바로 PoC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B: 가치는 낮지만 쉬움 → LLM 사무자동화 도구로 빠르게 적용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C: 가치는 크지만 센서·이력 데이터 부족 → 데이터 수집 체계를 먼저 갖춘 뒤 추진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0" y="1645920"/>
            <a:ext cx="3502152" cy="40233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330891" y="1645920"/>
            <a:ext cx="0" cy="4023360"/>
          </a:xfrm>
          <a:prstGeom prst="line">
            <a:avLst/>
          </a:prstGeom>
          <a:noFill/>
          <a:ln w="12700">
            <a:solidFill>
              <a:srgbClr val="8E99A5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8229600" y="3255264"/>
            <a:ext cx="3502152" cy="0"/>
          </a:xfrm>
          <a:prstGeom prst="line">
            <a:avLst/>
          </a:prstGeom>
          <a:noFill/>
          <a:ln w="12700">
            <a:solidFill>
              <a:srgbClr val="8E99A5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827532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가치 ↑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771632" y="5349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실행 →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662636" y="1739189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62636" y="173918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1222980" y="3589934"/>
            <a:ext cx="457200" cy="457200"/>
          </a:xfrm>
          <a:prstGeom prst="ellipse">
            <a:avLst/>
          </a:prstGeom>
          <a:solidFill>
            <a:srgbClr val="3C6791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222980" y="358993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682033" y="2463394"/>
            <a:ext cx="457200" cy="457200"/>
          </a:xfrm>
          <a:prstGeom prst="ellipse">
            <a:avLst/>
          </a:prstGeom>
          <a:solidFill>
            <a:srgbClr val="3C6791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82033" y="246339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376611" y="33009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기준선 30점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위 점수는 설명을 위한 가상 예시이며, 특정 기업의 실제 데이터가 아닙니다.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코난테크놀로지 제안 스코어카드 적용 예시 (가상 데이터)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효과 산정과 KPI 설계: 투자 판단을 숫자로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기준선 → 목표 → 효과 금액 → 회수 기간 순서로 계산합니다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5577840" cy="23317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233172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013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간이 효과 산정식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12848"/>
            <a:ext cx="528523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연간 효과 =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① 절감 공수(MD) × MD당 인건비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＋ ② 품질손실 감소액 (폐기·재작업·클레임)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＋ ③ 숙련 기간 단축 효과 (교육·OJT 기간 × 인건비)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회수 기간 = (구축비 + 연간 운영비 − 정부지원금) ÷ 연간 효과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5532120" cy="23317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691640"/>
            <a:ext cx="54864" cy="2331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80136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기준선이 있어야 계산이 됩니다 (영풍전자)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2212848"/>
            <a:ext cx="5239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기준선: 수리 공수 연 700MD · 수리 불가 폐기 77개 (2025)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목표: 분석시간 50%↓ · 보고서 작성 70%↓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재원: 총 28.6억 중 정부지원 20억 (약 70%), 기업 부담 8.6억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KPI는 선행지표와 결과지표를 함께 잡습니다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5577840" cy="11887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526280"/>
            <a:ext cx="54864" cy="1188720"/>
          </a:xfrm>
          <a:prstGeom prst="rect">
            <a:avLst/>
          </a:prstGeom>
          <a:solidFill>
            <a:srgbClr val="3C6791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6360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선행지표 (잘 쓰이고 있나)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001768"/>
            <a:ext cx="5285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적용률 · 데이터 수집률 · 온톨로지 커버리지 · 검수 정합률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9632" y="4526280"/>
            <a:ext cx="5532120" cy="118872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526280"/>
            <a:ext cx="54864" cy="1188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463600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결과지표 (돈이 되었나)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82512" y="5001768"/>
            <a:ext cx="5239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분석·작성 시간 · 납기 단축률 · 불량 예측 정확도 · 폐기 수량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인건비 단가·구축비는 기업마다 다릅니다. 오늘 드린 산식에 자사 값을 넣어 보십시오.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발표평가(2026.05.19) 성과지표·예산 · 산정식은 코난테크놀로지 제안 모델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기업 AX 도입 4단계 로드맵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진단에서 준비도를 확인하고, 준비가 덜 되었으면 교육을 거쳐 다시 진단으로 돌아옵니다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600200" cy="658368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Step1 진단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업무·데이터·숙련자 진단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스코어카드 · 기준선 측정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57400" y="2249424"/>
            <a:ext cx="45720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14600" y="1609344"/>
            <a:ext cx="2057400" cy="1280160"/>
          </a:xfrm>
          <a:prstGeom prst="diamond">
            <a:avLst/>
          </a:prstGeom>
          <a:solidFill>
            <a:srgbClr val="E9F2FB"/>
          </a:solidFill>
          <a:ln w="15875">
            <a:solidFill>
              <a:srgbClr val="0E2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609344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AX 도입 준비가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되어 있는가?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45152" y="1901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Yes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249424"/>
            <a:ext cx="68580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57800" y="1920240"/>
            <a:ext cx="1737360" cy="658368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9202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Step2 PoC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66360" y="2651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 1건 PoC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정보제공형 Agent (3~6개월)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2249424"/>
            <a:ext cx="36576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1920240"/>
            <a:ext cx="1920240" cy="658368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19202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Step3 실증확대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69480" y="26517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KPI 검증 → 투자심의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판단지원형 고도화 (6~12개월)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281160" y="2249424"/>
            <a:ext cx="36576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46920" y="1920240"/>
            <a:ext cx="2084832" cy="658368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1920240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Step4 자립확산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55480" y="265176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운영 내재화 · 현업 Agent 제작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협력사 · 동종업계 확산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76372" y="28712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No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43300" y="2889504"/>
            <a:ext cx="0" cy="2185416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43300" y="3931920"/>
            <a:ext cx="34290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886200" y="3474720"/>
            <a:ext cx="1783080" cy="914400"/>
          </a:xfrm>
          <a:prstGeom prst="diamond">
            <a:avLst/>
          </a:prstGeom>
          <a:solidFill>
            <a:srgbClr val="EEF1F5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47472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임직원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교육이 필요한가?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0" y="35661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Yes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0" y="3931920"/>
            <a:ext cx="50292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72200" y="3543300"/>
            <a:ext cx="3337560" cy="77724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5433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Step1-1 임직원 대상 업무자동화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활용 환급 / 비환급 교육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509760" y="3931920"/>
            <a:ext cx="36576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43300" y="5074920"/>
            <a:ext cx="34290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886200" y="4617720"/>
            <a:ext cx="1783080" cy="914400"/>
          </a:xfrm>
          <a:prstGeom prst="diamond">
            <a:avLst/>
          </a:prstGeom>
          <a:solidFill>
            <a:srgbClr val="EEF1F5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461772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CEO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교육이 필요한가?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15000" y="47091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Yes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0" y="5074920"/>
            <a:ext cx="50292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72200" y="4686300"/>
            <a:ext cx="3337560" cy="77724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46863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Step1-2 제조암묵지 AI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최고경영자과정 [비환급]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509760" y="5074920"/>
            <a:ext cx="36576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875520" y="3246120"/>
            <a:ext cx="0" cy="182880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3726180" y="3246120"/>
            <a:ext cx="6149340" cy="0"/>
          </a:xfrm>
          <a:prstGeom prst="line">
            <a:avLst/>
          </a:prstGeom>
          <a:noFill/>
          <a:ln w="19050">
            <a:solidFill>
              <a:srgbClr val="3C6791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223760" y="3273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↺ 교육 이수 후 재진단</a:t>
            </a:r>
            <a:endParaRPr lang="en-US" sz="1000" dirty="0"/>
          </a:p>
        </p:txBody>
      </p:sp>
      <p:pic>
        <p:nvPicPr>
          <p:cNvPr id="50" name="Image 0" descr="/tmp/claude-0/-home-user-claude/9cbe668c-2a39-5ca0-8ea8-cc6111a6ea41/scratchpad/build/assets/image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3840480"/>
            <a:ext cx="1645920" cy="1213415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457200" y="5559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기간은 일반적인 제안이며, 업무 범위와 데이터 상태에 따라 달라집니다.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준비가 되었으면 바로 PoC로, 아니면 임직원·CEO 교육으로 준비도를 높인 뒤 다시 진단합니다.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단계적 확산 계획 · 포항 AX실증산단 연차별 계획을 바탕으로 재구성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AX 도입 우선순위 결정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CEO 자가진단 체크리스트 10문항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'예'의 개수로 지금 우리 회사의 출발점을 확인해 보십시오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37944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691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1. 5년 내 은퇴 예정인 핵심 숙련자가 누구인지 명단이 있다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96312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3500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2. 같은 문제를 사람마다 다르게 판단·처리하는 업무가 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15468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00837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3. 그 업무의 현재 처리시간·공수를 숫자로 말할 수 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1304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6667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4. 고장·불량·조치 이력이 ERP·MES 등에 전산으로 쌓인다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25112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47141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3251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5. 같은 현상을 부르는 사내 용어가 통일되어 있다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1691640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837944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691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6. 도면·매뉴얼·절차서를 한 곳에서 검색할 수 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2350008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496312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3500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7. 숙련자가 AI 검수에 주 몇 시간이라도 참여할 수 있다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26480" y="3008376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15468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00837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8. 데이터를 사내(온프레미스)에 둘지 외부를 쓸지 원칙이 있다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3666744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81304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6667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9. AI 결과를 최종 승인할 책임자를 지정할 수 있다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26480" y="4325112"/>
            <a:ext cx="5486400" cy="548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447141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C679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43251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10. 성공하면 확산할 사업장·협력사가 있다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5029200"/>
            <a:ext cx="3657600" cy="7772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102352"/>
            <a:ext cx="3657600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7개 이상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48640" y="5456682"/>
            <a:ext cx="347472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 바로 착수 가능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61104" y="5029200"/>
            <a:ext cx="3657600" cy="7772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61104" y="5102352"/>
            <a:ext cx="3657600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4~6개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352544" y="5456682"/>
            <a:ext cx="347472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진단·데이터 정비부터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65008" y="5029200"/>
            <a:ext cx="3657600" cy="7772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65008" y="5102352"/>
            <a:ext cx="3657600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3개 이하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156448" y="5456682"/>
            <a:ext cx="347472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기초 전산화·용어 정리 선행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373368"/>
            <a:ext cx="11247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코난테크놀로지 제안 (판정 구간은 제안값) — 세미나 사전 설문으로도 활용 가능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맺음말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AI는 명장을 대체하지 않습니다. 명장의 판단을 회사의 자산으로 남깁니다.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오늘 기억하실 세 가지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pic>
        <p:nvPicPr>
          <p:cNvPr id="11" name="Image 0" descr="/tmp/claude-0/-home-user-claude/9cbe668c-2a39-5ca0-8ea8-cc6111a6ea41/scratchpad/build/assets/image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74520"/>
            <a:ext cx="1371600" cy="1371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3383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38221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성패는 모델이 아니라 데이터와 지식에서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4526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모델은 매년 바뀌지만, 정리된 데이터와 온톨로지는 회사 고유 자산으로 남습니다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61104" y="1691640"/>
            <a:ext cx="3657600" cy="3977640"/>
          </a:xfrm>
          <a:prstGeom prst="rect">
            <a:avLst/>
          </a:prstGeom>
          <a:solidFill>
            <a:srgbClr val="FBF5E6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6" name="Image 1" descr="/tmp/claude-0/-home-user-claude/9cbe668c-2a39-5ca0-8ea8-cc6111a6ea41/scratchpad/build/asset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1874520"/>
            <a:ext cx="1371600" cy="1371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89704" y="3383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489704" y="38221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AI는 근거 있는 초안, 확정은 사람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489704" y="4526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근거 제시 · 사람 검수 · 모르면 묻기 — 현장의 신뢰가 먼저입니다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65008" y="1691640"/>
            <a:ext cx="3657600" cy="397764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</p:sp>
      <p:pic>
        <p:nvPicPr>
          <p:cNvPr id="21" name="Image 2" descr="/tmp/claude-0/-home-user-claude/9cbe668c-2a39-5ca0-8ea8-cc6111a6ea41/scratchpad/build/assets/image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1874520"/>
            <a:ext cx="1463040" cy="10785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93608" y="3383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293608" y="38221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 1건 · 기준선 · 스코어카드로 작게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293608" y="4526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가치와 실행 가능성을 숫자로 비교해 첫 과제를 고르십시오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오늘 돌아가서: 후보 업무 3개를 적고, 각 업무의 현재 처리시간을 재 보십시오.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부록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용어 풀이 (CEO용)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강의 중 나온 기술 용어를 한 줄로 정리했습니다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제조 AX 세미나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84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30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70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용어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쉬운 설명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AX (AI Transformation)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AI로 업무 방식 자체를 바꾸는 것. 도구 도입이 아니라 프로세스 전환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암묵지 / 형식지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경험·직관으로만 아는 지식 / 문서로 적힌 지식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온톨로지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회사 업무의 개념과 관계를 정한 '설계도' (무엇이 무엇의 원인인가)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지식그래프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온톨로지에 따라 실제 데이터를 점(개체)과 선(관계)으로 연결한 지식 지도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RAG / Graph-RAG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문서를 찾아 근거로 답하는 AI / 지식그래프의 관계를 따라 추론해 답하는 AI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AAS (자산관리셸)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설비·자산 정보를 담는 국제표준(IEC 63278-1) 디지털 명함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AI Agent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업무 하나를 맡아 여러 단계를 스스로 처리하는 AI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HITL (Human-in-the-Loop)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AI 결과를 사람이 검토·승인하는 구조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LLMOps · RAGOps · AgentOps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모델 · 검색 · Agent를 도입 후에도 관리하고 개선하는 운영 체계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온프레미스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외부 클라우드가 아닌 사내 서버에서 운영 — 데이터 외부 반출 없음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THANK YOU  ·  Q &amp;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감사</a:t>
            </a:r>
            <a:pPr indent="0" marL="0">
              <a:buNone/>
            </a:pPr>
            <a:r>
              <a:rPr lang="en-US" sz="58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합니다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731520" y="3246120"/>
            <a:ext cx="731520" cy="36576"/>
          </a:xfrm>
          <a:prstGeom prst="rect">
            <a:avLst/>
          </a:prstGeom>
          <a:solidFill>
            <a:srgbClr val="E2B23A"/>
          </a:solidFill>
          <a:ln w="12700">
            <a:solidFill>
              <a:srgbClr val="E2B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"명장의 판단을 회사의 자산으로"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암묵지 AX, 업무 1건에서 시작합니다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㈜코난테크놀로지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193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염종학 이사 (국방 · 전략사업부)    </a:t>
            </a:r>
            <a:pPr indent="0" marL="0">
              <a:buNone/>
            </a:pPr>
            <a:r>
              <a:rPr lang="en-US" sz="1200" u="sng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jonghak.yeom@konantech.com</a:t>
            </a:r>
            <a:pPr indent="0" marL="0">
              <a:buNone/>
            </a:pPr>
            <a:r>
              <a:rPr lang="en-US" sz="120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    010-9082-1522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제조 AX 세미나  |  2026. 11.  |  www.konantech.com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AX Seminar - Konan Technology</dc:title>
  <dc:subject>PptxGenJS Presentation</dc:subject>
  <dc:creator>PptxGenJS</dc:creator>
  <cp:lastModifiedBy>PptxGenJS</cp:lastModifiedBy>
  <cp:revision>1</cp:revision>
  <dcterms:created xsi:type="dcterms:W3CDTF">2026-10-21T09:43:18Z</dcterms:created>
  <dcterms:modified xsi:type="dcterms:W3CDTF">2026-10-21T09:43:18Z</dcterms:modified>
</cp:coreProperties>
</file>