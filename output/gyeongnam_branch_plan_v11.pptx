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13144500" y="2095805"/>
            <a:ext cx="4953305" cy="4953305"/>
          </a:xfrm>
          <a:prstGeom prst="ellipse">
            <a:avLst/>
          </a:prstGeom>
          <a:noFill/>
          <a:ln w="12700">
            <a:solidFill>
              <a:srgbClr val="B8860B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1"/>
          <p:cNvSpPr/>
          <p:nvPr/>
        </p:nvSpPr>
        <p:spPr>
          <a:xfrm>
            <a:off x="13716000" y="2667305"/>
            <a:ext cx="3810305" cy="3810305"/>
          </a:xfrm>
          <a:prstGeom prst="ellipse">
            <a:avLst/>
          </a:prstGeom>
          <a:noFill/>
          <a:ln w="12700">
            <a:solidFill>
              <a:srgbClr val="B8860B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2"/>
          <p:cNvSpPr/>
          <p:nvPr/>
        </p:nvSpPr>
        <p:spPr>
          <a:xfrm>
            <a:off x="14477695" y="3429000"/>
            <a:ext cx="2286000" cy="2286000"/>
          </a:xfrm>
          <a:prstGeom prst="ellipse">
            <a:avLst/>
          </a:prstGeom>
          <a:noFill/>
          <a:ln w="12700">
            <a:solidFill>
              <a:srgbClr val="E2B23A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3" descr="gen-dedup-d6659cdc35e2f31f8645301e667090c5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5049195" y="4000500"/>
            <a:ext cx="1143000" cy="1143000"/>
          </a:xfrm>
          <a:prstGeom prst="rect">
            <a:avLst/>
          </a:prstGeom>
        </p:spPr>
      </p:pic>
      <p:pic>
        <p:nvPicPr>
          <p:cNvPr id="9" name="Image 4" descr="gen-dedup-c54f620b4818ddb68cc679f84e1874a1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3144500" y="2095805"/>
            <a:ext cx="5143500" cy="5143500"/>
          </a:xfrm>
          <a:prstGeom prst="rect">
            <a:avLst/>
          </a:prstGeom>
        </p:spPr>
      </p:pic>
      <p:pic>
        <p:nvPicPr>
          <p:cNvPr id="10" name="Image 5" descr="gen-dedup-17d777abac9171ac847998b957fa702c.png"/>
          <p:cNvPicPr>
            <a:picLocks noChangeAspect="1"/>
          </p:cNvPicPr>
          <p:nvPr/>
        </p:nvPicPr>
        <p:blipFill>
          <a:blip r:embed="rId8"/>
          <a:srcRect t="-10" b="-10"/>
          <a:stretch/>
        </p:blipFill>
        <p:spPr>
          <a:xfrm>
            <a:off x="12859207" y="7048195"/>
            <a:ext cx="4572000" cy="1524305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+1.66억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2.59억. 손익분기는 계획의 61%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+7.5억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5.17억의 약 70%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29%를 상계 · 증분 매출 목표(8.5억)의 6% · 2026년 2개월 0.07억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0.48억, 인건비 2.10억(엔지니어 2인 과제비 제외), 거점 고정비 2.59억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2,508 · 사무실+수당 1,976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6,746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5.17억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61%,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약 70%에서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-0.46억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+7.45억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경남TP 봉암 4동 703호(연 416만 원), 주거비는 A4 기준(연 2,262만 원, 숙소 초기 설치비 0.06억은 2026 일회성 비용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(0.07)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(1.03)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(0.11)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(0.12)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(0.33)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6.12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7.45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(1.52)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(0.46)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0.60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2.73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988만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실속안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988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표준안 1,418만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표준안 1,041만 원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실속안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(실속안)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(표준안)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1,041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611만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반영(0.05억 → 0.11억)했습니다.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제외(실속안 기준 최대 179만 원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0.48억)에, 초기 일회성 611은 2026 일회성 비용에 반영. 2027 거점 영업손익 +1.66억, 3개년 +7.45억.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2.59억 (인건비 2.10억 + 경비 순증 0.48억, 현지 엔지니어 2인 인건비는 PI-LAM 과제비 충당) + 현지 채용 TO 3명 + 일회성 약 0.12억(3개년, 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+1.66억(인건비 포함), 손익분기는 계획의 61% 수준. 3개년 누적 +7.5억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416만 원)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0.07억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29%를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(3,700원/㎡ × 93.79㎡, 월 347,000원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416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통신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소모품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·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회의비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추정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- 50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840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50만 원 (1년 계약, 보증금 없음), 1대 — 2027 추가 없음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30만 원 (월 2,000km), 1대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896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6,746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731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4,768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397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 기준(표준안 1,041)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없음 · 1년 렌트 계약 월 50만 원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900~1,200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모니터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의자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회의탁자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인테리어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416 </a:t>
                      </a:r>
                      <a:r>
                        <a:rPr lang="en-US" sz="975" b="1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(월 347,000원)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4,768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4,768만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최대 179만 원 감소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2.59억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