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7" r:id="rId29"/>
    <p:sldId id="278" r:id="rId30"/>
    <p:sldId id="279" r:id="rId31"/>
    <p:sldId id="280" r:id="rId32"/>
    <p:sldId id="281" r:id="rId3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7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6CF065-700E-48A5-9A1A-9B7EF1BDA3BB}" v="22" dt="2026-10-29T11:19:55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77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m jonghak" userId="9c5ca5bb9745038e" providerId="LiveId" clId="{18183C8E-F94C-411A-9108-9D94713FAEC6}"/>
    <pc:docChg chg="undo custSel addSld delSld modSld">
      <pc:chgData name="Yeom jonghak" userId="9c5ca5bb9745038e" providerId="LiveId" clId="{18183C8E-F94C-411A-9108-9D94713FAEC6}" dt="2026-10-29T11:20:00.591" v="706" actId="2696"/>
      <pc:docMkLst>
        <pc:docMk/>
      </pc:docMkLst>
      <pc:sldChg chg="modSp mod">
        <pc:chgData name="Yeom jonghak" userId="9c5ca5bb9745038e" providerId="LiveId" clId="{18183C8E-F94C-411A-9108-9D94713FAEC6}" dt="2026-10-29T11:19:22.438" v="704" actId="20577"/>
        <pc:sldMkLst>
          <pc:docMk/>
          <pc:sldMk cId="0" sldId="256"/>
        </pc:sldMkLst>
        <pc:spChg chg="mod">
          <ac:chgData name="Yeom jonghak" userId="9c5ca5bb9745038e" providerId="LiveId" clId="{18183C8E-F94C-411A-9108-9D94713FAEC6}" dt="2026-10-29T11:19:22.438" v="704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7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7"/>
            <ac:spMk id="46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8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8"/>
            <ac:spMk id="44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9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9"/>
            <ac:spMk id="79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0"/>
        </pc:sldMkLst>
        <pc:spChg chg="mod">
          <ac:chgData name="Yeom jonghak" userId="9c5ca5bb9745038e" providerId="LiveId" clId="{18183C8E-F94C-411A-9108-9D94713FAEC6}" dt="2026-10-29T08:33:12.087" v="462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0"/>
            <ac:spMk id="81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1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1"/>
            <ac:spMk id="67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2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2"/>
            <ac:spMk id="99" creationId="{00000000-0000-0000-0000-000000000000}"/>
          </ac:spMkLst>
        </pc:spChg>
      </pc:sldChg>
      <pc:sldChg chg="modSp del mod">
        <pc:chgData name="Yeom jonghak" userId="9c5ca5bb9745038e" providerId="LiveId" clId="{18183C8E-F94C-411A-9108-9D94713FAEC6}" dt="2026-10-29T11:20:00.591" v="706" actId="2696"/>
        <pc:sldMkLst>
          <pc:docMk/>
          <pc:sldMk cId="0" sldId="263"/>
        </pc:sldMkLst>
        <pc:spChg chg="mod">
          <ac:chgData name="Yeom jonghak" userId="9c5ca5bb9745038e" providerId="LiveId" clId="{18183C8E-F94C-411A-9108-9D94713FAEC6}" dt="2026-10-29T09:53:03.545" v="696" actId="2057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1:53.527" v="398" actId="20577"/>
          <ac:spMkLst>
            <pc:docMk/>
            <pc:sldMk cId="0" sldId="263"/>
            <ac:spMk id="3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3:10.001" v="697" actId="20577"/>
          <ac:spMkLst>
            <pc:docMk/>
            <pc:sldMk cId="0" sldId="263"/>
            <ac:spMk id="37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8:47.498" v="702" actId="20577"/>
          <ac:spMkLst>
            <pc:docMk/>
            <pc:sldMk cId="0" sldId="263"/>
            <ac:spMk id="3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2:02.697" v="399" actId="20577"/>
          <ac:spMkLst>
            <pc:docMk/>
            <pc:sldMk cId="0" sldId="263"/>
            <ac:spMk id="5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3"/>
            <ac:spMk id="59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4:25.381" v="698" actId="20577"/>
          <ac:spMkLst>
            <pc:docMk/>
            <pc:sldMk cId="0" sldId="263"/>
            <ac:spMk id="8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4:30.847" v="700" actId="20577"/>
          <ac:spMkLst>
            <pc:docMk/>
            <pc:sldMk cId="0" sldId="263"/>
            <ac:spMk id="84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4"/>
        </pc:sldMkLst>
        <pc:spChg chg="mod">
          <ac:chgData name="Yeom jonghak" userId="9c5ca5bb9745038e" providerId="LiveId" clId="{18183C8E-F94C-411A-9108-9D94713FAEC6}" dt="2026-10-29T08:33:55.862" v="495" actId="2057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4"/>
            <ac:spMk id="39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6"/>
        </pc:sldMkLst>
        <pc:spChg chg="mod">
          <ac:chgData name="Yeom jonghak" userId="9c5ca5bb9745038e" providerId="LiveId" clId="{18183C8E-F94C-411A-9108-9D94713FAEC6}" dt="2026-10-29T08:36:07.646" v="502" actId="20577"/>
          <ac:spMkLst>
            <pc:docMk/>
            <pc:sldMk cId="0" sldId="266"/>
            <ac:spMk id="2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40:55.687" v="533" actId="113"/>
          <ac:spMkLst>
            <pc:docMk/>
            <pc:sldMk cId="0" sldId="266"/>
            <ac:spMk id="2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6"/>
            <ac:spMk id="103" creationId="{00000000-0000-0000-0000-000000000000}"/>
          </ac:spMkLst>
        </pc:spChg>
      </pc:sldChg>
      <pc:sldChg chg="addSp delSp modSp mod">
        <pc:chgData name="Yeom jonghak" userId="9c5ca5bb9745038e" providerId="LiveId" clId="{18183C8E-F94C-411A-9108-9D94713FAEC6}" dt="2026-10-29T08:27:44.498" v="395" actId="20577"/>
        <pc:sldMkLst>
          <pc:docMk/>
          <pc:sldMk cId="0" sldId="267"/>
        </pc:sldMkLst>
        <pc:spChg chg="add del mod">
          <ac:chgData name="Yeom jonghak" userId="9c5ca5bb9745038e" providerId="LiveId" clId="{18183C8E-F94C-411A-9108-9D94713FAEC6}" dt="2026-10-29T08:23:02.478" v="379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48.938" v="387" actId="108"/>
          <ac:spMkLst>
            <pc:docMk/>
            <pc:sldMk cId="0" sldId="267"/>
            <ac:spMk id="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55.001" v="388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5:01.337" v="389"/>
          <ac:spMkLst>
            <pc:docMk/>
            <pc:sldMk cId="0" sldId="267"/>
            <ac:spMk id="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7:44.498" v="395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32.479" v="385" actId="103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1:51.150" v="372" actId="20577"/>
          <ac:spMkLst>
            <pc:docMk/>
            <pc:sldMk cId="0" sldId="267"/>
            <ac:spMk id="11" creationId="{00000000-0000-0000-0000-000000000000}"/>
          </ac:spMkLst>
        </pc:spChg>
        <pc:graphicFrameChg chg="add mod modGraphic">
          <ac:chgData name="Yeom jonghak" userId="9c5ca5bb9745038e" providerId="LiveId" clId="{18183C8E-F94C-411A-9108-9D94713FAEC6}" dt="2026-10-29T08:23:32.975" v="382" actId="572"/>
          <ac:graphicFrameMkLst>
            <pc:docMk/>
            <pc:sldMk cId="0" sldId="267"/>
            <ac:graphicFrameMk id="2" creationId="{DBACEA7F-52BE-8391-A9B4-D59B2B0280D7}"/>
          </ac:graphicFrameMkLst>
        </pc:graphicFrameChg>
        <pc:graphicFrameChg chg="del mod modGraphic">
          <ac:chgData name="Yeom jonghak" userId="9c5ca5bb9745038e" providerId="LiveId" clId="{18183C8E-F94C-411A-9108-9D94713FAEC6}" dt="2026-10-29T08:21:47.552" v="368" actId="478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Yeom jonghak" userId="9c5ca5bb9745038e" providerId="LiveId" clId="{18183C8E-F94C-411A-9108-9D94713FAEC6}" dt="2026-10-29T09:50:50.466" v="690" actId="20577"/>
        <pc:sldMkLst>
          <pc:docMk/>
          <pc:sldMk cId="0" sldId="268"/>
        </pc:sldMkLst>
        <pc:spChg chg="mod">
          <ac:chgData name="Yeom jonghak" userId="9c5ca5bb9745038e" providerId="LiveId" clId="{18183C8E-F94C-411A-9108-9D94713FAEC6}" dt="2026-10-29T06:34:09.438" v="209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Yeom jonghak" userId="9c5ca5bb9745038e" providerId="LiveId" clId="{18183C8E-F94C-411A-9108-9D94713FAEC6}" dt="2026-10-29T06:29:33.958" v="15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5:24.162" v="498" actId="2057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Yeom jonghak" userId="9c5ca5bb9745038e" providerId="LiveId" clId="{18183C8E-F94C-411A-9108-9D94713FAEC6}" dt="2026-10-29T06:33:13.142" v="201" actId="20577"/>
          <ac:spMkLst>
            <pc:docMk/>
            <pc:sldMk cId="0" sldId="268"/>
            <ac:spMk id="13" creationId="{00000000-0000-0000-0000-000000000000}"/>
          </ac:spMkLst>
        </pc:spChg>
        <pc:graphicFrameChg chg="mod modGraphic">
          <ac:chgData name="Yeom jonghak" userId="9c5ca5bb9745038e" providerId="LiveId" clId="{18183C8E-F94C-411A-9108-9D94713FAEC6}" dt="2026-10-29T09:50:50.466" v="690" actId="20577"/>
          <ac:graphicFrameMkLst>
            <pc:docMk/>
            <pc:sldMk cId="0" sldId="268"/>
            <ac:graphicFrameMk id="14" creationId="{00000000-0000-0000-0000-000000000000}"/>
          </ac:graphicFrameMkLst>
        </pc:graphicFrameChg>
        <pc:graphicFrameChg chg="mod modGraphic">
          <ac:chgData name="Yeom jonghak" userId="9c5ca5bb9745038e" providerId="LiveId" clId="{18183C8E-F94C-411A-9108-9D94713FAEC6}" dt="2026-10-29T09:33:37.150" v="534" actId="20577"/>
          <ac:graphicFrameMkLst>
            <pc:docMk/>
            <pc:sldMk cId="0" sldId="268"/>
            <ac:graphicFrameMk id="27" creationId="{00000000-0000-0000-0000-000000000000}"/>
          </ac:graphicFrameMkLst>
        </pc:graphicFrame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9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9"/>
            <ac:spMk id="93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70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70"/>
            <ac:spMk id="2" creationId="{00000000-0000-0000-0000-000000000000}"/>
          </ac:spMkLst>
        </pc:spChg>
        <pc:graphicFrameChg chg="modGraphic">
          <ac:chgData name="Yeom jonghak" userId="9c5ca5bb9745038e" providerId="LiveId" clId="{18183C8E-F94C-411A-9108-9D94713FAEC6}" dt="2026-10-29T08:31:45.964" v="397" actId="20577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71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71"/>
            <ac:spMk id="24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1:41.742" v="692" actId="20577"/>
        <pc:sldMkLst>
          <pc:docMk/>
          <pc:sldMk cId="0" sldId="272"/>
        </pc:sldMkLst>
        <pc:spChg chg="mod">
          <ac:chgData name="Yeom jonghak" userId="9c5ca5bb9745038e" providerId="LiveId" clId="{18183C8E-F94C-411A-9108-9D94713FAEC6}" dt="2026-10-29T09:51:41.742" v="692" actId="20577"/>
          <ac:spMkLst>
            <pc:docMk/>
            <pc:sldMk cId="0" sldId="272"/>
            <ac:spMk id="9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2594590798" sldId="273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2594590798" sldId="273"/>
            <ac:spMk id="39" creationId="{7E164520-8574-B7B9-2E50-1A8B37F19020}"/>
          </ac:spMkLst>
        </pc:spChg>
      </pc:sldChg>
      <pc:sldChg chg="add setBg">
        <pc:chgData name="Yeom jonghak" userId="9c5ca5bb9745038e" providerId="LiveId" clId="{18183C8E-F94C-411A-9108-9D94713FAEC6}" dt="2026-10-29T11:19:55.766" v="705"/>
        <pc:sldMkLst>
          <pc:docMk/>
          <pc:sldMk cId="0" sldId="274"/>
        </pc:sldMkLst>
      </pc:sldChg>
      <pc:sldChg chg="add">
        <pc:chgData name="Yeom jonghak" userId="9c5ca5bb9745038e" providerId="LiveId" clId="{18183C8E-F94C-411A-9108-9D94713FAEC6}" dt="2026-10-29T11:19:55.766" v="705"/>
        <pc:sldMkLst>
          <pc:docMk/>
          <pc:sldMk cId="0" sldId="27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7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29fcd9f2d29859907097ddd37024b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ecf28173d4aac47dcbcd1fc85055bedb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8382305" y="0"/>
            <a:ext cx="10477195" cy="10287000"/>
          </a:xfrm>
          <a:prstGeom prst="rect">
            <a:avLst/>
          </a:prstGeom>
        </p:spPr>
      </p:pic>
      <p:pic>
        <p:nvPicPr>
          <p:cNvPr id="4" name="Image 2" descr="gen-dedup-d72af8499fea713436cc397e23859a09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143000" y="1333195"/>
            <a:ext cx="5715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D4A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결재용 · 예산 품의 별첨 · 2026. 10</a:t>
            </a:r>
            <a:endParaRPr lang="en-US" sz="1650" dirty="0"/>
          </a:p>
        </p:txBody>
      </p:sp>
      <p:sp>
        <p:nvSpPr>
          <p:cNvPr id="12" name="Text 4"/>
          <p:cNvSpPr txBox="1"/>
          <p:nvPr/>
        </p:nvSpPr>
        <p:spPr>
          <a:xfrm>
            <a:off x="1143000" y="1981505"/>
            <a:ext cx="10478110" cy="2086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117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</a:t>
            </a:r>
            <a:endParaRPr lang="en-US" sz="7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117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개설·운영 </a:t>
            </a:r>
            <a:r>
              <a:rPr lang="en-US" sz="7800" b="1" kern="0" spc="-117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품의</a:t>
            </a:r>
            <a:endParaRPr lang="en-US" sz="7800" dirty="0"/>
          </a:p>
        </p:txBody>
      </p:sp>
      <p:sp>
        <p:nvSpPr>
          <p:cNvPr id="13" name="Text 5"/>
          <p:cNvSpPr txBox="1"/>
          <p:nvPr/>
        </p:nvSpPr>
        <p:spPr>
          <a:xfrm>
            <a:off x="1181405" y="5143500"/>
            <a:ext cx="9525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D9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Budget Request · 별첨</a:t>
            </a:r>
            <a:endParaRPr lang="en-US" sz="2250" dirty="0"/>
          </a:p>
        </p:txBody>
      </p:sp>
      <p:sp>
        <p:nvSpPr>
          <p:cNvPr id="14" name="Text 6"/>
          <p:cNvSpPr txBox="1"/>
          <p:nvPr/>
        </p:nvSpPr>
        <p:spPr>
          <a:xfrm>
            <a:off x="1181405" y="5952744"/>
            <a:ext cx="13335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2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개설 집행 3,321만 원 · 2027 운영 예산 6,823만 원 · 보증금 5,352만 원(반환)</a:t>
            </a:r>
            <a:endParaRPr lang="en-US" sz="1950" dirty="0"/>
          </a:p>
        </p:txBody>
      </p:sp>
      <p:sp>
        <p:nvSpPr>
          <p:cNvPr id="15" name="Text 7"/>
          <p:cNvSpPr txBox="1"/>
          <p:nvPr/>
        </p:nvSpPr>
        <p:spPr>
          <a:xfrm>
            <a:off x="1181405" y="6724498"/>
            <a:ext cx="8382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사무소 집기 · 숙소 · 차량 · 파견 운영 소요 예산과 산출 근거</a:t>
            </a:r>
            <a:endParaRPr lang="en-US" sz="1650" dirty="0"/>
          </a:p>
        </p:txBody>
      </p:sp>
      <p:pic>
        <p:nvPicPr>
          <p:cNvPr id="16" name="Image 6" descr="gen-dedup-8d8a5e5a1cdb960f737a73e7f41e66ec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1143000" y="7905902"/>
            <a:ext cx="1143000" cy="3840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143000" y="8287207"/>
            <a:ext cx="8572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4DE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 국방·전략사업부</a:t>
            </a:r>
            <a:endParaRPr lang="en-US" sz="1800" dirty="0"/>
          </a:p>
        </p:txBody>
      </p:sp>
      <p:sp>
        <p:nvSpPr>
          <p:cNvPr id="18" name="Text 9"/>
          <p:cNvSpPr txBox="1"/>
          <p:nvPr/>
        </p:nvSpPr>
        <p:spPr>
          <a:xfrm>
            <a:off x="1143000" y="876269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3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Attachment to Budget Approval Request</a:t>
            </a:r>
            <a:endParaRPr lang="en-US" sz="1500" dirty="0"/>
          </a:p>
        </p:txBody>
      </p:sp>
      <p:pic>
        <p:nvPicPr>
          <p:cNvPr id="19" name="Cover Map" descr="cover_ma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8000" y="1532243"/>
            <a:ext cx="8900000" cy="722251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3260000"/>
          <a:ext cx="10287000" cy="3936988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4000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40001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40002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40003"/>
                    </a:ext>
                  </a:extLst>
                </a:gridCol>
                <a:gridCol w="3487000">
                  <a:extLst>
                    <a:ext uri="{9D8B030D-6E8A-4147-A177-3AD203B41FA5}">
                      <a16:colId xmlns:a16="http://schemas.microsoft.com/office/drawing/2014/main" val="40004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2027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비고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일회성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사무소 집기·비품 (표준안)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1,331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55개 품목 · 예비비 10% 포함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일회성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숙소 초기 설치 (표준안)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1,041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가구·가전·커튼·중개보수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사무실 월 고정비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1,333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임대료·관리비·렌탈·보안·소모품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숙소 (월세·부대비용)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377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188.5 · 1세대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원격 교통비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129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1,548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파견 1인 → 2인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차량 렌트·운영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1년 렌트 월 50 + 운영 30 · 1대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파견수당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720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30 / 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합계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비용 합계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3,321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6,823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출장비 절감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(165)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(1,978)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숙박·일비·교통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순증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운영비 순증 (일회성 제외)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783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4,845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보증금 (반환)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5,352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차량 렌트 보증금 없음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품의 요약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집행 3,321만 원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2027 편성 6,823만 원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 경남TP 봉암 4동 703호 개설 · 창원 숙소 입주 · 2027 파견 2인 + 현지 3인 체제 — 인건비는 별도 품의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286840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2830000"/>
            <a:ext cx="520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총괄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2404595" y="2858347"/>
            <a:ext cx="400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만 원, 2026은 11~12월 2개월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 개설·운영 예산 품의 · 별첨 · 내부 결재용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Rounded Rectangle 14"/>
          <p:cNvSpPr/>
          <p:nvPr/>
        </p:nvSpPr>
        <p:spPr>
          <a:xfrm>
            <a:off x="914400" y="1600000"/>
            <a:ext cx="3943350" cy="98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1710000"/>
            <a:ext cx="3643350" cy="3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3,321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130000"/>
            <a:ext cx="3643350" cy="2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2026 집행 비용 (일회성 + 운영)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350000"/>
            <a:ext cx="364335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일회성 2,373 + 운영 948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6350" y="1600000"/>
            <a:ext cx="3943350" cy="98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4950" y="1710000"/>
            <a:ext cx="3643350" cy="3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550" b="1">
                <a:solidFill>
                  <a:srgbClr val="0E2240"/>
                </a:solidFill>
                <a:latin typeface="Noto Sans KR"/>
                <a:ea typeface="Noto Sans KR"/>
              </a:rPr>
              <a:t>5,352</a:t>
            </a:r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4950" y="2130000"/>
            <a:ext cx="3643350" cy="2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2026 보증금 (반환 자산)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4950" y="2350000"/>
            <a:ext cx="364335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주거 5,000 · 사무실 352 · 차량 보증금 없음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58300" y="1600000"/>
            <a:ext cx="3943350" cy="98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6900" y="1710000"/>
            <a:ext cx="3643350" cy="3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6,823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2130000"/>
            <a:ext cx="3643350" cy="2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2027 운영 예산 (연간)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900" y="2350000"/>
            <a:ext cx="364335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파견 2인 · 차량 1대 · 12개월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430250" y="1600000"/>
            <a:ext cx="3943350" cy="98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658850" y="1710000"/>
            <a:ext cx="3643350" cy="3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550" b="1">
                <a:solidFill>
                  <a:srgbClr val="0E2240"/>
                </a:solidFill>
                <a:latin typeface="Noto Sans KR"/>
                <a:ea typeface="Noto Sans KR"/>
              </a:rPr>
              <a:t>4,845</a:t>
            </a:r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58850" y="2130000"/>
            <a:ext cx="3643350" cy="2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2027 운영비 순증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658850" y="2350000"/>
            <a:ext cx="3643350" cy="1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출장비 절감 1,978 차감 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7256988"/>
            <a:ext cx="10287000" cy="2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단위: 만 원 · 만 원 미만 반올림으로 합계에 단수 차이가 있을 수 있음 · 인건비(2026 0.15억 / 2027 2.10억)는 별도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0" y="2830000"/>
            <a:ext cx="5943600" cy="3000000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1430000" y="2830000"/>
            <a:ext cx="57607" cy="30000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2980000"/>
            <a:ext cx="5563600" cy="28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700"/>
              </a:spcAft>
            </a:pPr>
            <a:r>
              <a:rPr sz="1250" b="1">
                <a:solidFill>
                  <a:srgbClr val="0E2240"/>
                </a:solidFill>
                <a:latin typeface="Noto Sans KR"/>
                <a:ea typeface="Noto Sans KR"/>
              </a:rPr>
              <a:t>결재 요청 사항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① 2026 개설 예산 집행 </a:t>
            </a:r>
            <a:r>
              <a:rPr sz="1200" b="0">
                <a:solidFill>
                  <a:srgbClr val="1F2A37"/>
                </a:solidFill>
                <a:latin typeface="Noto Sans KR"/>
                <a:ea typeface="Noto Sans KR"/>
              </a:rPr>
              <a:t>— 3,321만 원 (일회성 2,373 + 11~12월 운영 948)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② 보증금 지출 </a:t>
            </a:r>
            <a:r>
              <a:rPr sz="1200" b="0">
                <a:solidFill>
                  <a:srgbClr val="1F2A37"/>
                </a:solidFill>
                <a:latin typeface="Noto Sans KR"/>
                <a:ea typeface="Noto Sans KR"/>
              </a:rPr>
              <a:t>— 5,352만 원, 반환 자산으로 계상 (주거 5,000 · 사무실 임대 208 · 관리비 예치 144)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③ 2027 운영 예산 편성 </a:t>
            </a:r>
            <a:r>
              <a:rPr sz="1200" b="0">
                <a:solidFill>
                  <a:srgbClr val="1F2A37"/>
                </a:solidFill>
                <a:latin typeface="Noto Sans KR"/>
                <a:ea typeface="Noto Sans KR"/>
              </a:rPr>
              <a:t>— 연 6,823만 원, 출장비 절감 반영 순증 4,845만 원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집행 원칙 </a:t>
            </a:r>
            <a:r>
              <a:rPr sz="1200" b="0">
                <a:solidFill>
                  <a:srgbClr val="1F2A37"/>
                </a:solidFill>
                <a:latin typeface="Noto Sans KR"/>
                <a:ea typeface="Noto Sans KR"/>
              </a:rPr>
              <a:t>— 표준안 한도 내 집행, 50만 원 이상 품목은 2개사 이상 견적 비교, 보증금은 계약서·영수증으로 자산 관리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2073445"/>
          <a:ext cx="9200000" cy="3331988"/>
        </p:xfrm>
        <a:graphic>
          <a:graphicData uri="http://schemas.openxmlformats.org/drawingml/2006/table">
            <a:tbl>
              <a:tblPr/>
              <a:tblGrid>
                <a:gridCol w="2000000">
                  <a:extLst>
                    <a:ext uri="{9D8B030D-6E8A-4147-A177-3AD203B41FA5}">
                      <a16:colId xmlns:a16="http://schemas.microsoft.com/office/drawing/2014/main" val="4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40003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40004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40005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품목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필수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권장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표준안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선택(제외)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사무가구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305.0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325.0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IT·전산장비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156.0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144.0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사무용품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43.0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53.2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탕비실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148.0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56.0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204.0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휴게공간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공용·환경·안전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198.0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228.0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물품 소계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890.0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320.2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1,210.2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74.0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예비비 10%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121.0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배송·설치·누락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사무소 합계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1,331.2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468728"/>
              </p:ext>
            </p:extLst>
          </p:nvPr>
        </p:nvGraphicFramePr>
        <p:xfrm>
          <a:off x="914400" y="5705433"/>
          <a:ext cx="9200000" cy="1351988"/>
        </p:xfrm>
        <a:graphic>
          <a:graphicData uri="http://schemas.openxmlformats.org/drawingml/2006/table">
            <a:tbl>
              <a:tblPr/>
              <a:tblGrid>
                <a:gridCol w="2000000">
                  <a:extLst>
                    <a:ext uri="{9D8B030D-6E8A-4147-A177-3AD203B41FA5}">
                      <a16:colId xmlns:a16="http://schemas.microsoft.com/office/drawing/2014/main" val="40000"/>
                    </a:ext>
                  </a:extLst>
                </a:gridCol>
                <a:gridCol w="4600000">
                  <a:extLst>
                    <a:ext uri="{9D8B030D-6E8A-4147-A177-3AD203B41FA5}">
                      <a16:colId xmlns:a16="http://schemas.microsoft.com/office/drawing/2014/main" val="4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40002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시나리오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구성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금액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최소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필수 45개 + 예비비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979.0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 (품의안)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필수 + 권장 + 예비비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1,331.2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선택 포함 + 예비비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1,412.6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초기 투자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2,373만 원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사무소 1,331 · 숙소 1,041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사무소: 68개 품목 체크리스트 중 표준안(필수 + 권장) 55개 + 예비비 10% · 숙소: A4 주거비 상세의 표준안 기준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1588230"/>
            <a:ext cx="520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사무소 집기·비품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3324595" y="1616577"/>
            <a:ext cx="400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30평 · 상주 6인, VAT 포함, 만 원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108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1004595" y="1588230"/>
            <a:ext cx="520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숙소 초기 설치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2994595" y="1616577"/>
            <a:ext cx="400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84㎡ · 2인, 만 원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 개설·운영 예산 품의 · 별첨 · 내부 결재용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468728"/>
              </p:ext>
            </p:extLst>
          </p:nvPr>
        </p:nvGraphicFramePr>
        <p:xfrm>
          <a:off x="10814400" y="2073445"/>
          <a:ext cx="6559200" cy="2671988"/>
        </p:xfrm>
        <a:graphic>
          <a:graphicData uri="http://schemas.openxmlformats.org/drawingml/2006/table">
            <a:tbl>
              <a:tblPr/>
              <a:tblGrid>
                <a:gridCol w="1350000">
                  <a:extLst>
                    <a:ext uri="{9D8B030D-6E8A-4147-A177-3AD203B41FA5}">
                      <a16:colId xmlns:a16="http://schemas.microsoft.com/office/drawing/2014/main" val="40000"/>
                    </a:ext>
                  </a:extLst>
                </a:gridCol>
                <a:gridCol w="3009200">
                  <a:extLst>
                    <a:ext uri="{9D8B030D-6E8A-4147-A177-3AD203B41FA5}">
                      <a16:colId xmlns:a16="http://schemas.microsoft.com/office/drawing/2014/main" val="40001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40002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40003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구분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주요 품목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실속안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표준안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소파·테이블·거실장·식탁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95.0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190.0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 (2실)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침대·책상·침구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126.0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280.0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커튼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전체 창 6개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104.5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냉장고·세탁기·TV·밥솥·가스레인지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244.4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340.9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중개보수 (상한 0.3% + VAT)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66.0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66.0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주방·생활용품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숙소 합계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611.4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1,041.4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10814400" y="5100000"/>
            <a:ext cx="6559200" cy="2150000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814400" y="5100000"/>
            <a:ext cx="57607" cy="21500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3000" y="5250000"/>
            <a:ext cx="6179200" cy="195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700"/>
              </a:spcAft>
            </a:pPr>
            <a:r>
              <a:rPr sz="1250" b="1">
                <a:solidFill>
                  <a:srgbClr val="0E2240"/>
                </a:solidFill>
                <a:latin typeface="Noto Sans KR"/>
                <a:ea typeface="Noto Sans KR"/>
              </a:rPr>
              <a:t>산출 기준 · 제외 항목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노트북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본사 지급 전제로 수량 0 — 구매 시 대당 160만 원 추가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기존 설비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전기·통신 배선, 냉난방기는 임대 사무실 기본 설비 — 제외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일괄 견적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창원 지역 인테리어 업체 통해 일괄 견적·설치 예정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숙소 옵션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빌트인 쿡탑·냉장고·세탁기가 옵션이면 최대 206만 원 감소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실속안 숙소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611만 원 — 품의는 표준안 기준, 실속안 집행 시 430만 원 절감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2073445"/>
          <a:ext cx="7700000" cy="3376988"/>
        </p:xfrm>
        <a:graphic>
          <a:graphicData uri="http://schemas.openxmlformats.org/drawingml/2006/table">
            <a:tbl>
              <a:tblPr/>
              <a:tblGrid>
                <a:gridCol w="1700000">
                  <a:extLst>
                    <a:ext uri="{9D8B030D-6E8A-4147-A177-3AD203B41FA5}">
                      <a16:colId xmlns:a16="http://schemas.microsoft.com/office/drawing/2014/main" val="40000"/>
                    </a:ext>
                  </a:extLst>
                </a:gridCol>
                <a:gridCol w="2650000">
                  <a:extLst>
                    <a:ext uri="{9D8B030D-6E8A-4147-A177-3AD203B41FA5}">
                      <a16:colId xmlns:a16="http://schemas.microsoft.com/office/drawing/2014/main" val="40001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40002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40003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40004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2027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임대료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34.7 + VAT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38.17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76.3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458.0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전기·상하수도 실비 정산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26.4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52.8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316.8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복합기 렌탈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컬러 A3, 토너·A/S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96.0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정수기 렌탈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냉온정수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 인터넷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500M~1G, 3년 약정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보안 서비스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무인경비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탕비 소모품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6인 기준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 소모품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용지·문구 보충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사무실 소계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111.07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222.1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1,332.8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468728"/>
              </p:ext>
            </p:extLst>
          </p:nvPr>
        </p:nvGraphicFramePr>
        <p:xfrm>
          <a:off x="9314400" y="2073445"/>
          <a:ext cx="8059200" cy="3376988"/>
        </p:xfrm>
        <a:graphic>
          <a:graphicData uri="http://schemas.openxmlformats.org/drawingml/2006/table">
            <a:tbl>
              <a:tblPr/>
              <a:tblGrid>
                <a:gridCol w="2150000">
                  <a:extLst>
                    <a:ext uri="{9D8B030D-6E8A-4147-A177-3AD203B41FA5}">
                      <a16:colId xmlns:a16="http://schemas.microsoft.com/office/drawing/2014/main" val="4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40001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40002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40003"/>
                    </a:ext>
                  </a:extLst>
                </a:gridCol>
                <a:gridCol w="2459200">
                  <a:extLst>
                    <a:ext uri="{9D8B030D-6E8A-4147-A177-3AD203B41FA5}">
                      <a16:colId xmlns:a16="http://schemas.microsoft.com/office/drawing/2014/main" val="40004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단가 (월)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2026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2027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기준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숙소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377.0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월세 150 + 부대 38.5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원격 교통비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64.5 / 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129.0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1,548.0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KTX 주 1.5회 · 1→2인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차량 렌트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1년 계약 · 보증금 없음 · 1대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차량 운영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360.0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1대 · 월 2,000km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파견수당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 / 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720.0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1→2인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726.0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5,490.0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운영비 합계 (사무실 포함)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948.1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6,822.8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출장비 절감 (차감)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(164.8)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(1,977.6)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숙박·일비·교통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운영비 순증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783.3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4,845.2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B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운영비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948만 원 · 2027 6,823만 원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 월 고정비 111.07만 원 + 숙소 188.5만 원 + 파견·차량 운영 · 출장비 절감 차감 시 2027 순증 4,845만 원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1588230"/>
            <a:ext cx="520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 월 고정비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3324595" y="1616577"/>
            <a:ext cx="400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VAT 포함, 만 원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93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9504595" y="1588230"/>
            <a:ext cx="520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숙소 · 인력 · 차량 운영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3104595" y="1616577"/>
            <a:ext cx="400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만 원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 개설·운영 예산 품의 · 별첨 · 내부 결재용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Rounded Rectangle 27"/>
          <p:cNvSpPr/>
          <p:nvPr/>
        </p:nvSpPr>
        <p:spPr>
          <a:xfrm>
            <a:off x="914400" y="6500000"/>
            <a:ext cx="16459200" cy="1500000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6500000"/>
            <a:ext cx="57607" cy="15000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6650000"/>
            <a:ext cx="16079200" cy="13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700"/>
              </a:spcAft>
            </a:pPr>
            <a:r>
              <a:rPr sz="1250" b="1">
                <a:solidFill>
                  <a:srgbClr val="0E2240"/>
                </a:solidFill>
                <a:latin typeface="Noto Sans KR"/>
                <a:ea typeface="Noto Sans KR"/>
              </a:rPr>
              <a:t>산출 기준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기간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2026은 11~12월 2개월(파견 1인 · 차량 1대), 2027은 12개월(파견 2인 · 차량 1대 유지). 사무실 월 고정비는 두 해 모두 같은 월 금액 적용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출장비 절감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파견자 월 4회 × (숙박 5 + 일비 3.6 + KTX 10 + 택시 2) — 2026 1인 2개월, 2027 2인 12개월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관리비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예치금 기준 월 24만 원 + VAT 추정, 실비 정산으로 변동 가능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2073445"/>
          <a:ext cx="16459200" cy="2036988"/>
        </p:xfrm>
        <a:graphic>
          <a:graphicData uri="http://schemas.openxmlformats.org/drawingml/2006/table">
            <a:tbl>
              <a:tblPr/>
              <a:tblGrid>
                <a:gridCol w="3300000">
                  <a:extLst>
                    <a:ext uri="{9D8B030D-6E8A-4147-A177-3AD203B41FA5}">
                      <a16:colId xmlns:a16="http://schemas.microsoft.com/office/drawing/2014/main" val="40000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4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40002"/>
                    </a:ext>
                  </a:extLst>
                </a:gridCol>
                <a:gridCol w="10059200">
                  <a:extLst>
                    <a:ext uri="{9D8B030D-6E8A-4147-A177-3AD203B41FA5}">
                      <a16:colId xmlns:a16="http://schemas.microsoft.com/office/drawing/2014/main" val="40003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금액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지출 시기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근거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 보증금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5,000.0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2026.11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창원두산위브더센트럴 102동 · 월세 150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사무실 임대보증금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208.2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2026.11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임대료 34.7 × 6개월 · 경남TP 4동 703호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관리비 예치금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144.0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2026.11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24 × 6개월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 보증금 소계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5,352.2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차량 렌트 보증금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1년 렌트 계약 월 50만 원 — 보증금 없음, 2027 추가 차량 없음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보증금 · 현금 소요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현금 8,673만 원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(반환 5,352 포함)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보증금은 비용이 아닌 반환 자산 — 손익에 반영하지 않으나 2026.11 입주 시점에 현금이 일시 지출됨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1588230"/>
            <a:ext cx="520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보증금 (반환 자산)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3784595" y="1616577"/>
            <a:ext cx="400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만 원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914400" y="453840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104595" y="4500000"/>
            <a:ext cx="520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현금 소요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3554595" y="4528347"/>
            <a:ext cx="400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만 원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 개설·운영 예산 품의 · 별첨 · 내부 결재용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  <p:sp>
        <p:nvSpPr>
          <p:cNvPr id="15" name="Rounded Rectangle 14"/>
          <p:cNvSpPr/>
          <p:nvPr/>
        </p:nvSpPr>
        <p:spPr>
          <a:xfrm>
            <a:off x="914400" y="4950000"/>
            <a:ext cx="5334000" cy="11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4400" y="5080000"/>
            <a:ext cx="4934000" cy="4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B8860B"/>
                </a:solidFill>
                <a:latin typeface="Noto Sans KR"/>
                <a:ea typeface="Noto Sans KR"/>
              </a:rPr>
              <a:t>3,320.8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4400" y="5550000"/>
            <a:ext cx="4934000" cy="2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비용 (손익 반영)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4400" y="5790000"/>
            <a:ext cx="4934000" cy="2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D6E8E"/>
                </a:solidFill>
                <a:latin typeface="Noto Sans KR"/>
                <a:ea typeface="Noto Sans KR"/>
              </a:rPr>
              <a:t>일회성 2,372.6 + 운영 948.1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7000" y="4950000"/>
            <a:ext cx="5334000" cy="11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7000" y="5080000"/>
            <a:ext cx="4934000" cy="4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0E2240"/>
                </a:solidFill>
                <a:latin typeface="Noto Sans KR"/>
                <a:ea typeface="Noto Sans KR"/>
              </a:rPr>
              <a:t>5,352.2</a:t>
            </a:r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7000" y="5550000"/>
            <a:ext cx="4934000" cy="2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보증금 (자산)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7000" y="5790000"/>
            <a:ext cx="4934000" cy="2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D6E8E"/>
                </a:solidFill>
                <a:latin typeface="Noto Sans KR"/>
                <a:ea typeface="Noto Sans KR"/>
              </a:rPr>
              <a:t>퇴거·계약 종료 시 반환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39600" y="4950000"/>
            <a:ext cx="5334000" cy="11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299600" y="5080000"/>
            <a:ext cx="4934000" cy="4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B8860B"/>
                </a:solidFill>
                <a:latin typeface="Noto Sans KR"/>
                <a:ea typeface="Noto Sans KR"/>
              </a:rPr>
              <a:t>8,673.0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99600" y="5550000"/>
            <a:ext cx="4934000" cy="2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2026 현금 소요 합계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99600" y="5790000"/>
            <a:ext cx="4934000" cy="2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D6E8E"/>
                </a:solidFill>
                <a:latin typeface="Noto Sans KR"/>
                <a:ea typeface="Noto Sans KR"/>
              </a:rPr>
              <a:t>11월 입주 시점 집중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8400" y="5330000"/>
            <a:ext cx="150000" cy="3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000" b="1">
                <a:solidFill>
                  <a:srgbClr val="4D6E8E"/>
                </a:solidFill>
                <a:latin typeface="Noto Sans KR"/>
                <a:ea typeface="Noto Sans KR"/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51000" y="5330000"/>
            <a:ext cx="150000" cy="3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000" b="1">
                <a:solidFill>
                  <a:srgbClr val="4D6E8E"/>
                </a:solidFill>
                <a:latin typeface="Noto Sans KR"/>
                <a:ea typeface="Noto Sans KR"/>
              </a:rPr>
              <a:t>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200000"/>
            <a:ext cx="16459200" cy="4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50" b="0">
                <a:solidFill>
                  <a:srgbClr val="4D6E8E"/>
                </a:solidFill>
                <a:latin typeface="Noto Sans KR"/>
                <a:ea typeface="Noto Sans KR"/>
              </a:rPr>
              <a:t>※ 차량은 1년 렌트 계약(월 50만 원, 보증금 없음)으로 1대 운영 — 2027 추가 렌트 없음. 인건비 0.15억(2026)은 별도.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2073445"/>
          <a:ext cx="16459200" cy="2371988"/>
        </p:xfrm>
        <a:graphic>
          <a:graphicData uri="http://schemas.openxmlformats.org/drawingml/2006/table">
            <a:tbl>
              <a:tblPr/>
              <a:tblGrid>
                <a:gridCol w="3900000">
                  <a:extLst>
                    <a:ext uri="{9D8B030D-6E8A-4147-A177-3AD203B41FA5}">
                      <a16:colId xmlns:a16="http://schemas.microsoft.com/office/drawing/2014/main" val="40000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4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4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40003"/>
                    </a:ext>
                  </a:extLst>
                </a:gridCol>
                <a:gridCol w="7959200">
                  <a:extLst>
                    <a:ext uri="{9D8B030D-6E8A-4147-A177-3AD203B41FA5}">
                      <a16:colId xmlns:a16="http://schemas.microsoft.com/office/drawing/2014/main" val="40004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계획서 v11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본 품의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차이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사유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사무실 임대료 + 운영비 (2027)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1,333.0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1,332.8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반영 완료 — 임대료 458(VAT 포함) + 운영비 875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사무실 임대료 + 운영비 (2026)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222.0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222.1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반영 완료 — 임대료 76 + 운영비 146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 집기·IT·환경 (A3)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1,331.2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1,331.2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반영 완료 — 체크리스트 표준안 + 예비비 10%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 일회성 비용 (08쪽)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2,372.6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2,372.6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반영 완료 — 사무 집기 + 숙소 설치 (0.24억)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운영비 순증 2026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783.0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783.3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출장비 절감 165 vs 164.8 반올림 차이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운영비 순증 2027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4,845.0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4,845.2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출장비 절감 1,978 vs 1,977.6 반올림 차이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0000" marB="30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계획서(v11)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정합성과 확인 사항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품의 금액은 계획서 v11의 A2 산출표 · 08쪽 손익과 일치 — 만 원 미만 단수 차이만 있음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1588230"/>
            <a:ext cx="520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계획서 v11과 대조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3784595" y="1616577"/>
            <a:ext cx="400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만 원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914400" y="523840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104595" y="5200000"/>
            <a:ext cx="520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사항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3554595" y="5228347"/>
            <a:ext cx="4000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집행 전 확정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 개설·운영 예산 품의 · 별첨 · 내부 결재용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  <p:sp>
        <p:nvSpPr>
          <p:cNvPr id="15" name="Rounded Rectangle 14"/>
          <p:cNvSpPr/>
          <p:nvPr/>
        </p:nvSpPr>
        <p:spPr>
          <a:xfrm>
            <a:off x="914400" y="5650000"/>
            <a:ext cx="8115300" cy="1900000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650000"/>
            <a:ext cx="57607" cy="19000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800000"/>
            <a:ext cx="7735300" cy="17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700"/>
              </a:spcAft>
            </a:pPr>
            <a:r>
              <a:rPr sz="1250" b="1">
                <a:solidFill>
                  <a:srgbClr val="0E2240"/>
                </a:solidFill>
                <a:latin typeface="Noto Sans KR"/>
                <a:ea typeface="Noto Sans KR"/>
              </a:rPr>
              <a:t>계획서 반영 현황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08쪽 손익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반영 완료 — 2026 일회성 0.24억, 2026 거점 영업손익 (0.47)억, 3개년 +7.31억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A2 산출표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반영 완료 — 사무실 월 111.07만(임대료 VAT 포함), 2027 경비 순증 0.48억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A3 표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반영 완료 — 사무 집기 1,331 (표준안)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58300" y="5650000"/>
            <a:ext cx="8115300" cy="1900000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58300" y="5650000"/>
            <a:ext cx="57607" cy="1900000"/>
          </a:xfrm>
          <a:prstGeom prst="roundRect">
            <a:avLst>
              <a:gd name="adj" fmla="val 50000"/>
            </a:avLst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6900" y="5800000"/>
            <a:ext cx="7735300" cy="17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700"/>
              </a:spcAft>
            </a:pPr>
            <a:r>
              <a:rPr sz="1250" b="1">
                <a:solidFill>
                  <a:srgbClr val="0E2240"/>
                </a:solidFill>
                <a:latin typeface="Noto Sans KR"/>
                <a:ea typeface="Noto Sans KR"/>
              </a:rPr>
              <a:t>집행 전 확정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차량 렌트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1년 계약 월 50만 원 — 보험·정비 포함 조건 확인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숙소 옵션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빌트인 쿡탑·냉장고·세탁기 포함 여부 (최대 206 감소)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관리비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사무실 월 26.4, 숙소 월 25 — 실제 부과액 확인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0E2240"/>
                </a:solidFill>
                <a:latin typeface="Noto Sans KR"/>
                <a:ea typeface="Noto Sans KR"/>
              </a:rPr>
              <a:t>면적 표기 </a:t>
            </a:r>
            <a:r>
              <a:rPr sz="1100" b="0">
                <a:solidFill>
                  <a:srgbClr val="1F2A37"/>
                </a:solidFill>
                <a:latin typeface="Noto Sans KR"/>
                <a:ea typeface="Noto Sans KR"/>
              </a:rPr>
              <a:t>체크리스트 '30평' ↔ 계약면적 93.79㎡(28.4평) · 전용 19.3평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6207</Words>
  <Application>Microsoft Office PowerPoint</Application>
  <PresentationFormat>사용자 지정</PresentationFormat>
  <Paragraphs>784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Noto Sans KR</vt:lpstr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Yeom jonghak</cp:lastModifiedBy>
  <cp:revision>4</cp:revision>
  <dcterms:created xsi:type="dcterms:W3CDTF">2026-09-30T02:35:14Z</dcterms:created>
  <dcterms:modified xsi:type="dcterms:W3CDTF">2026-10-29T11:20:04Z</dcterms:modified>
</cp:coreProperties>
</file>