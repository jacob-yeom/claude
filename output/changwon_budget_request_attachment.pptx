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7" r:id="rId29"/>
    <p:sldId id="278" r:id="rId30"/>
    <p:sldId id="279" r:id="rId31"/>
    <p:sldId id="280" r:id="rId32"/>
    <p:sldId id="281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결재용 · 예산 품의 별첨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개설·운영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Budget Request · 별첨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개설 집행 3,321만 원 · 2027 운영 예산 6,823만 원 · 보증금 5,352만 원(반환)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 · 숙소 · 차량 · 파견 운영 소요 예산과 산출 근거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Attachment to Budget Approval Request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3260000"/>
          <a:ext cx="10287000" cy="3936988"/>
        </p:xfrm>
        <a:graphic>
          <a:graphicData uri="http://schemas.openxmlformats.org/drawingml/2006/table">
            <a:tbl>
              <a:tblPr/>
              <a:tblGrid>
                <a:gridCol w="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3487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집기·비품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55개 품목 · 예비비 10% 포함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가구·가전·커튼·중개보수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임대료·관리비·렌탈·보안·소모품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(월세·부대비용)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188.5 · 1세대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 1인 → 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렌트·운영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월 50 + 운영 30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비용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3,321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(165)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(일회성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(반환)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 요약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집행 3,321만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2027 편성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경남TP 봉암 4동 703호 개설 · 창원 숙소 입주 · 2027 파견 2인 + 현지 3인 체제 — 인건비는 별도 품의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286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283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총괄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404595" y="285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원, 2026은 11~12월 2개월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3,321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집행 비용 (일회성 + 운영)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일회성 2,373 + 운영 948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3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49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5,352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49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보증금 (반환 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주거 5,000 · 사무실 352 · 차량 보증금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3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69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6,823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 예산 (연간)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69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파견 2인 · 차량 1대 · 12개월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302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6588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4,845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588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운영비 순증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588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출장비 절감 1,978 차감 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256988"/>
            <a:ext cx="10287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만 원 미만 반올림으로 합계에 단수 차이가 있을 수 있음 · 인건비(2026 0.15억 / 2027 2.10억)는 별도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0" y="2830000"/>
            <a:ext cx="5943600" cy="30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430000" y="2830000"/>
            <a:ext cx="57607" cy="30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980000"/>
            <a:ext cx="5563600" cy="28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결재 요청 사항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① 2026 개설 예산 집행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3,321만 원 (일회성 2,373 + 11~12월 운영 948)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② 보증금 지출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5,352만 원, 반환 자산으로 계상 (주거 5,000 · 사무실 임대 208 · 관리비 예치 144)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③ 2027 운영 예산 편성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연 6,823만 원, 출장비 절감 반영 순증 4,845만 원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집행 원칙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표준안 한도 내 집행, 50만 원 이상 품목은 2개사 이상 견적 비교, 보증금은 계약서·영수증으로 자산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9200000" cy="333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4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권장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선택(제외)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사무가구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IT·전산장비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53.2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휴게공간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공용·환경·안전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배송·설치·누락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5705433"/>
          <a:ext cx="9200000" cy="135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4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시나리오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구성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45개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979.0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 (품의안)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+ 권장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 포함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초기 투자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2,373만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사무소 1,331 · 숙소 1,041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사무소: 68개 품목 체크리스트 중 표준안(필수 + 권장) 55개 + 예비비 10% · 숙소: A4 주거비 상세의 표준안 기준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집기·비품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30평 · 상주 6인,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08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초기 설치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299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84㎡ · 2인,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0814400" y="2073445"/>
          <a:ext cx="6559200" cy="2671988"/>
        </p:xfrm>
        <a:graphic>
          <a:graphicData uri="http://schemas.openxmlformats.org/drawingml/2006/table">
            <a:tbl>
              <a:tblPr/>
              <a:tblGrid>
                <a:gridCol w="13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0092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주요 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소파·테이블·거실장·식탁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 (2실)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침대·책상·침구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6개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냉장고·세탁기·TV·밥솥·가스레인지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244.4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중개보수 (상한 0.3% + VAT)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10814400" y="5100000"/>
            <a:ext cx="6559200" cy="21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814400" y="5100000"/>
            <a:ext cx="57607" cy="21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3000" y="5250000"/>
            <a:ext cx="6179200" cy="19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 · 제외 항목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노트북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본사 지급 전제로 수량 0 — 구매 시 대당 160만 원 추가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기존 설비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전기·통신 배선, 냉난방기는 임대 사무실 기본 설비 — 제외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일괄 견적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창원 지역 인테리어 업체 통해 일괄 견적·설치 예정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쿡탑·냉장고·세탁기가 옵션이면 최대 206만 원 감소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실속안 숙소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611만 원 — 품의는 표준안 기준, 실속안 집행 시 430만 원 절감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7700000" cy="3376988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265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34.7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38.17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76.3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전기·상하수도 실비 정산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26.4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복합기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컬러 A3, 토너·A/S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정수기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냉온정수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기업 인터넷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500M~1G, 3년 약정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서비스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무인경비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6인 기준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용지·문구 보충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111.07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314400" y="2073445"/>
          <a:ext cx="8059200" cy="3376988"/>
        </p:xfrm>
        <a:graphic>
          <a:graphicData uri="http://schemas.openxmlformats.org/drawingml/2006/table">
            <a:tbl>
              <a:tblPr/>
              <a:tblGrid>
                <a:gridCol w="21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24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단가 (월)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기준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 150 + 부대 38.5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64.5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 주 1.5회 · 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계약 · 보증금 없음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1대 · 월 2,000km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합계 (사무실 포함)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948.1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(차감)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(164.8)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(1,977.6)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운영비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948만 원 · 2027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 111.07만 원 + 숙소 188.5만 원 + 파견·차량 운영 · 출장비 절감 차감 시 2027 순증 4,845만 원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3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5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· 인력 · 차량 운영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310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914400" y="6500000"/>
            <a:ext cx="16459200" cy="15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6500000"/>
            <a:ext cx="57607" cy="15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650000"/>
            <a:ext cx="16079200" cy="1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2026은 11~12월 2개월(파견 1인 · 차량 1대), 2027은 12개월(파견 2인 · 차량 1대 유지). 사무실 월 고정비는 두 해 모두 같은 월 금액 적용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출장비 절감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파견자 월 4회 × (숙박 5 + 일비 3.6 + KTX 10 + 택시 2) — 2026 1인 2개월, 2027 2인 12개월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예치금 기준 월 24만 원 + VAT 추정, 실비 정산으로 변동 가능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036988"/>
        </p:xfrm>
        <a:graphic>
          <a:graphicData uri="http://schemas.openxmlformats.org/drawingml/2006/table">
            <a:tbl>
              <a:tblPr/>
              <a:tblGrid>
                <a:gridCol w="33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00592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지출 시기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창원두산위브더센트럴 102동 · 월세 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34.7 × 6개월 · 경남TP 4동 703호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24 × 6개월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보증금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계약 월 50만 원 — 보증금 없음, 2027 추가 차량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· 현금 소요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8,673만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(반환 5,352 포함)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비용이 아닌 반환 자산 — 손익에 반영하지 않으나 2026.11 입주 시점에 현금이 일시 지출됨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(반환 자산)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78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45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45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소요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45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44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3,320.8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44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비용 (손익 반영)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44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일회성 2,372.6 + 운영 948.1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70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0E2240"/>
                </a:solidFill>
                <a:latin typeface="Noto Sans KR"/>
                <a:ea typeface="Noto Sans KR"/>
              </a:rPr>
              <a:t>5,352.2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0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보증금 (자산)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70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퇴거·계약 종료 시 반환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396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996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8,673.0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96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2026 현금 소요 합계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996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11월 입주 시점 집중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84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510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200000"/>
            <a:ext cx="16459200" cy="4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※ 차량은 1년 렌트 계약(월 50만 원, 보증금 없음)으로 1대 운영 — 2027 추가 렌트 없음. 인건비 0.15억(2026)은 별도.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371988"/>
        </p:xfrm>
        <a:graphic>
          <a:graphicData uri="http://schemas.openxmlformats.org/drawingml/2006/table">
            <a:tbl>
              <a:tblPr/>
              <a:tblGrid>
                <a:gridCol w="3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79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v11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본 품의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차이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(2027)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 VAT 포함, 렌탈·보안·탕비 소모품 세분화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170.0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운영비 월 50 → 월 고정비 111.07 적용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집기·IT·환경 (A3)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반영 완료 — 체크리스트 표준안 + 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일회성 비용 (08쪽)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2,372.6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2,372.6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반영 완료 — 사무 집기 + 숙소 설치 (0.24억)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731.0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+77.2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계획서(v11) 대비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차이와 확인 사항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품의는 사무소 물품 체크리스트 · 월 고정비 · 주거비 상세를 반영한 집행 기준 — 계획서의 추정치보다 정밀함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대비 차이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2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2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52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집행 전 확정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계획서 반영 현황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08쪽 손익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반영 완료 — 2026 일회성 0.24억, 2026 거점 영업손익 (0.46)억, 3개년 +7.33억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A2 산출표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미반영 — 사무실 운영비 월 70만 vs 월 고정비 111.07만(임대료 포함)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A3 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반영 완료 — 사무 집기 1,331 (표준안)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583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83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69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집행 전 확정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차량 렌트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1년 계약 월 50만 원 — 보험·정비 포함 조건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 포함 여부 (최대 206 감소)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월 26.4, 숙소 월 25 — 실제 부과액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면적 표기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체크리스트 '30평' ↔ 계약면적 93.79㎡(28.4평) · 전용 19.3평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