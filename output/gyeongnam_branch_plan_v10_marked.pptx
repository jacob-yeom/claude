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64" r:id="rId11"/>
    <p:sldId id="273" r:id="rId12"/>
    <p:sldId id="265" r:id="rId13"/>
    <p:sldId id="266" r:id="rId14"/>
    <p:sldId id="267" r:id="rId15"/>
    <p:sldId id="268" r:id="rId16"/>
    <p:sldId id="276" r:id="rId28"/>
    <p:sldId id="269" r:id="rId17"/>
    <p:sldId id="270" r:id="rId18"/>
    <p:sldId id="271" r:id="rId19"/>
    <p:sldId id="272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6CF065-700E-48A5-9A1A-9B7EF1BDA3BB}" v="22" dt="2026-10-29T11:19:55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177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Relationship Id="rId28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om jonghak" userId="9c5ca5bb9745038e" providerId="LiveId" clId="{18183C8E-F94C-411A-9108-9D94713FAEC6}"/>
    <pc:docChg chg="undo custSel addSld delSld modSld">
      <pc:chgData name="Yeom jonghak" userId="9c5ca5bb9745038e" providerId="LiveId" clId="{18183C8E-F94C-411A-9108-9D94713FAEC6}" dt="2026-10-29T11:20:00.591" v="706" actId="2696"/>
      <pc:docMkLst>
        <pc:docMk/>
      </pc:docMkLst>
      <pc:sldChg chg="modSp mod">
        <pc:chgData name="Yeom jonghak" userId="9c5ca5bb9745038e" providerId="LiveId" clId="{18183C8E-F94C-411A-9108-9D94713FAEC6}" dt="2026-10-29T11:19:22.438" v="704" actId="20577"/>
        <pc:sldMkLst>
          <pc:docMk/>
          <pc:sldMk cId="0" sldId="256"/>
        </pc:sldMkLst>
        <pc:spChg chg="mod">
          <ac:chgData name="Yeom jonghak" userId="9c5ca5bb9745038e" providerId="LiveId" clId="{18183C8E-F94C-411A-9108-9D94713FAEC6}" dt="2026-10-29T11:19:22.438" v="70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7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7"/>
            <ac:spMk id="46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8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8"/>
            <ac:spMk id="44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5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59"/>
            <ac:spMk id="7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0"/>
        </pc:sldMkLst>
        <pc:spChg chg="mod">
          <ac:chgData name="Yeom jonghak" userId="9c5ca5bb9745038e" providerId="LiveId" clId="{18183C8E-F94C-411A-9108-9D94713FAEC6}" dt="2026-10-29T08:33:12.087" v="462" actId="25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0"/>
            <ac:spMk id="81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1"/>
            <ac:spMk id="67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2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2"/>
            <ac:spMk id="99" creationId="{00000000-0000-0000-0000-000000000000}"/>
          </ac:spMkLst>
        </pc:spChg>
      </pc:sldChg>
      <pc:sldChg chg="modSp del mod">
        <pc:chgData name="Yeom jonghak" userId="9c5ca5bb9745038e" providerId="LiveId" clId="{18183C8E-F94C-411A-9108-9D94713FAEC6}" dt="2026-10-29T11:20:00.591" v="706" actId="2696"/>
        <pc:sldMkLst>
          <pc:docMk/>
          <pc:sldMk cId="0" sldId="263"/>
        </pc:sldMkLst>
        <pc:spChg chg="mod">
          <ac:chgData name="Yeom jonghak" userId="9c5ca5bb9745038e" providerId="LiveId" clId="{18183C8E-F94C-411A-9108-9D94713FAEC6}" dt="2026-10-29T09:53:03.545" v="696" actId="20577"/>
          <ac:spMkLst>
            <pc:docMk/>
            <pc:sldMk cId="0" sldId="263"/>
            <ac:spMk id="3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1:53.527" v="398" actId="20577"/>
          <ac:spMkLst>
            <pc:docMk/>
            <pc:sldMk cId="0" sldId="263"/>
            <ac:spMk id="3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3:10.001" v="697" actId="20577"/>
          <ac:spMkLst>
            <pc:docMk/>
            <pc:sldMk cId="0" sldId="263"/>
            <ac:spMk id="3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8:47.498" v="702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2:02.697" v="399" actId="20577"/>
          <ac:spMkLst>
            <pc:docMk/>
            <pc:sldMk cId="0" sldId="263"/>
            <ac:spMk id="5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3"/>
            <ac:spMk id="5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25.381" v="698" actId="20577"/>
          <ac:spMkLst>
            <pc:docMk/>
            <pc:sldMk cId="0" sldId="263"/>
            <ac:spMk id="8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4:30.847" v="700" actId="20577"/>
          <ac:spMkLst>
            <pc:docMk/>
            <pc:sldMk cId="0" sldId="263"/>
            <ac:spMk id="8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4"/>
        </pc:sldMkLst>
        <pc:spChg chg="mod">
          <ac:chgData name="Yeom jonghak" userId="9c5ca5bb9745038e" providerId="LiveId" clId="{18183C8E-F94C-411A-9108-9D94713FAEC6}" dt="2026-10-29T08:33:55.862" v="495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4"/>
            <ac:spMk id="39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66"/>
        </pc:sldMkLst>
        <pc:spChg chg="mod">
          <ac:chgData name="Yeom jonghak" userId="9c5ca5bb9745038e" providerId="LiveId" clId="{18183C8E-F94C-411A-9108-9D94713FAEC6}" dt="2026-10-29T08:36:07.646" v="502" actId="20577"/>
          <ac:spMkLst>
            <pc:docMk/>
            <pc:sldMk cId="0" sldId="266"/>
            <ac:spMk id="2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40:55.687" v="533" actId="113"/>
          <ac:spMkLst>
            <pc:docMk/>
            <pc:sldMk cId="0" sldId="266"/>
            <ac:spMk id="2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6"/>
            <ac:spMk id="103" creationId="{00000000-0000-0000-0000-000000000000}"/>
          </ac:spMkLst>
        </pc:spChg>
      </pc:sldChg>
      <pc:sldChg chg="addSp delSp modSp mod">
        <pc:chgData name="Yeom jonghak" userId="9c5ca5bb9745038e" providerId="LiveId" clId="{18183C8E-F94C-411A-9108-9D94713FAEC6}" dt="2026-10-29T08:27:44.498" v="395" actId="20577"/>
        <pc:sldMkLst>
          <pc:docMk/>
          <pc:sldMk cId="0" sldId="267"/>
        </pc:sldMkLst>
        <pc:spChg chg="add del mod">
          <ac:chgData name="Yeom jonghak" userId="9c5ca5bb9745038e" providerId="LiveId" clId="{18183C8E-F94C-411A-9108-9D94713FAEC6}" dt="2026-10-29T08:23:02.478" v="379" actId="478"/>
          <ac:spMkLst>
            <pc:docMk/>
            <pc:sldMk cId="0" sldId="267"/>
            <ac:spMk id="3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48.938" v="387" actId="108"/>
          <ac:spMkLst>
            <pc:docMk/>
            <pc:sldMk cId="0" sldId="267"/>
            <ac:spMk id="6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55.001" v="388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5:01.337" v="389"/>
          <ac:spMkLst>
            <pc:docMk/>
            <pc:sldMk cId="0" sldId="267"/>
            <ac:spMk id="8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7:44.498" v="39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4:32.479" v="385" actId="10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21:51.150" v="372" actId="20577"/>
          <ac:spMkLst>
            <pc:docMk/>
            <pc:sldMk cId="0" sldId="267"/>
            <ac:spMk id="11" creationId="{00000000-0000-0000-0000-000000000000}"/>
          </ac:spMkLst>
        </pc:spChg>
        <pc:graphicFrameChg chg="add mod modGraphic">
          <ac:chgData name="Yeom jonghak" userId="9c5ca5bb9745038e" providerId="LiveId" clId="{18183C8E-F94C-411A-9108-9D94713FAEC6}" dt="2026-10-29T08:23:32.975" v="382" actId="572"/>
          <ac:graphicFrameMkLst>
            <pc:docMk/>
            <pc:sldMk cId="0" sldId="267"/>
            <ac:graphicFrameMk id="2" creationId="{DBACEA7F-52BE-8391-A9B4-D59B2B0280D7}"/>
          </ac:graphicFrameMkLst>
        </pc:graphicFrameChg>
        <pc:graphicFrameChg chg="del mod modGraphic">
          <ac:chgData name="Yeom jonghak" userId="9c5ca5bb9745038e" providerId="LiveId" clId="{18183C8E-F94C-411A-9108-9D94713FAEC6}" dt="2026-10-29T08:21:47.552" v="368" actId="478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Yeom jonghak" userId="9c5ca5bb9745038e" providerId="LiveId" clId="{18183C8E-F94C-411A-9108-9D94713FAEC6}" dt="2026-10-29T09:50:50.466" v="690" actId="20577"/>
        <pc:sldMkLst>
          <pc:docMk/>
          <pc:sldMk cId="0" sldId="268"/>
        </pc:sldMkLst>
        <pc:spChg chg="mod">
          <ac:chgData name="Yeom jonghak" userId="9c5ca5bb9745038e" providerId="LiveId" clId="{18183C8E-F94C-411A-9108-9D94713FAEC6}" dt="2026-10-29T06:34:09.438" v="209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29:33.958" v="15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Yeom jonghak" userId="9c5ca5bb9745038e" providerId="LiveId" clId="{18183C8E-F94C-411A-9108-9D94713FAEC6}" dt="2026-10-29T08:35:24.162" v="498" actId="2057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Yeom jonghak" userId="9c5ca5bb9745038e" providerId="LiveId" clId="{18183C8E-F94C-411A-9108-9D94713FAEC6}" dt="2026-10-29T06:33:13.142" v="201" actId="20577"/>
          <ac:spMkLst>
            <pc:docMk/>
            <pc:sldMk cId="0" sldId="268"/>
            <ac:spMk id="13" creationId="{00000000-0000-0000-0000-000000000000}"/>
          </ac:spMkLst>
        </pc:spChg>
        <pc:graphicFrameChg chg="mod modGraphic">
          <ac:chgData name="Yeom jonghak" userId="9c5ca5bb9745038e" providerId="LiveId" clId="{18183C8E-F94C-411A-9108-9D94713FAEC6}" dt="2026-10-29T09:50:50.466" v="690" actId="20577"/>
          <ac:graphicFrameMkLst>
            <pc:docMk/>
            <pc:sldMk cId="0" sldId="268"/>
            <ac:graphicFrameMk id="14" creationId="{00000000-0000-0000-0000-000000000000}"/>
          </ac:graphicFrameMkLst>
        </pc:graphicFrameChg>
        <pc:graphicFrameChg chg="mod modGraphic">
          <ac:chgData name="Yeom jonghak" userId="9c5ca5bb9745038e" providerId="LiveId" clId="{18183C8E-F94C-411A-9108-9D94713FAEC6}" dt="2026-10-29T09:33:37.150" v="534" actId="20577"/>
          <ac:graphicFrameMkLst>
            <pc:docMk/>
            <pc:sldMk cId="0" sldId="268"/>
            <ac:graphicFrameMk id="27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69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69"/>
            <ac:spMk id="93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2:12.097" v="694"/>
        <pc:sldMkLst>
          <pc:docMk/>
          <pc:sldMk cId="0" sldId="270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0"/>
            <ac:spMk id="2" creationId="{00000000-0000-0000-0000-000000000000}"/>
          </ac:spMkLst>
        </pc:spChg>
        <pc:graphicFrameChg chg="modGraphic">
          <ac:chgData name="Yeom jonghak" userId="9c5ca5bb9745038e" providerId="LiveId" clId="{18183C8E-F94C-411A-9108-9D94713FAEC6}" dt="2026-10-29T08:31:45.964" v="397" actId="20577"/>
          <ac:graphicFrameMkLst>
            <pc:docMk/>
            <pc:sldMk cId="0" sldId="270"/>
            <ac:graphicFrameMk id="16" creationId="{00000000-0000-0000-0000-000000000000}"/>
          </ac:graphicFrameMkLst>
        </pc:graphicFrame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0" sldId="271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0" sldId="271"/>
            <ac:spMk id="24" creationId="{00000000-0000-0000-0000-000000000000}"/>
          </ac:spMkLst>
        </pc:spChg>
      </pc:sldChg>
      <pc:sldChg chg="modSp mod">
        <pc:chgData name="Yeom jonghak" userId="9c5ca5bb9745038e" providerId="LiveId" clId="{18183C8E-F94C-411A-9108-9D94713FAEC6}" dt="2026-10-29T09:51:41.742" v="692" actId="20577"/>
        <pc:sldMkLst>
          <pc:docMk/>
          <pc:sldMk cId="0" sldId="272"/>
        </pc:sldMkLst>
        <pc:spChg chg="mod">
          <ac:chgData name="Yeom jonghak" userId="9c5ca5bb9745038e" providerId="LiveId" clId="{18183C8E-F94C-411A-9108-9D94713FAEC6}" dt="2026-10-29T09:51:41.742" v="692" actId="20577"/>
          <ac:spMkLst>
            <pc:docMk/>
            <pc:sldMk cId="0" sldId="272"/>
            <ac:spMk id="9" creationId="{00000000-0000-0000-0000-000000000000}"/>
          </ac:spMkLst>
        </pc:spChg>
      </pc:sldChg>
      <pc:sldChg chg="modSp">
        <pc:chgData name="Yeom jonghak" userId="9c5ca5bb9745038e" providerId="LiveId" clId="{18183C8E-F94C-411A-9108-9D94713FAEC6}" dt="2026-10-29T09:52:12.097" v="694"/>
        <pc:sldMkLst>
          <pc:docMk/>
          <pc:sldMk cId="2594590798" sldId="273"/>
        </pc:sldMkLst>
        <pc:spChg chg="mod">
          <ac:chgData name="Yeom jonghak" userId="9c5ca5bb9745038e" providerId="LiveId" clId="{18183C8E-F94C-411A-9108-9D94713FAEC6}" dt="2026-10-29T09:52:12.097" v="694"/>
          <ac:spMkLst>
            <pc:docMk/>
            <pc:sldMk cId="2594590798" sldId="273"/>
            <ac:spMk id="39" creationId="{7E164520-8574-B7B9-2E50-1A8B37F19020}"/>
          </ac:spMkLst>
        </pc:spChg>
      </pc:sldChg>
      <pc:sldChg chg="add setBg">
        <pc:chgData name="Yeom jonghak" userId="9c5ca5bb9745038e" providerId="LiveId" clId="{18183C8E-F94C-411A-9108-9D94713FAEC6}" dt="2026-10-29T11:19:55.766" v="705"/>
        <pc:sldMkLst>
          <pc:docMk/>
          <pc:sldMk cId="0" sldId="274"/>
        </pc:sldMkLst>
      </pc:sldChg>
      <pc:sldChg chg="add">
        <pc:chgData name="Yeom jonghak" userId="9c5ca5bb9745038e" providerId="LiveId" clId="{18183C8E-F94C-411A-9108-9D94713FAEC6}" dt="2026-10-29T11:19:55.766" v="705"/>
        <pc:sldMkLst>
          <pc:docMk/>
          <pc:sldMk cId="0" sldId="27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7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22937-E039-F099-79DF-38280ED76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E747-0772-D6AB-7E8E-7E6ED0326D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161E5-FBB3-22EE-FE0E-9508FF64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468B6-F612-6CDA-6F56-6BD45EB75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0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ecf28173d4aac47dcbcd1fc85055bedb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382305" y="0"/>
            <a:ext cx="10477195" cy="10287000"/>
          </a:xfrm>
          <a:prstGeom prst="rect">
            <a:avLst/>
          </a:prstGeom>
        </p:spPr>
      </p:pic>
      <p:pic>
        <p:nvPicPr>
          <p:cNvPr id="4" name="Image 2" descr="gen-dedup-d72af8499fea713436cc397e23859a09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3144500" y="2095805"/>
            <a:ext cx="4953305" cy="4953305"/>
          </a:xfrm>
          <a:prstGeom prst="ellipse">
            <a:avLst/>
          </a:prstGeom>
          <a:noFill/>
          <a:ln w="12700">
            <a:solidFill>
              <a:srgbClr val="B8860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13716000" y="2667305"/>
            <a:ext cx="3810305" cy="3810305"/>
          </a:xfrm>
          <a:prstGeom prst="ellipse">
            <a:avLst/>
          </a:prstGeom>
          <a:noFill/>
          <a:ln w="12700">
            <a:solidFill>
              <a:srgbClr val="B886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14477695" y="3429000"/>
            <a:ext cx="2286000" cy="2286000"/>
          </a:xfrm>
          <a:prstGeom prst="ellipse">
            <a:avLst/>
          </a:prstGeom>
          <a:noFill/>
          <a:ln w="12700">
            <a:solidFill>
              <a:srgbClr val="E2B23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3" descr="gen-dedup-d6659cdc35e2f31f8645301e667090c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049195" y="4000500"/>
            <a:ext cx="1143000" cy="1143000"/>
          </a:xfrm>
          <a:prstGeom prst="rect">
            <a:avLst/>
          </a:prstGeom>
        </p:spPr>
      </p:pic>
      <p:pic>
        <p:nvPicPr>
          <p:cNvPr id="9" name="Image 4" descr="gen-dedup-c54f620b4818ddb68cc679f84e1874a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144500" y="2095805"/>
            <a:ext cx="5143500" cy="5143500"/>
          </a:xfrm>
          <a:prstGeom prst="rect">
            <a:avLst/>
          </a:prstGeom>
        </p:spPr>
      </p:pic>
      <p:pic>
        <p:nvPicPr>
          <p:cNvPr id="10" name="Image 5" descr="gen-dedup-17d777abac9171ac847998b957fa702c.png"/>
          <p:cNvPicPr>
            <a:picLocks noChangeAspect="1"/>
          </p:cNvPicPr>
          <p:nvPr/>
        </p:nvPicPr>
        <p:blipFill>
          <a:blip r:embed="rId8"/>
          <a:srcRect t="-10" b="-10"/>
          <a:stretch/>
        </p:blipFill>
        <p:spPr>
          <a:xfrm>
            <a:off x="12859207" y="7048195"/>
            <a:ext cx="4572000" cy="1524305"/>
          </a:xfrm>
          <a:prstGeom prst="rect">
            <a:avLst/>
          </a:prstGeom>
        </p:spPr>
      </p:pic>
      <p:sp>
        <p:nvSpPr>
          <p:cNvPr id="11" name="Text 3"/>
          <p:cNvSpPr txBox="1"/>
          <p:nvPr/>
        </p:nvSpPr>
        <p:spPr>
          <a:xfrm>
            <a:off x="1143000" y="13331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kern="0" spc="66" dirty="0">
                <a:solidFill>
                  <a:srgbClr val="D4A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· 경영진 보고 · 2026. 10</a:t>
            </a:r>
            <a:endParaRPr lang="en-US" sz="1650" dirty="0"/>
          </a:p>
        </p:txBody>
      </p:sp>
      <p:sp>
        <p:nvSpPr>
          <p:cNvPr id="12" name="Text 4"/>
          <p:cNvSpPr txBox="1"/>
          <p:nvPr/>
        </p:nvSpPr>
        <p:spPr>
          <a:xfrm>
            <a:off x="1143000" y="1981505"/>
            <a:ext cx="10478110" cy="2086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</a:t>
            </a:r>
            <a:endParaRPr lang="en-US" sz="78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7800" b="1" kern="0" spc="-117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</a:t>
            </a:r>
            <a:r>
              <a:rPr lang="en-US" sz="7800" b="1" kern="0" spc="-117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방안</a:t>
            </a:r>
            <a:endParaRPr lang="en-US" sz="7800" dirty="0"/>
          </a:p>
        </p:txBody>
      </p:sp>
      <p:sp>
        <p:nvSpPr>
          <p:cNvPr id="13" name="Text 5"/>
          <p:cNvSpPr txBox="1"/>
          <p:nvPr/>
        </p:nvSpPr>
        <p:spPr>
          <a:xfrm>
            <a:off x="1181405" y="5143500"/>
            <a:ext cx="9525305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9D9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Executive Brief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81405" y="5952744"/>
            <a:ext cx="1333561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2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</a:t>
            </a:r>
            <a:endParaRPr lang="en-US" sz="1950" dirty="0"/>
          </a:p>
        </p:txBody>
      </p:sp>
      <p:sp>
        <p:nvSpPr>
          <p:cNvPr id="15" name="Text 7"/>
          <p:cNvSpPr txBox="1"/>
          <p:nvPr/>
        </p:nvSpPr>
        <p:spPr>
          <a:xfrm>
            <a:off x="1181405" y="6724498"/>
            <a:ext cx="8382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AX 사업은 영남권에 집중되어 있다 — 사무소로 시작해 지사로 키운다</a:t>
            </a:r>
            <a:endParaRPr lang="en-US" sz="1650" dirty="0"/>
          </a:p>
        </p:txBody>
      </p:sp>
      <p:pic>
        <p:nvPicPr>
          <p:cNvPr id="16" name="Image 6" descr="gen-dedup-8d8a5e5a1cdb960f737a73e7f41e66ec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7905902"/>
            <a:ext cx="1143000" cy="38405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143000" y="8287207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1143000" y="8762695"/>
            <a:ext cx="85725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kern="0" spc="3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for Executive Review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52498"/>
            <a:ext cx="16459200" cy="1181405"/>
          </a:xfrm>
          <a:prstGeom prst="roundRect">
            <a:avLst>
              <a:gd name="adj" fmla="val 14551"/>
            </a:avLst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5151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115800" y="3619195"/>
            <a:ext cx="5372100" cy="2495398"/>
          </a:xfrm>
          <a:prstGeom prst="roundRect">
            <a:avLst>
              <a:gd name="adj" fmla="val 6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b180c6a6c44efed85cd870beba320e4.png"/>
          <p:cNvPicPr>
            <a:picLocks noChangeAspect="1"/>
          </p:cNvPicPr>
          <p:nvPr/>
        </p:nvPicPr>
        <p:blipFill>
          <a:blip r:embed="rId3"/>
          <a:srcRect l="-385" r="-385"/>
          <a:stretch/>
        </p:blipFill>
        <p:spPr>
          <a:xfrm>
            <a:off x="914400" y="6344107"/>
            <a:ext cx="761695" cy="2834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8706002"/>
            <a:ext cx="16459200" cy="761695"/>
          </a:xfrm>
          <a:prstGeom prst="roundRect">
            <a:avLst>
              <a:gd name="adj" fmla="val 1752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ab2287edde8b18adebe19387902f209c.png"/>
          <p:cNvPicPr>
            <a:picLocks noChangeAspect="1"/>
          </p:cNvPicPr>
          <p:nvPr/>
        </p:nvPicPr>
        <p:blipFill>
          <a:blip r:embed="rId4"/>
          <a:srcRect t="-2111" b="-2111"/>
          <a:stretch/>
        </p:blipFill>
        <p:spPr>
          <a:xfrm>
            <a:off x="2065013" y="2296202"/>
            <a:ext cx="9144" cy="6099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200607" y="3866998"/>
            <a:ext cx="286207" cy="342900"/>
          </a:xfrm>
          <a:prstGeom prst="roundRect">
            <a:avLst>
              <a:gd name="adj" fmla="val 4984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 txBox="1"/>
          <p:nvPr/>
        </p:nvSpPr>
        <p:spPr>
          <a:xfrm>
            <a:off x="914400" y="761695"/>
            <a:ext cx="1628455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설립 </a:t>
            </a:r>
            <a:r>
              <a:rPr lang="en-US" sz="3450" b="1" kern="0" spc="-34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방안</a:t>
            </a:r>
            <a:r>
              <a:rPr lang="en-US" sz="3450" b="1" kern="0" spc="-34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2026.11 창원 1인 개설, 2027년 5인 확대 후 지사 전환</a:t>
            </a:r>
            <a:endParaRPr lang="en-US" sz="34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1447495"/>
            <a:ext cx="156975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 사업은 영남권에 집중 — 사무소로 시작해 지사로 키운다</a:t>
            </a:r>
            <a:endParaRPr lang="en-US" sz="1950" dirty="0"/>
          </a:p>
        </p:txBody>
      </p:sp>
      <p:sp>
        <p:nvSpPr>
          <p:cNvPr id="13" name="Shape 8"/>
          <p:cNvSpPr/>
          <p:nvPr/>
        </p:nvSpPr>
        <p:spPr>
          <a:xfrm>
            <a:off x="998823" y="2219392"/>
            <a:ext cx="16459200" cy="1181405"/>
          </a:xfrm>
          <a:prstGeom prst="roundRect">
            <a:avLst>
              <a:gd name="adj" fmla="val 14551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/>
          <p:nvPr/>
        </p:nvSpPr>
        <p:spPr>
          <a:xfrm>
            <a:off x="998823" y="3001204"/>
            <a:ext cx="16459200" cy="39959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2370423" y="2238595"/>
            <a:ext cx="14287500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906"/>
              </a:lnSpc>
              <a:buNone/>
            </a:pP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"2026.11 경남사무소를 1인(영업/PM)으로 개설, 2027년 수석 엔지니어 파견·현지 채용 3인으로 5인 체제 완성 — 엔지니어 2인 </a:t>
            </a:r>
            <a:r>
              <a:rPr lang="ko-KR" alt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</a:t>
            </a:r>
            <a:r>
              <a:rPr lang="en-US" sz="1875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인건비는</a:t>
            </a:r>
            <a:r>
              <a:rPr lang="en-US" sz="1875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PI-LAM 과제비 충당. 2027.6 검증 후 제조AX기술센터 @경남으로 전환한다."</a:t>
            </a:r>
            <a:endParaRPr lang="en-US" sz="1875" dirty="0"/>
          </a:p>
        </p:txBody>
      </p:sp>
      <p:sp>
        <p:nvSpPr>
          <p:cNvPr id="16" name="Text 11"/>
          <p:cNvSpPr txBox="1"/>
          <p:nvPr/>
        </p:nvSpPr>
        <p:spPr>
          <a:xfrm>
            <a:off x="1333195" y="3924605"/>
            <a:ext cx="149961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확보된 근거 사업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200607" y="4362602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79억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(3건, 2026~2030 다년)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200607" y="4895698"/>
            <a:ext cx="48006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76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몫: 영풍 10억(매출인식) · 포항 12억(매출인식, '27년 이후 7억 추가) · PI-LAM 50억(과제). + 창원대 연계 2건 (5~10억, 매출인식, 협의 중)</a:t>
            </a:r>
            <a:endParaRPr lang="en-US" sz="1275" dirty="0"/>
          </a:p>
        </p:txBody>
      </p:sp>
      <p:sp>
        <p:nvSpPr>
          <p:cNvPr id="19" name="Text 14"/>
          <p:cNvSpPr txBox="1"/>
          <p:nvPr/>
        </p:nvSpPr>
        <p:spPr>
          <a:xfrm>
            <a:off x="6801307" y="3866998"/>
            <a:ext cx="84216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운영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801307" y="4362602"/>
            <a:ext cx="4800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→ </a:t>
            </a:r>
            <a:r>
              <a:rPr lang="en-US" sz="19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</a:t>
            </a:r>
            <a:r>
              <a:rPr lang="en-US" sz="15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체제</a:t>
            </a:r>
            <a:endParaRPr lang="en-US" sz="1950" dirty="0"/>
          </a:p>
        </p:txBody>
      </p:sp>
      <p:sp>
        <p:nvSpPr>
          <p:cNvPr id="21" name="Text 16"/>
          <p:cNvSpPr txBox="1"/>
          <p:nvPr/>
        </p:nvSpPr>
        <p:spPr>
          <a:xfrm>
            <a:off x="6801307" y="4957877"/>
            <a:ext cx="48006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수석 엔지니어 파견(1Q) + 현지 채용 3인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2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(연내 완료, 연말 5인 — 엔지니어 2인 인건비 과제비)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402007" y="3866998"/>
            <a:ext cx="120700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2402007" y="4304995"/>
            <a:ext cx="48006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+1.60억 원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</a:t>
            </a:r>
            <a:endParaRPr lang="en-US" sz="1650" dirty="0"/>
          </a:p>
        </p:txBody>
      </p:sp>
      <p:sp>
        <p:nvSpPr>
          <p:cNvPr id="24" name="Text 19"/>
          <p:cNvSpPr txBox="1"/>
          <p:nvPr/>
        </p:nvSpPr>
        <p:spPr>
          <a:xfrm>
            <a:off x="12402007" y="4819802"/>
            <a:ext cx="48006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8.5억 − 직접원가 4.25억 − 거점 고정비 2.65억. 손익분기는 계획의 62%</a:t>
            </a:r>
            <a:endParaRPr lang="en-US" sz="1275" dirty="0"/>
          </a:p>
        </p:txBody>
      </p:sp>
      <p:sp>
        <p:nvSpPr>
          <p:cNvPr id="25" name="Text 20"/>
          <p:cNvSpPr txBox="1"/>
          <p:nvPr/>
        </p:nvSpPr>
        <p:spPr>
          <a:xfrm>
            <a:off x="14916607" y="5296205"/>
            <a:ext cx="2286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34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</a:t>
            </a:r>
            <a:r>
              <a:rPr lang="en-US" sz="1350" b="1" kern="0" spc="-6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3450" dirty="0"/>
          </a:p>
        </p:txBody>
      </p:sp>
      <p:sp>
        <p:nvSpPr>
          <p:cNvPr id="26" name="Text 21"/>
          <p:cNvSpPr txBox="1"/>
          <p:nvPr/>
        </p:nvSpPr>
        <p:spPr>
          <a:xfrm>
            <a:off x="12402007" y="5790895"/>
            <a:ext cx="48006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 누적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+7.3억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14400" y="6476695"/>
            <a:ext cx="5715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요청 3건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</a:t>
            </a:r>
            <a:r>
              <a:rPr lang="en-US" sz="1350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의결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사항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14400" y="6933895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 txBox="1"/>
          <p:nvPr/>
        </p:nvSpPr>
        <p:spPr>
          <a:xfrm>
            <a:off x="914400" y="6933895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485900" y="6943039"/>
            <a:ext cx="227959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650" dirty="0"/>
          </a:p>
        </p:txBody>
      </p:sp>
      <p:sp>
        <p:nvSpPr>
          <p:cNvPr id="31" name="Text 26"/>
          <p:cNvSpPr txBox="1"/>
          <p:nvPr/>
        </p:nvSpPr>
        <p:spPr>
          <a:xfrm>
            <a:off x="3338474" y="6943039"/>
            <a:ext cx="350946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2026.11,  1인 파견 (영업/PM)</a:t>
            </a:r>
            <a:endParaRPr lang="en-US" sz="1650" dirty="0"/>
          </a:p>
        </p:txBody>
      </p:sp>
      <p:sp>
        <p:nvSpPr>
          <p:cNvPr id="32" name="Shape 27"/>
          <p:cNvSpPr/>
          <p:nvPr/>
        </p:nvSpPr>
        <p:spPr>
          <a:xfrm>
            <a:off x="914400" y="7524598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 txBox="1"/>
          <p:nvPr/>
        </p:nvSpPr>
        <p:spPr>
          <a:xfrm>
            <a:off x="914400" y="7524598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485900" y="7533742"/>
            <a:ext cx="188183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650" dirty="0"/>
          </a:p>
        </p:txBody>
      </p:sp>
      <p:sp>
        <p:nvSpPr>
          <p:cNvPr id="35" name="Text 30"/>
          <p:cNvSpPr txBox="1"/>
          <p:nvPr/>
        </p:nvSpPr>
        <p:spPr>
          <a:xfrm>
            <a:off x="3061411" y="7533742"/>
            <a:ext cx="13908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거점 고정비</a:t>
            </a:r>
            <a:endParaRPr lang="en-US" sz="1650" dirty="0"/>
          </a:p>
        </p:txBody>
      </p:sp>
      <p:sp>
        <p:nvSpPr>
          <p:cNvPr id="36" name="Text 31"/>
          <p:cNvSpPr txBox="1"/>
          <p:nvPr/>
        </p:nvSpPr>
        <p:spPr>
          <a:xfrm>
            <a:off x="4448556" y="7533742"/>
            <a:ext cx="75346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endParaRPr lang="en-US" sz="1650" dirty="0"/>
          </a:p>
        </p:txBody>
      </p:sp>
      <p:sp>
        <p:nvSpPr>
          <p:cNvPr id="37" name="Text 32"/>
          <p:cNvSpPr txBox="1"/>
          <p:nvPr/>
        </p:nvSpPr>
        <p:spPr>
          <a:xfrm>
            <a:off x="5080406" y="7533742"/>
            <a:ext cx="416326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(엔지니어 2인 인건비는 PI-LAM 과제비)</a:t>
            </a:r>
            <a:endParaRPr lang="en-US" sz="1650" dirty="0"/>
          </a:p>
        </p:txBody>
      </p:sp>
      <p:sp>
        <p:nvSpPr>
          <p:cNvPr id="38" name="Shape 33"/>
          <p:cNvSpPr/>
          <p:nvPr/>
        </p:nvSpPr>
        <p:spPr>
          <a:xfrm>
            <a:off x="914400" y="8115300"/>
            <a:ext cx="400507" cy="400507"/>
          </a:xfrm>
          <a:prstGeom prst="roundRect">
            <a:avLst>
              <a:gd name="adj" fmla="val 189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 txBox="1"/>
          <p:nvPr/>
        </p:nvSpPr>
        <p:spPr>
          <a:xfrm>
            <a:off x="914400" y="8115300"/>
            <a:ext cx="400507" cy="4005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485900" y="8124444"/>
            <a:ext cx="220644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650" dirty="0"/>
          </a:p>
        </p:txBody>
      </p:sp>
      <p:sp>
        <p:nvSpPr>
          <p:cNvPr id="41" name="Text 36"/>
          <p:cNvSpPr txBox="1"/>
          <p:nvPr/>
        </p:nvSpPr>
        <p:spPr>
          <a:xfrm>
            <a:off x="3354934" y="8124444"/>
            <a:ext cx="2526487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 4개 기준 중</a:t>
            </a:r>
            <a:endParaRPr lang="en-US" sz="1650" dirty="0"/>
          </a:p>
        </p:txBody>
      </p:sp>
      <p:sp>
        <p:nvSpPr>
          <p:cNvPr id="42" name="Text 37"/>
          <p:cNvSpPr txBox="1"/>
          <p:nvPr/>
        </p:nvSpPr>
        <p:spPr>
          <a:xfrm>
            <a:off x="5507431" y="8124444"/>
            <a:ext cx="35113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</a:t>
            </a:r>
            <a:endParaRPr lang="en-US" sz="1650" dirty="0"/>
          </a:p>
        </p:txBody>
      </p:sp>
      <p:sp>
        <p:nvSpPr>
          <p:cNvPr id="43" name="Text 38"/>
          <p:cNvSpPr txBox="1"/>
          <p:nvPr/>
        </p:nvSpPr>
        <p:spPr>
          <a:xfrm>
            <a:off x="5823814" y="8124444"/>
            <a:ext cx="134874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충족 시 전환</a:t>
            </a:r>
            <a:endParaRPr lang="en-US" sz="1650" dirty="0"/>
          </a:p>
        </p:txBody>
      </p:sp>
      <p:sp>
        <p:nvSpPr>
          <p:cNvPr id="44" name="Text 39"/>
          <p:cNvSpPr txBox="1"/>
          <p:nvPr/>
        </p:nvSpPr>
        <p:spPr>
          <a:xfrm>
            <a:off x="1181405" y="8934602"/>
            <a:ext cx="11430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지금인가</a:t>
            </a:r>
            <a:endParaRPr lang="en-US" sz="1500" dirty="0"/>
          </a:p>
        </p:txBody>
      </p:sp>
      <p:sp>
        <p:nvSpPr>
          <p:cNvPr id="45" name="Text 40"/>
          <p:cNvSpPr txBox="1"/>
          <p:nvPr/>
        </p:nvSpPr>
        <p:spPr>
          <a:xfrm>
            <a:off x="2438705" y="8934602"/>
            <a:ext cx="14668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수행 중 · 등대고객 n개사 확보 / </a:t>
            </a:r>
            <a:r>
              <a:rPr lang="en-US" sz="14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5개사 목표</a:t>
            </a:r>
            <a:r>
              <a:rPr lang="en-US" sz="14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(창원–사천–거제–포항) · 2026.8 마키나락스·메가존 창원 거점 개소 · 공적 예산 조 단위 집행</a:t>
            </a:r>
            <a:endParaRPr lang="en-US" sz="1425" dirty="0"/>
          </a:p>
        </p:txBody>
      </p:sp>
      <p:sp>
        <p:nvSpPr>
          <p:cNvPr id="46" name="Text 4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7" name="Text 4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292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58800" y="1904695"/>
            <a:ext cx="4000500" cy="1809598"/>
          </a:xfrm>
          <a:prstGeom prst="roundRect">
            <a:avLst>
              <a:gd name="adj" fmla="val 950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2291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75438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585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4173200" y="4552798"/>
            <a:ext cx="3200400" cy="2133295"/>
          </a:xfrm>
          <a:prstGeom prst="roundRect">
            <a:avLst>
              <a:gd name="adj" fmla="val 8058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524598"/>
            <a:ext cx="16459200" cy="1333195"/>
          </a:xfrm>
          <a:prstGeom prst="roundRect">
            <a:avLst>
              <a:gd name="adj" fmla="val 1001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524598"/>
            <a:ext cx="57607" cy="13331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761695"/>
            <a:ext cx="15697505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① — 제조 AX 예산이 </a:t>
            </a:r>
            <a:r>
              <a:rPr lang="en-US" sz="3300" b="1" kern="0" spc="-33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영남·남부권</a:t>
            </a:r>
            <a:r>
              <a:rPr lang="en-US" sz="3300" b="1" kern="0" spc="-33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집중된다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1447495"/>
            <a:ext cx="16193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AI는 연 40%대 성장, 지자체·정부 실증 예산은 "현장에 있는 공급기업"에게 돌아간다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1405" y="2171700"/>
            <a:ext cx="283006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2,872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$</a:t>
            </a:r>
            <a:endParaRPr lang="en-US" sz="4050" dirty="0"/>
          </a:p>
        </p:txBody>
      </p:sp>
      <p:sp>
        <p:nvSpPr>
          <p:cNvPr id="16" name="Text 14"/>
          <p:cNvSpPr txBox="1"/>
          <p:nvPr/>
        </p:nvSpPr>
        <p:spPr>
          <a:xfrm>
            <a:off x="11814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시장 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(2025년 85.7억$, 연 40%대)</a:t>
            </a:r>
            <a:endParaRPr lang="en-US" sz="1275" dirty="0"/>
          </a:p>
        </p:txBody>
      </p:sp>
      <p:sp>
        <p:nvSpPr>
          <p:cNvPr id="17" name="Text 15"/>
          <p:cNvSpPr txBox="1"/>
          <p:nvPr/>
        </p:nvSpPr>
        <p:spPr>
          <a:xfrm>
            <a:off x="5296205" y="2171700"/>
            <a:ext cx="2935224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 원</a:t>
            </a:r>
            <a:endParaRPr lang="en-US" sz="4050" dirty="0"/>
          </a:p>
        </p:txBody>
      </p:sp>
      <p:sp>
        <p:nvSpPr>
          <p:cNvPr id="18" name="Text 16"/>
          <p:cNvSpPr txBox="1"/>
          <p:nvPr/>
        </p:nvSpPr>
        <p:spPr>
          <a:xfrm>
            <a:off x="5296205" y="2927909"/>
            <a:ext cx="356250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국책 R&amp;D 2026~2030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12개사 실증 · 코난 PI-LAM(세부3) 참여 · 50억은 과제비</a:t>
            </a:r>
            <a:endParaRPr lang="en-US" sz="1275" dirty="0"/>
          </a:p>
        </p:txBody>
      </p:sp>
      <p:sp>
        <p:nvSpPr>
          <p:cNvPr id="19" name="Text 17"/>
          <p:cNvSpPr txBox="1"/>
          <p:nvPr/>
        </p:nvSpPr>
        <p:spPr>
          <a:xfrm>
            <a:off x="9411005" y="2171700"/>
            <a:ext cx="159562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1만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곳</a:t>
            </a:r>
            <a:endParaRPr lang="en-US" sz="4050" dirty="0"/>
          </a:p>
        </p:txBody>
      </p:sp>
      <p:sp>
        <p:nvSpPr>
          <p:cNvPr id="20" name="Text 18"/>
          <p:cNvSpPr txBox="1"/>
          <p:nvPr/>
        </p:nvSpPr>
        <p:spPr>
          <a:xfrm>
            <a:off x="94110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</a:t>
            </a:r>
            <a:r>
              <a:rPr lang="ko-KR" alt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r>
              <a:rPr lang="en-US" sz="1275" dirty="0" err="1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남도</a:t>
            </a: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제조 AI 지원 기업 목표 (2030)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강소기업 100곳 육성</a:t>
            </a:r>
            <a:endParaRPr lang="en-US" sz="1275" dirty="0"/>
          </a:p>
        </p:txBody>
      </p:sp>
      <p:sp>
        <p:nvSpPr>
          <p:cNvPr id="21" name="Text 19"/>
          <p:cNvSpPr txBox="1"/>
          <p:nvPr/>
        </p:nvSpPr>
        <p:spPr>
          <a:xfrm>
            <a:off x="13525805" y="2171700"/>
            <a:ext cx="2453335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0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1.86</a:t>
            </a:r>
            <a:r>
              <a:rPr lang="en-US" sz="1650" b="1" kern="0" spc="-8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 원</a:t>
            </a:r>
            <a:endParaRPr lang="en-US" sz="4050" dirty="0"/>
          </a:p>
        </p:txBody>
      </p:sp>
      <p:sp>
        <p:nvSpPr>
          <p:cNvPr id="22" name="Text 20"/>
          <p:cNvSpPr txBox="1"/>
          <p:nvPr/>
        </p:nvSpPr>
        <p:spPr>
          <a:xfrm>
            <a:off x="13525805" y="2927909"/>
            <a:ext cx="356250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2026~2035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실증 선도 제조거점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914400" y="4019702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04595" y="3981298"/>
            <a:ext cx="4478731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권역별 코난 참여 가능 AX 실증 예산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4804258" y="4009644"/>
            <a:ext cx="700064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창원에서 차량 2시간 이내 (포항은 1차 우선, 부산·여수·광양은 2028 확장 옵션)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43500"/>
            <a:ext cx="147401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1,097억</a:t>
            </a:r>
            <a:r>
              <a:rPr lang="en-US" sz="135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AI 원년 5대 사업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(초거대 제조 AI·PINN·AX 실증산단)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577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44577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250억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44577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조선해양 M.AX 얼라이언스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800억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 특화 스마트공장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400개 과제(2026)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1087100" y="4762195"/>
            <a:ext cx="48829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10871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481억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110871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실증산단(주관 RIST)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수행 중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4401800" y="4762195"/>
            <a:ext cx="112745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14401800" y="5143500"/>
            <a:ext cx="88422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140억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14401800" y="5635447"/>
            <a:ext cx="2743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철강·금속 AX 실증센터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주관)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4401800" y="6286500"/>
            <a:ext cx="297180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대전환 메가프로젝트 전체 4.6조 중 AX 참여 가능분</a:t>
            </a:r>
            <a:endParaRPr lang="en-US" sz="975" dirty="0"/>
          </a:p>
        </p:txBody>
      </p:sp>
      <p:sp>
        <p:nvSpPr>
          <p:cNvPr id="42" name="Text 40"/>
          <p:cNvSpPr txBox="1"/>
          <p:nvPr/>
        </p:nvSpPr>
        <p:spPr>
          <a:xfrm>
            <a:off x="1218895" y="7810805"/>
            <a:ext cx="2978201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→ 실증 사업의 승패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218895" y="8153705"/>
            <a:ext cx="158502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"지역 앵커 기업 + 지역 대학·TP + AI 공급기업" 컨소시엄 → 공고 3~6개월 전 기획 단계는 서울 출장으로 접근 불가</a:t>
            </a:r>
            <a:endParaRPr lang="en-US" sz="1575" dirty="0"/>
          </a:p>
        </p:txBody>
      </p:sp>
      <p:sp>
        <p:nvSpPr>
          <p:cNvPr id="44" name="Text 42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572958"/>
            <a:ext cx="16459200" cy="19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647669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12039905" y="4095598"/>
            <a:ext cx="5333695" cy="1981505"/>
          </a:xfrm>
          <a:prstGeom prst="roundRect">
            <a:avLst>
              <a:gd name="adj" fmla="val 867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2039905" y="4095598"/>
            <a:ext cx="57607" cy="1981505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2291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75438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08585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14173200" y="6648602"/>
            <a:ext cx="3200400" cy="1123798"/>
          </a:xfrm>
          <a:prstGeom prst="roundRect">
            <a:avLst>
              <a:gd name="adj" fmla="val 11880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14400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914400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47669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47669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2039905" y="8305495"/>
            <a:ext cx="5333695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12039905" y="83054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914400" y="91824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13023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302331" y="2171700"/>
            <a:ext cx="662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2026.3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13023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출범</a:t>
            </a:r>
            <a:endParaRPr lang="en-US" sz="1275" dirty="0"/>
          </a:p>
        </p:txBody>
      </p:sp>
      <p:sp>
        <p:nvSpPr>
          <p:cNvPr id="22" name="Shape 19"/>
          <p:cNvSpPr/>
          <p:nvPr/>
        </p:nvSpPr>
        <p:spPr>
          <a:xfrm>
            <a:off x="47889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889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2026.8.28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4788938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(경남대 피지컬AX연구협력센터)</a:t>
            </a:r>
            <a:endParaRPr lang="en-US" sz="1275" dirty="0"/>
          </a:p>
        </p:txBody>
      </p:sp>
      <p:sp>
        <p:nvSpPr>
          <p:cNvPr id="25" name="Shape 22"/>
          <p:cNvSpPr/>
          <p:nvPr/>
        </p:nvSpPr>
        <p:spPr>
          <a:xfrm>
            <a:off x="8274631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274631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2026.8.31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274631" y="2756916"/>
            <a:ext cx="2382012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</a:t>
            </a:r>
            <a:endParaRPr lang="en-US" sz="1275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(AI스튜디오@창원,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지역 거점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75" dirty="0"/>
          </a:p>
        </p:txBody>
      </p:sp>
      <p:sp>
        <p:nvSpPr>
          <p:cNvPr id="28" name="Shape 25"/>
          <p:cNvSpPr/>
          <p:nvPr/>
        </p:nvSpPr>
        <p:spPr>
          <a:xfrm>
            <a:off x="11761238" y="2495398"/>
            <a:ext cx="171907" cy="171907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1761238" y="2171700"/>
            <a:ext cx="9912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2026.9.16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11761238" y="2781605"/>
            <a:ext cx="249539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피지컬 AI R&amp;D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착수 (창원)</a:t>
            </a:r>
            <a:endParaRPr lang="en-US" sz="1275" dirty="0"/>
          </a:p>
        </p:txBody>
      </p:sp>
      <p:pic>
        <p:nvPicPr>
          <p:cNvPr id="31" name="Image 1" descr="gen-dedup-70ec5e4f52660cfd56718edfe3b48b6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227729" y="2476195"/>
            <a:ext cx="209398" cy="20939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5246931" y="2171700"/>
            <a:ext cx="77266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15246931" y="2781605"/>
            <a:ext cx="23820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</a:t>
            </a:r>
            <a:r>
              <a:rPr lang="en-US" altLang="ko-KR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</a:t>
            </a:r>
            <a:r>
              <a:rPr lang="ko-KR" alt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기술센터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개설(안)</a:t>
            </a:r>
            <a:endParaRPr lang="en-US" sz="1275" dirty="0"/>
          </a:p>
        </p:txBody>
      </p:sp>
      <p:sp>
        <p:nvSpPr>
          <p:cNvPr id="34" name="Text 30"/>
          <p:cNvSpPr txBox="1"/>
          <p:nvPr/>
        </p:nvSpPr>
        <p:spPr>
          <a:xfrm>
            <a:off x="914400" y="609905"/>
            <a:ext cx="18231307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 필요성 ②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경쟁사는 이미 창원에 거점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세웠고, 우리 사업은 영남에 있다</a:t>
            </a:r>
            <a:endParaRPr lang="en-US" sz="3150" dirty="0"/>
          </a:p>
        </p:txBody>
      </p:sp>
      <p:sp>
        <p:nvSpPr>
          <p:cNvPr id="35" name="Text 3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8월 마키나락스·메가존 창원 개소 / 정부 실증 3건·등대고객 5개사가 전부 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영남권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있으나 상주 인력은 0명</a:t>
            </a:r>
            <a:endParaRPr lang="en-US" sz="1650" dirty="0"/>
          </a:p>
        </p:txBody>
      </p:sp>
      <p:sp>
        <p:nvSpPr>
          <p:cNvPr id="36" name="Shape 32"/>
          <p:cNvSpPr/>
          <p:nvPr/>
        </p:nvSpPr>
        <p:spPr>
          <a:xfrm>
            <a:off x="914400" y="17529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3"/>
          <p:cNvSpPr/>
          <p:nvPr/>
        </p:nvSpPr>
        <p:spPr>
          <a:xfrm>
            <a:off x="914400" y="17529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1352398" y="1752905"/>
            <a:ext cx="10287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</a:t>
            </a:r>
            <a:endParaRPr lang="en-US" sz="1650" dirty="0"/>
          </a:p>
        </p:txBody>
      </p:sp>
      <p:sp>
        <p:nvSpPr>
          <p:cNvPr id="39" name="Text 35"/>
          <p:cNvSpPr txBox="1"/>
          <p:nvPr/>
        </p:nvSpPr>
        <p:spPr>
          <a:xfrm>
            <a:off x="2277770" y="1781251"/>
            <a:ext cx="15764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timeline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914400" y="369600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/>
          <p:cNvSpPr/>
          <p:nvPr/>
        </p:nvSpPr>
        <p:spPr>
          <a:xfrm>
            <a:off x="914400" y="369600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1352398" y="3696005"/>
            <a:ext cx="125181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요약</a:t>
            </a:r>
            <a:endParaRPr lang="en-US" sz="1650" dirty="0"/>
          </a:p>
        </p:txBody>
      </p:sp>
      <p:sp>
        <p:nvSpPr>
          <p:cNvPr id="43" name="Text 39"/>
          <p:cNvSpPr txBox="1"/>
          <p:nvPr/>
        </p:nvSpPr>
        <p:spPr>
          <a:xfrm>
            <a:off x="2470709" y="3724351"/>
            <a:ext cx="12161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우리의 자리</a:t>
            </a:r>
            <a:endParaRPr lang="en-US" sz="1350" dirty="0"/>
          </a:p>
        </p:txBody>
      </p:sp>
      <p:sp>
        <p:nvSpPr>
          <p:cNvPr id="44" name="Text 40"/>
          <p:cNvSpPr txBox="1"/>
          <p:nvPr/>
        </p:nvSpPr>
        <p:spPr>
          <a:xfrm>
            <a:off x="1143000" y="4286707"/>
            <a:ext cx="6300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높음</a:t>
            </a:r>
            <a:endParaRPr lang="en-US" sz="975" dirty="0"/>
          </a:p>
        </p:txBody>
      </p:sp>
      <p:sp>
        <p:nvSpPr>
          <p:cNvPr id="45" name="Text 41"/>
          <p:cNvSpPr txBox="1"/>
          <p:nvPr/>
        </p:nvSpPr>
        <p:spPr>
          <a:xfrm>
            <a:off x="1143000" y="4533595"/>
            <a:ext cx="457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마키나락스 AI스튜디오@창원</a:t>
            </a:r>
            <a:endParaRPr lang="en-US" sz="1500" dirty="0"/>
          </a:p>
        </p:txBody>
      </p:sp>
      <p:sp>
        <p:nvSpPr>
          <p:cNvPr id="46" name="Text 42"/>
          <p:cNvSpPr txBox="1"/>
          <p:nvPr/>
        </p:nvSpPr>
        <p:spPr>
          <a:xfrm>
            <a:off x="1143000" y="4990795"/>
            <a:ext cx="487741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창원·거제·대구·울산 커버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두산에너빌리티·덴소 고객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인재 채용 → 본사 교육 → 창원 배치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설비·공정 데이터 AI 직접 경쟁</a:t>
            </a:r>
            <a:endParaRPr lang="en-US" sz="1200" dirty="0"/>
          </a:p>
        </p:txBody>
      </p:sp>
      <p:sp>
        <p:nvSpPr>
          <p:cNvPr id="47" name="Text 43"/>
          <p:cNvSpPr txBox="1"/>
          <p:nvPr/>
        </p:nvSpPr>
        <p:spPr>
          <a:xfrm>
            <a:off x="6705295" y="4286707"/>
            <a:ext cx="993038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경쟁·협력 병존</a:t>
            </a:r>
            <a:endParaRPr lang="en-US" sz="975" dirty="0"/>
          </a:p>
        </p:txBody>
      </p:sp>
      <p:sp>
        <p:nvSpPr>
          <p:cNvPr id="48" name="Text 44"/>
          <p:cNvSpPr txBox="1"/>
          <p:nvPr/>
        </p:nvSpPr>
        <p:spPr>
          <a:xfrm>
            <a:off x="670529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 경남대 피지컬AX연구협력센터</a:t>
            </a:r>
            <a:endParaRPr lang="en-US" sz="1500" dirty="0"/>
          </a:p>
        </p:txBody>
      </p:sp>
      <p:sp>
        <p:nvSpPr>
          <p:cNvPr id="49" name="Text 45"/>
          <p:cNvSpPr txBox="1"/>
          <p:nvPr/>
        </p:nvSpPr>
        <p:spPr>
          <a:xfrm>
            <a:off x="6705295" y="4990795"/>
            <a:ext cx="48774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 기관 협약, 320억 피지컬 AI 실증 주관</a:t>
            </a:r>
            <a:r>
              <a:rPr lang="en-US" sz="12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경쟁력 병존 — 세부3 컨소시엄 파트너</a:t>
            </a:r>
            <a:endParaRPr lang="en-US" sz="1200" dirty="0"/>
          </a:p>
        </p:txBody>
      </p:sp>
      <p:sp>
        <p:nvSpPr>
          <p:cNvPr id="50" name="Text 46"/>
          <p:cNvSpPr txBox="1"/>
          <p:nvPr/>
        </p:nvSpPr>
        <p:spPr>
          <a:xfrm>
            <a:off x="12268505" y="4286707"/>
            <a:ext cx="76718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코난의 자리</a:t>
            </a:r>
            <a:endParaRPr lang="en-US" sz="975" dirty="0"/>
          </a:p>
        </p:txBody>
      </p:sp>
      <p:sp>
        <p:nvSpPr>
          <p:cNvPr id="51" name="Text 47"/>
          <p:cNvSpPr txBox="1"/>
          <p:nvPr/>
        </p:nvSpPr>
        <p:spPr>
          <a:xfrm>
            <a:off x="12268505" y="4533595"/>
            <a:ext cx="48774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지식·암묵지·온톨로지로 차별화</a:t>
            </a:r>
            <a:endParaRPr lang="en-US" sz="1500" dirty="0"/>
          </a:p>
        </p:txBody>
      </p:sp>
      <p:sp>
        <p:nvSpPr>
          <p:cNvPr id="52" name="Text 48"/>
          <p:cNvSpPr txBox="1"/>
          <p:nvPr/>
        </p:nvSpPr>
        <p:spPr>
          <a:xfrm>
            <a:off x="12268504" y="4923130"/>
            <a:ext cx="5012731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도면이해 기술 → 제조 공정 AI 전체로 확대.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메가존·ETRI·KTL은 세부3 컨소시엄 파트너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현장에서 협업 밀도를 채널로 만든다.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914400" y="6286500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0"/>
          <p:cNvSpPr/>
          <p:nvPr/>
        </p:nvSpPr>
        <p:spPr>
          <a:xfrm>
            <a:off x="914400" y="6286500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</a:t>
            </a:r>
            <a:endParaRPr lang="en-US" sz="1350" dirty="0"/>
          </a:p>
        </p:txBody>
      </p:sp>
      <p:sp>
        <p:nvSpPr>
          <p:cNvPr id="55" name="Text 51"/>
          <p:cNvSpPr txBox="1"/>
          <p:nvPr/>
        </p:nvSpPr>
        <p:spPr>
          <a:xfrm>
            <a:off x="1352398" y="6286500"/>
            <a:ext cx="8046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 위치</a:t>
            </a:r>
            <a:endParaRPr lang="en-US" sz="1650" dirty="0"/>
          </a:p>
        </p:txBody>
      </p:sp>
      <p:sp>
        <p:nvSpPr>
          <p:cNvPr id="56" name="Text 52"/>
          <p:cNvSpPr txBox="1"/>
          <p:nvPr/>
        </p:nvSpPr>
        <p:spPr>
          <a:xfrm>
            <a:off x="2084832" y="6314846"/>
            <a:ext cx="294802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사업은 영남권에, 사람은 서울에</a:t>
            </a:r>
            <a:endParaRPr lang="en-US" sz="1350" dirty="0"/>
          </a:p>
        </p:txBody>
      </p:sp>
      <p:sp>
        <p:nvSpPr>
          <p:cNvPr id="57" name="Text 53"/>
          <p:cNvSpPr txBox="1"/>
          <p:nvPr/>
        </p:nvSpPr>
        <p:spPr>
          <a:xfrm>
            <a:off x="1123798" y="6736471"/>
            <a:ext cx="982066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본사</a:t>
            </a:r>
            <a:endParaRPr lang="en-US" sz="1575" dirty="0"/>
          </a:p>
        </p:txBody>
      </p:sp>
      <p:sp>
        <p:nvSpPr>
          <p:cNvPr id="58" name="Text 54"/>
          <p:cNvSpPr txBox="1"/>
          <p:nvPr/>
        </p:nvSpPr>
        <p:spPr>
          <a:xfrm>
            <a:off x="11237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상주 0명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국방·전략사업부 출장 대응 · KTX 3h</a:t>
            </a:r>
            <a:endParaRPr lang="en-US" sz="1125" dirty="0"/>
          </a:p>
        </p:txBody>
      </p:sp>
      <p:sp>
        <p:nvSpPr>
          <p:cNvPr id="59" name="Text 55"/>
          <p:cNvSpPr txBox="1"/>
          <p:nvPr/>
        </p:nvSpPr>
        <p:spPr>
          <a:xfrm>
            <a:off x="44384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endParaRPr lang="en-US" sz="1575" dirty="0"/>
          </a:p>
        </p:txBody>
      </p:sp>
      <p:sp>
        <p:nvSpPr>
          <p:cNvPr id="60" name="Text 56"/>
          <p:cNvSpPr txBox="1"/>
          <p:nvPr/>
        </p:nvSpPr>
        <p:spPr>
          <a:xfrm>
            <a:off x="4438498" y="7079371"/>
            <a:ext cx="28959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영풍전자(코난 10억 · 매출인식) · PI-LAM(코난 50억 · 과제비, 매출 아님 · 뿌리기업 13개사) · 창원대 NRL 2.0 연계 2건</a:t>
            </a:r>
            <a:endParaRPr lang="en-US" sz="1125" dirty="0"/>
          </a:p>
        </p:txBody>
      </p:sp>
      <p:sp>
        <p:nvSpPr>
          <p:cNvPr id="61" name="Text 57"/>
          <p:cNvSpPr txBox="1"/>
          <p:nvPr/>
        </p:nvSpPr>
        <p:spPr>
          <a:xfrm>
            <a:off x="77531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</a:t>
            </a:r>
            <a:endParaRPr lang="en-US" sz="1575" dirty="0"/>
          </a:p>
        </p:txBody>
      </p:sp>
      <p:sp>
        <p:nvSpPr>
          <p:cNvPr id="62" name="Text 58"/>
          <p:cNvSpPr txBox="1"/>
          <p:nvPr/>
        </p:nvSpPr>
        <p:spPr>
          <a:xfrm>
            <a:off x="77531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KAI(항공·방산 원청) · 협력사 4개사</a:t>
            </a:r>
            <a:endParaRPr lang="en-US" sz="1125" dirty="0"/>
          </a:p>
        </p:txBody>
      </p:sp>
      <p:sp>
        <p:nvSpPr>
          <p:cNvPr id="63" name="Text 59"/>
          <p:cNvSpPr txBox="1"/>
          <p:nvPr/>
        </p:nvSpPr>
        <p:spPr>
          <a:xfrm>
            <a:off x="110678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575" dirty="0"/>
          </a:p>
        </p:txBody>
      </p:sp>
      <p:sp>
        <p:nvSpPr>
          <p:cNvPr id="64" name="Text 60"/>
          <p:cNvSpPr txBox="1"/>
          <p:nvPr/>
        </p:nvSpPr>
        <p:spPr>
          <a:xfrm>
            <a:off x="11067898" y="7079371"/>
            <a:ext cx="27816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</a:t>
            </a:r>
            <a:endParaRPr lang="en-US" sz="1125" dirty="0"/>
          </a:p>
        </p:txBody>
      </p:sp>
      <p:sp>
        <p:nvSpPr>
          <p:cNvPr id="65" name="Text 61"/>
          <p:cNvSpPr txBox="1"/>
          <p:nvPr/>
        </p:nvSpPr>
        <p:spPr>
          <a:xfrm>
            <a:off x="14382598" y="6736471"/>
            <a:ext cx="42702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</a:t>
            </a:r>
            <a:endParaRPr lang="en-US" sz="1575" dirty="0"/>
          </a:p>
        </p:txBody>
      </p:sp>
      <p:sp>
        <p:nvSpPr>
          <p:cNvPr id="66" name="Text 62"/>
          <p:cNvSpPr txBox="1"/>
          <p:nvPr/>
        </p:nvSpPr>
        <p:spPr>
          <a:xfrm>
            <a:off x="14382598" y="7079371"/>
            <a:ext cx="2781605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AX 실증산단(RIST/포스코/동국제강/제일테크노스) · M.AX 얼라이언스 공모</a:t>
            </a:r>
            <a:endParaRPr lang="en-US" sz="1125" dirty="0"/>
          </a:p>
        </p:txBody>
      </p:sp>
      <p:sp>
        <p:nvSpPr>
          <p:cNvPr id="67" name="Shape 63"/>
          <p:cNvSpPr/>
          <p:nvPr/>
        </p:nvSpPr>
        <p:spPr>
          <a:xfrm>
            <a:off x="914400" y="7962595"/>
            <a:ext cx="304495" cy="304495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4"/>
          <p:cNvSpPr/>
          <p:nvPr/>
        </p:nvSpPr>
        <p:spPr>
          <a:xfrm>
            <a:off x="914400" y="7962595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</a:t>
            </a:r>
            <a:endParaRPr lang="en-US" sz="1350" dirty="0"/>
          </a:p>
        </p:txBody>
      </p:sp>
      <p:sp>
        <p:nvSpPr>
          <p:cNvPr id="69" name="Text 65"/>
          <p:cNvSpPr txBox="1"/>
          <p:nvPr/>
        </p:nvSpPr>
        <p:spPr>
          <a:xfrm>
            <a:off x="1352398" y="7962595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현장이 요구하는 것</a:t>
            </a:r>
            <a:endParaRPr lang="en-US" sz="1650" dirty="0"/>
          </a:p>
        </p:txBody>
      </p:sp>
      <p:sp>
        <p:nvSpPr>
          <p:cNvPr id="70" name="Text 66"/>
          <p:cNvSpPr txBox="1"/>
          <p:nvPr/>
        </p:nvSpPr>
        <p:spPr>
          <a:xfrm>
            <a:off x="1123798" y="8401507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착수 요건</a:t>
            </a:r>
            <a:endParaRPr lang="en-US" sz="1350" dirty="0"/>
          </a:p>
        </p:txBody>
      </p:sp>
      <p:sp>
        <p:nvSpPr>
          <p:cNvPr id="71" name="Text 67"/>
          <p:cNvSpPr txBox="1"/>
          <p:nvPr/>
        </p:nvSpPr>
        <p:spPr>
          <a:xfrm>
            <a:off x="1123798" y="8648395"/>
            <a:ext cx="49149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30건·숙련자 인터뷰·데이터 반출 협의 — 현장당 주 2~3회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방문. 월 4회 출장 체계로는 대응 불가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6687007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공모 기획 단계</a:t>
            </a:r>
            <a:endParaRPr lang="en-US" sz="1350" dirty="0"/>
          </a:p>
        </p:txBody>
      </p:sp>
      <p:sp>
        <p:nvSpPr>
          <p:cNvPr id="73" name="Text 69"/>
          <p:cNvSpPr txBox="1"/>
          <p:nvPr/>
        </p:nvSpPr>
        <p:spPr>
          <a:xfrm>
            <a:off x="6687007" y="8648395"/>
            <a:ext cx="49149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 공모는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접점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있어야 컨소시엄 참여 가능</a:t>
            </a:r>
            <a:endParaRPr lang="en-US" sz="1050" dirty="0"/>
          </a:p>
        </p:txBody>
      </p:sp>
      <p:sp>
        <p:nvSpPr>
          <p:cNvPr id="74" name="Text 70"/>
          <p:cNvSpPr txBox="1"/>
          <p:nvPr/>
        </p:nvSpPr>
        <p:spPr>
          <a:xfrm>
            <a:off x="12249302" y="8401507"/>
            <a:ext cx="17931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현장 보안 절차</a:t>
            </a:r>
            <a:endParaRPr lang="en-US" sz="1350" dirty="0"/>
          </a:p>
        </p:txBody>
      </p:sp>
      <p:sp>
        <p:nvSpPr>
          <p:cNvPr id="75" name="Text 71"/>
          <p:cNvSpPr txBox="1"/>
          <p:nvPr/>
        </p:nvSpPr>
        <p:spPr>
          <a:xfrm>
            <a:off x="12249302" y="8648395"/>
            <a:ext cx="52952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KAI 등 원청·협력사는 보안 측정·출입 인가·폐쇄망 장비 반입 승인에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2~4주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소요</a:t>
            </a:r>
            <a:endParaRPr lang="en-US" sz="1050" dirty="0"/>
          </a:p>
        </p:txBody>
      </p:sp>
      <p:sp>
        <p:nvSpPr>
          <p:cNvPr id="76" name="Text 72"/>
          <p:cNvSpPr txBox="1"/>
          <p:nvPr/>
        </p:nvSpPr>
        <p:spPr>
          <a:xfrm>
            <a:off x="1143000" y="9277502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2700" dirty="0"/>
          </a:p>
        </p:txBody>
      </p:sp>
      <p:sp>
        <p:nvSpPr>
          <p:cNvPr id="77" name="Text 73"/>
          <p:cNvSpPr txBox="1"/>
          <p:nvPr/>
        </p:nvSpPr>
        <p:spPr>
          <a:xfrm>
            <a:off x="1638605" y="9334195"/>
            <a:ext cx="13144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 현장에서는 고객사와의 물리적 거리가 대응 속도와 직결되는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 크리티컬한 변수</a:t>
            </a:r>
            <a:endParaRPr lang="en-US" sz="1350" dirty="0"/>
          </a:p>
        </p:txBody>
      </p:sp>
      <p:sp>
        <p:nvSpPr>
          <p:cNvPr id="78" name="Text 74"/>
          <p:cNvSpPr txBox="1"/>
          <p:nvPr/>
        </p:nvSpPr>
        <p:spPr>
          <a:xfrm>
            <a:off x="15250363" y="9372600"/>
            <a:ext cx="22421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마키나락스 대표, 창원 개소 시</a:t>
            </a:r>
            <a:endParaRPr lang="en-US" sz="1050" dirty="0"/>
          </a:p>
        </p:txBody>
      </p:sp>
      <p:sp>
        <p:nvSpPr>
          <p:cNvPr id="79" name="Text 7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0" name="Text 7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562795" y="1790395"/>
            <a:ext cx="7810805" cy="2381098"/>
          </a:xfrm>
          <a:prstGeom prst="roundRect">
            <a:avLst>
              <a:gd name="adj" fmla="val 7220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562795" y="1790395"/>
            <a:ext cx="57607" cy="2381098"/>
          </a:xfrm>
          <a:prstGeom prst="roundRect">
            <a:avLst>
              <a:gd name="adj" fmla="val 298414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c2b3cd9af316839202500e153226b1d8.png"/>
          <p:cNvPicPr>
            <a:picLocks noChangeAspect="1"/>
          </p:cNvPicPr>
          <p:nvPr/>
        </p:nvPicPr>
        <p:blipFill>
          <a:blip r:embed="rId3"/>
          <a:srcRect l="-18" r="-18"/>
          <a:stretch/>
        </p:blipFill>
        <p:spPr>
          <a:xfrm>
            <a:off x="8725205" y="2495398"/>
            <a:ext cx="838505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사무소 개설,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검증,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지사 전환</a:t>
            </a:r>
            <a:endParaRPr lang="en-US" sz="315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 단계에서 유지 부담만 추가하는 2단계 접근 → 성과 검증 후 지점 등기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200607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1200607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557909" y="2084832"/>
            <a:ext cx="209763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 · 1인 상주 (영업/PM)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200607" y="2381098"/>
            <a:ext cx="7049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</a:t>
            </a:r>
            <a:r>
              <a:rPr lang="en-US" sz="120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지점 등기 (비교안: 개설과 동시)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00607" y="2819095"/>
            <a:ext cx="762426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경남인공지능혁신본부(창원 봉암) 4동 703호,  10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입주신청 후 </a:t>
            </a:r>
            <a:r>
              <a:rPr lang="ko-KR" altLang="en-US" sz="113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승인 완료</a:t>
            </a:r>
            <a:endParaRPr lang="en-US" sz="113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200607" y="306232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본사 사업자등록 사용, 본사 명의 계약 (현행 동일)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200607" y="3305556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대표이사 결정 → 입주 계약, 1~2주, 법정 비용 없음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200607" y="354787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미달 시 즉시 철수 가능</a:t>
            </a:r>
            <a:endParaRPr lang="en-US" sz="1125" dirty="0"/>
          </a:p>
        </p:txBody>
      </p:sp>
      <p:sp>
        <p:nvSpPr>
          <p:cNvPr id="16" name="Text 13"/>
          <p:cNvSpPr txBox="1"/>
          <p:nvPr/>
        </p:nvSpPr>
        <p:spPr>
          <a:xfrm>
            <a:off x="1200607" y="3791102"/>
            <a:ext cx="7239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등기 시점은 공모 지역 소재 요건 확인 결과에 따라</a:t>
            </a:r>
            <a:endParaRPr lang="en-US" sz="1125" dirty="0"/>
          </a:p>
        </p:txBody>
      </p:sp>
      <p:sp>
        <p:nvSpPr>
          <p:cNvPr id="17" name="Text 14"/>
          <p:cNvSpPr txBox="1"/>
          <p:nvPr/>
        </p:nvSpPr>
        <p:spPr>
          <a:xfrm>
            <a:off x="8534095" y="2933395"/>
            <a:ext cx="1219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 → 2027.7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849002" y="2000707"/>
            <a:ext cx="780898" cy="304495"/>
          </a:xfrm>
          <a:prstGeom prst="roundRect">
            <a:avLst>
              <a:gd name="adj" fmla="val 50150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9849002" y="2000707"/>
            <a:ext cx="7818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0" rIns="139700" bIns="0" rtlCol="0" anchor="ctr"/>
          <a:lstStyle/>
          <a:p>
            <a:pPr marL="0" indent="0" algn="ctr">
              <a:buNone/>
            </a:pPr>
            <a:r>
              <a:rPr lang="en-US" sz="1050" b="1" kern="0" spc="6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5228711" y="2076602"/>
            <a:ext cx="2063801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 목표 · 5인 · 현지 채용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9849002" y="2361895"/>
            <a:ext cx="7334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@경남(지점 등기)</a:t>
            </a:r>
            <a:endParaRPr lang="en-US" sz="1650" dirty="0"/>
          </a:p>
        </p:txBody>
      </p:sp>
      <p:sp>
        <p:nvSpPr>
          <p:cNvPr id="23" name="Text 20"/>
          <p:cNvSpPr txBox="1"/>
          <p:nvPr/>
        </p:nvSpPr>
        <p:spPr>
          <a:xfrm>
            <a:off x="10019995" y="284225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— 지역 계약·세금계산서 직접 발행</a:t>
            </a:r>
            <a:endParaRPr lang="en-US" sz="1275" dirty="0"/>
          </a:p>
        </p:txBody>
      </p:sp>
      <p:sp>
        <p:nvSpPr>
          <p:cNvPr id="24" name="Text 21"/>
          <p:cNvSpPr txBox="1"/>
          <p:nvPr/>
        </p:nvSpPr>
        <p:spPr>
          <a:xfrm>
            <a:off x="10019995" y="313943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채용 3인 — 엔지니어 2인은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과제 청년채용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(인건비 과제비)</a:t>
            </a:r>
            <a:endParaRPr lang="en-US" sz="1275" dirty="0"/>
          </a:p>
        </p:txBody>
      </p:sp>
      <p:sp>
        <p:nvSpPr>
          <p:cNvPr id="25" name="Text 22"/>
          <p:cNvSpPr txBox="1"/>
          <p:nvPr/>
        </p:nvSpPr>
        <p:spPr>
          <a:xfrm>
            <a:off x="10019995" y="343661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공모 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 충족</a:t>
            </a:r>
            <a:endParaRPr lang="en-US" sz="1275" dirty="0"/>
          </a:p>
        </p:txBody>
      </p:sp>
      <p:sp>
        <p:nvSpPr>
          <p:cNvPr id="26" name="Text 23"/>
          <p:cNvSpPr txBox="1"/>
          <p:nvPr/>
        </p:nvSpPr>
        <p:spPr>
          <a:xfrm>
            <a:off x="10019995" y="3733791"/>
            <a:ext cx="70683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2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 3~5주, 비용 약 40~60만 원 (법무사 포함)</a:t>
            </a:r>
            <a:endParaRPr lang="en-US" sz="1275" dirty="0"/>
          </a:p>
        </p:txBody>
      </p:sp>
      <p:sp>
        <p:nvSpPr>
          <p:cNvPr id="27" name="Shape 24"/>
          <p:cNvSpPr/>
          <p:nvPr/>
        </p:nvSpPr>
        <p:spPr>
          <a:xfrm>
            <a:off x="956933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6519229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2082438" y="4659553"/>
            <a:ext cx="5333695" cy="1904695"/>
          </a:xfrm>
          <a:prstGeom prst="roundRect">
            <a:avLst>
              <a:gd name="adj" fmla="val 801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12082438" y="4659553"/>
            <a:ext cx="57607" cy="1904695"/>
          </a:xfrm>
          <a:prstGeom prst="roundRect">
            <a:avLst>
              <a:gd name="adj" fmla="val 265080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956933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9262429" y="7066898"/>
            <a:ext cx="8153705" cy="619049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56933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9262429" y="7755435"/>
            <a:ext cx="8153705" cy="571500"/>
          </a:xfrm>
          <a:prstGeom prst="roundRect">
            <a:avLst>
              <a:gd name="adj" fmla="val 194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956933" y="8660600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956933" y="8660600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956933" y="4297451"/>
            <a:ext cx="183794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사업·인력 로드맵</a:t>
            </a:r>
            <a:endParaRPr lang="en-US" sz="1650" dirty="0"/>
          </a:p>
        </p:txBody>
      </p:sp>
      <p:sp>
        <p:nvSpPr>
          <p:cNvPr id="38" name="Text 35"/>
          <p:cNvSpPr txBox="1"/>
          <p:nvPr/>
        </p:nvSpPr>
        <p:spPr>
          <a:xfrm>
            <a:off x="2584565" y="4325797"/>
            <a:ext cx="346831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개설 → 2027 확장 → 2028 정착</a:t>
            </a:r>
            <a:endParaRPr lang="en-US" sz="1350" dirty="0"/>
          </a:p>
        </p:txBody>
      </p:sp>
      <p:sp>
        <p:nvSpPr>
          <p:cNvPr id="39" name="Text 36"/>
          <p:cNvSpPr txBox="1"/>
          <p:nvPr/>
        </p:nvSpPr>
        <p:spPr>
          <a:xfrm>
            <a:off x="1185533" y="4811344"/>
            <a:ext cx="66568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4Q</a:t>
            </a:r>
            <a:endParaRPr lang="en-US" sz="975" dirty="0"/>
          </a:p>
        </p:txBody>
      </p:sp>
      <p:sp>
        <p:nvSpPr>
          <p:cNvPr id="40" name="Text 37"/>
          <p:cNvSpPr txBox="1"/>
          <p:nvPr/>
        </p:nvSpPr>
        <p:spPr>
          <a:xfrm>
            <a:off x="1185533" y="5039944"/>
            <a:ext cx="2471623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인력 1인 (영업/PM)</a:t>
            </a:r>
            <a:endParaRPr lang="en-US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1185533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2건 계약 (매출 인식 2027)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1185533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연계 2건 (AI 지식·도면이해)</a:t>
            </a:r>
            <a:endParaRPr lang="en-US" sz="1125" dirty="0"/>
          </a:p>
        </p:txBody>
      </p:sp>
      <p:sp>
        <p:nvSpPr>
          <p:cNvPr id="43" name="Text 40"/>
          <p:cNvSpPr txBox="1"/>
          <p:nvPr/>
        </p:nvSpPr>
        <p:spPr>
          <a:xfrm>
            <a:off x="1185533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1185533" y="6254267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지자체·TP 접점, 등대고객 진단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6747829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</a:t>
            </a:r>
            <a:endParaRPr lang="en-US" sz="975" dirty="0"/>
          </a:p>
        </p:txBody>
      </p:sp>
      <p:sp>
        <p:nvSpPr>
          <p:cNvPr id="46" name="Text 43"/>
          <p:cNvSpPr txBox="1"/>
          <p:nvPr/>
        </p:nvSpPr>
        <p:spPr>
          <a:xfrm>
            <a:off x="6747829" y="5039944"/>
            <a:ext cx="4998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(1Q 수석 엔지니어 파견, 연내 현지 3인 채용)</a:t>
            </a:r>
            <a:endParaRPr lang="en-US" sz="1650" dirty="0"/>
          </a:p>
        </p:txBody>
      </p:sp>
      <p:sp>
        <p:nvSpPr>
          <p:cNvPr id="47" name="Text 44"/>
          <p:cNvSpPr txBox="1"/>
          <p:nvPr/>
        </p:nvSpPr>
        <p:spPr>
          <a:xfrm>
            <a:off x="6747829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8.5억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 5건 2.5억 + 본구축 2건 6억)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6747829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제조AX기술센터 전환 (7월) · 실증 3건 수행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6747829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창원·김해·진해·거제·부산 확산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2311038" y="4811344"/>
            <a:ext cx="37856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5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</a:t>
            </a:r>
            <a:endParaRPr lang="en-US" sz="975" dirty="0"/>
          </a:p>
        </p:txBody>
      </p:sp>
      <p:sp>
        <p:nvSpPr>
          <p:cNvPr id="51" name="Text 48"/>
          <p:cNvSpPr txBox="1"/>
          <p:nvPr/>
        </p:nvSpPr>
        <p:spPr>
          <a:xfrm>
            <a:off x="12311037" y="5039944"/>
            <a:ext cx="5048403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</a:t>
            </a:r>
            <a:r>
              <a:rPr lang="en-US" sz="13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5인+</a:t>
            </a:r>
            <a:endParaRPr lang="en-US" sz="1650" dirty="0"/>
          </a:p>
        </p:txBody>
      </p:sp>
      <p:sp>
        <p:nvSpPr>
          <p:cNvPr id="52" name="Text 49"/>
          <p:cNvSpPr txBox="1"/>
          <p:nvPr/>
        </p:nvSpPr>
        <p:spPr>
          <a:xfrm>
            <a:off x="12311038" y="5497144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·거점 증분 매출 18억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(PoC·본구축·신규 공모 3억)</a:t>
            </a:r>
            <a:endParaRPr lang="en-US" sz="1125" dirty="0"/>
          </a:p>
        </p:txBody>
      </p:sp>
      <p:sp>
        <p:nvSpPr>
          <p:cNvPr id="53" name="Text 50"/>
          <p:cNvSpPr txBox="1"/>
          <p:nvPr/>
        </p:nvSpPr>
        <p:spPr>
          <a:xfrm>
            <a:off x="12311038" y="5749518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분소 검토</a:t>
            </a:r>
            <a:endParaRPr lang="en-US" sz="1125" dirty="0"/>
          </a:p>
        </p:txBody>
      </p:sp>
      <p:sp>
        <p:nvSpPr>
          <p:cNvPr id="54" name="Text 51"/>
          <p:cNvSpPr txBox="1"/>
          <p:nvPr/>
        </p:nvSpPr>
        <p:spPr>
          <a:xfrm>
            <a:off x="12311038" y="6001892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 철강·화학 진입</a:t>
            </a:r>
            <a:endParaRPr lang="en-US" sz="1125" dirty="0"/>
          </a:p>
        </p:txBody>
      </p:sp>
      <p:sp>
        <p:nvSpPr>
          <p:cNvPr id="55" name="Text 52"/>
          <p:cNvSpPr txBox="1"/>
          <p:nvPr/>
        </p:nvSpPr>
        <p:spPr>
          <a:xfrm>
            <a:off x="956933" y="6722399"/>
            <a:ext cx="107899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</a:t>
            </a:r>
            <a:endParaRPr lang="en-US" sz="1650" dirty="0"/>
          </a:p>
        </p:txBody>
      </p:sp>
      <p:sp>
        <p:nvSpPr>
          <p:cNvPr id="56" name="Text 53"/>
          <p:cNvSpPr txBox="1"/>
          <p:nvPr/>
        </p:nvSpPr>
        <p:spPr>
          <a:xfrm>
            <a:off x="2032268" y="6750746"/>
            <a:ext cx="51627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2027.6, 4개 기준 (아래 4개 중 3개 충족 시 지사 전환·증원)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12792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112792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1604329" y="7200400"/>
            <a:ext cx="256763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계약 누적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3.7억 원 이상</a:t>
            </a:r>
            <a:endParaRPr lang="en-US" sz="1275" dirty="0"/>
          </a:p>
        </p:txBody>
      </p:sp>
      <p:sp>
        <p:nvSpPr>
          <p:cNvPr id="60" name="Text 57"/>
          <p:cNvSpPr txBox="1"/>
          <p:nvPr/>
        </p:nvSpPr>
        <p:spPr>
          <a:xfrm>
            <a:off x="1604329" y="7448203"/>
            <a:ext cx="403159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손익분기 증분 매출 5.30억의 70% — 손익분기선에서 도출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434336" y="7238805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9434336" y="723880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9910738" y="7200400"/>
            <a:ext cx="4990796" cy="448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발굴 증분 파이프라인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15억 원 이상</a:t>
            </a:r>
            <a:endParaRPr lang="en-US" sz="1275" dirty="0"/>
          </a:p>
        </p:txBody>
      </p:sp>
      <p:sp>
        <p:nvSpPr>
          <p:cNvPr id="68" name="Shape 65"/>
          <p:cNvSpPr/>
          <p:nvPr/>
        </p:nvSpPr>
        <p:spPr>
          <a:xfrm>
            <a:off x="112792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112792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1604329" y="7851992"/>
            <a:ext cx="2976372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소재 요건 공모 제안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2건 이상</a:t>
            </a:r>
            <a:endParaRPr lang="en-US" sz="1275" dirty="0"/>
          </a:p>
        </p:txBody>
      </p:sp>
      <p:sp>
        <p:nvSpPr>
          <p:cNvPr id="73" name="Shape 70"/>
          <p:cNvSpPr/>
          <p:nvPr/>
        </p:nvSpPr>
        <p:spPr>
          <a:xfrm>
            <a:off x="9434336" y="7890398"/>
            <a:ext cx="342900" cy="342900"/>
          </a:xfrm>
          <a:prstGeom prst="roundRect">
            <a:avLst>
              <a:gd name="adj" fmla="val 22133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9434336" y="7890398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9910737" y="7918743"/>
            <a:ext cx="4955257" cy="258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등대고객 </a:t>
            </a:r>
            <a:r>
              <a:rPr lang="en-US" sz="12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3개사</a:t>
            </a:r>
            <a:r>
              <a:rPr lang="en-US" sz="12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이상 PoC 단계 진입 (실명 보고)</a:t>
            </a:r>
            <a:endParaRPr lang="en-US" sz="1275" dirty="0"/>
          </a:p>
        </p:txBody>
      </p:sp>
      <p:sp>
        <p:nvSpPr>
          <p:cNvPr id="61" name="Shape 58"/>
          <p:cNvSpPr/>
          <p:nvPr/>
        </p:nvSpPr>
        <p:spPr>
          <a:xfrm>
            <a:off x="14865995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14865995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6560500" y="7183245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/>
          <p:nvPr/>
        </p:nvSpPr>
        <p:spPr>
          <a:xfrm>
            <a:off x="6560500" y="7183245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14865995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/>
          <p:nvPr/>
        </p:nvSpPr>
        <p:spPr>
          <a:xfrm>
            <a:off x="14865995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6560500" y="7871782"/>
            <a:ext cx="342900" cy="342900"/>
          </a:xfrm>
          <a:prstGeom prst="ellipse">
            <a:avLst/>
          </a:prstGeom>
          <a:solidFill>
            <a:srgbClr val="F7FAFD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/>
          <p:nvPr/>
        </p:nvSpPr>
        <p:spPr>
          <a:xfrm>
            <a:off x="6560500" y="7871782"/>
            <a:ext cx="342900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/3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1185533" y="8774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8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지사 조기 전환 트리거</a:t>
            </a:r>
            <a:endParaRPr lang="en-US" sz="1200" dirty="0"/>
          </a:p>
        </p:txBody>
      </p:sp>
      <p:sp>
        <p:nvSpPr>
          <p:cNvPr id="79" name="Text 76"/>
          <p:cNvSpPr txBox="1"/>
          <p:nvPr/>
        </p:nvSpPr>
        <p:spPr>
          <a:xfrm>
            <a:off x="1185533" y="9022702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충족 시 Go/No-go 전이라도 이사회 상정: ① 지역 소재 요건 공모 공고 ② 지점 명의 계약 요구 ③ 현지 채용 확정</a:t>
            </a:r>
            <a:endParaRPr lang="en-US" sz="1125" dirty="0"/>
          </a:p>
        </p:txBody>
      </p:sp>
      <p:sp>
        <p:nvSpPr>
          <p:cNvPr id="80" name="Text 77"/>
          <p:cNvSpPr txBox="1"/>
          <p:nvPr/>
        </p:nvSpPr>
        <p:spPr>
          <a:xfrm>
            <a:off x="1185533" y="9404007"/>
            <a:ext cx="16002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미달 시: 2개 충족이면 2인 유지로 6개월 연장 후 재심의 · 1개 이하 충족 또는 유상 계약 1억 원 미만이면 철수 검토</a:t>
            </a:r>
            <a:endParaRPr lang="en-US" sz="975" dirty="0"/>
          </a:p>
        </p:txBody>
      </p:sp>
      <p:sp>
        <p:nvSpPr>
          <p:cNvPr id="81" name="Text 78"/>
          <p:cNvSpPr txBox="1"/>
          <p:nvPr/>
        </p:nvSpPr>
        <p:spPr>
          <a:xfrm>
            <a:off x="956933" y="9956304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82" name="Text 79"/>
          <p:cNvSpPr txBox="1"/>
          <p:nvPr/>
        </p:nvSpPr>
        <p:spPr>
          <a:xfrm>
            <a:off x="6192788" y="9956304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77502" y="1790395"/>
            <a:ext cx="8096098" cy="3105302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7669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2039905" y="5333695"/>
            <a:ext cx="5333695" cy="1085392"/>
          </a:xfrm>
          <a:prstGeom prst="roundRect">
            <a:avLst>
              <a:gd name="adj" fmla="val 1078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6553508"/>
            <a:ext cx="16459200" cy="800099"/>
          </a:xfrm>
          <a:prstGeom prst="roundRect">
            <a:avLst>
              <a:gd name="adj" fmla="val 14600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553508"/>
            <a:ext cx="57607" cy="7992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7669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2039905" y="8115300"/>
            <a:ext cx="5333695" cy="1447495"/>
          </a:xfrm>
          <a:prstGeom prst="roundRect">
            <a:avLst>
              <a:gd name="adj" fmla="val 9223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공략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A·B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20주 안에 숫자로 증명한다</a:t>
            </a:r>
            <a:endParaRPr lang="en-US" sz="31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"공통 코어 + 업종별 확장 모듈" — 한 번 만든 코어가 창원·사천·거제로 수평 확산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143000" y="2000707"/>
            <a:ext cx="437998" cy="437998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1676095" y="2057400"/>
            <a:ext cx="33055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12주 · 현장이 "이거 어떻게 하지?"에 답한다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</a:t>
            </a:r>
            <a:r>
              <a:rPr lang="en-US" sz="180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련자</a:t>
            </a: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노하우·온톨로지·SOP 지식 어시스턴트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SOP·작업표준·숙련자 노하우·이력을 근거로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출처와 함께 답하는 현장 Q&amp;A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430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127650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85%+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75027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2408530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시간 -40%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537814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3670402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반장 문의 -30%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4933188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활성률 60%+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기준선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착수 2주 내 현행 탐색 시간·반장 문의 건수 실측 → 12주차 동일 방법 재측정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SOP 30건+ · 사례 50건+ · 숙련자 2인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506102" y="2000707"/>
            <a:ext cx="437998" cy="437998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9506102" y="2000707"/>
            <a:ext cx="4389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0039198" y="2057400"/>
            <a:ext cx="273222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4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운영 7주차 병행 착수 · 20주 내 검증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06102" y="2533802"/>
            <a:ext cx="76398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규격·도면 대조 검토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506102" y="3010205"/>
            <a:ext cx="76398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원청 도면·사양서와 사내 검사기준을 자동 대조 —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판단은 담당자가 승인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06102" y="3562502"/>
            <a:ext cx="1324051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9639605" y="3638398"/>
            <a:ext cx="131673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추출 재현율 90%+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920679" y="3562502"/>
            <a:ext cx="1037844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1054182" y="3638398"/>
            <a:ext cx="92628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탐지율 85%+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2052706" y="3562502"/>
            <a:ext cx="1123798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12185294" y="3638398"/>
            <a:ext cx="10716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오탐 30% 이하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3265201" y="3562502"/>
            <a:ext cx="1171346" cy="342900"/>
          </a:xfrm>
          <a:prstGeom prst="roundRect">
            <a:avLst>
              <a:gd name="adj" fmla="val 50133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13398703" y="3638398"/>
            <a:ext cx="116128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시간 -50%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506102" y="4114800"/>
            <a:ext cx="76398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판정 초안(적합/불일치/미확인/사람 확인) · 제작 가능성 · 검토 이력 자동화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9506102" y="4552798"/>
            <a:ext cx="76398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 요건 — 반복 품목 3~5개 신·구 개정판 · 검사기준서 · 1년 NCR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914400" y="499079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1104595" y="4953305"/>
            <a:ext cx="359450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코어 + 업종·지역 확장 모듈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1143000" y="5505602"/>
            <a:ext cx="171724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 · 기계·방산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KS·ASTM·KDS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재질–공구–절삭</a:t>
            </a:r>
            <a:endParaRPr lang="en-US" sz="1125" dirty="0"/>
          </a:p>
        </p:txBody>
      </p:sp>
      <p:sp>
        <p:nvSpPr>
          <p:cNvPr id="48" name="Text 46"/>
          <p:cNvSpPr txBox="1"/>
          <p:nvPr/>
        </p:nvSpPr>
        <p:spPr>
          <a:xfrm>
            <a:off x="670529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사천 · 항공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70529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AS9100·NADCAP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복합재·FAI·개정 추적</a:t>
            </a:r>
            <a:endParaRPr lang="en-US" sz="1125" dirty="0"/>
          </a:p>
        </p:txBody>
      </p:sp>
      <p:sp>
        <p:nvSpPr>
          <p:cNvPr id="50" name="Text 48"/>
          <p:cNvSpPr txBox="1"/>
          <p:nvPr/>
        </p:nvSpPr>
        <p:spPr>
          <a:xfrm>
            <a:off x="12268505" y="5505602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 · 조선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2268505" y="5862218"/>
            <a:ext cx="4877410" cy="472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선급 KR·ABS·DNV</a:t>
            </a:r>
            <a:endParaRPr lang="en-US" sz="1125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강종–두께–자세–WPS</a:t>
            </a:r>
            <a:endParaRPr lang="en-US" sz="1125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6724501"/>
            <a:ext cx="50383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가드레일 —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"틀릴 때 틀렸다고 말하는 설계"</a:t>
            </a: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상품 가치</a:t>
            </a:r>
            <a:endParaRPr lang="en-US" sz="1350" dirty="0"/>
          </a:p>
        </p:txBody>
      </p:sp>
      <p:sp>
        <p:nvSpPr>
          <p:cNvPr id="53" name="Text 51"/>
          <p:cNvSpPr txBox="1"/>
          <p:nvPr/>
        </p:nvSpPr>
        <p:spPr>
          <a:xfrm>
            <a:off x="1143000" y="7010708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필수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(문서명·개정일·페이지) · 추측 금지 · 안전 질문은 규정 원문 인용 · 확신도 분리(검증 완료/참고 의견) · 저신뢰 항목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"미확인" 강제</a:t>
            </a:r>
            <a:endParaRPr lang="en-US" sz="1125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7715707"/>
            <a:ext cx="406267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근거가 되는 정부 실증 3건 (코난 몫)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1143000" y="8287207"/>
            <a:ext cx="143103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영풍전자 · 창원</a:t>
            </a:r>
            <a:endParaRPr lang="en-US" sz="1350" dirty="0"/>
          </a:p>
        </p:txBody>
      </p:sp>
      <p:sp>
        <p:nvSpPr>
          <p:cNvPr id="56" name="Text 54"/>
          <p:cNvSpPr txBox="1"/>
          <p:nvPr/>
        </p:nvSpPr>
        <p:spPr>
          <a:xfrm>
            <a:off x="16630193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50억</a:t>
            </a:r>
            <a:endParaRPr lang="en-US" sz="1950" dirty="0"/>
          </a:p>
        </p:txBody>
      </p:sp>
      <p:sp>
        <p:nvSpPr>
          <p:cNvPr id="57" name="Text 55"/>
          <p:cNvSpPr txBox="1"/>
          <p:nvPr/>
        </p:nvSpPr>
        <p:spPr>
          <a:xfrm>
            <a:off x="1143000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 전자 PBA · 코난 몫 10억(매출인식)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공급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12개월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143000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1호 · 온톨로지 공통 자산</a:t>
            </a:r>
            <a:endParaRPr lang="en-US" sz="975" dirty="0"/>
          </a:p>
        </p:txBody>
      </p:sp>
      <p:sp>
        <p:nvSpPr>
          <p:cNvPr id="59" name="Text 57"/>
          <p:cNvSpPr txBox="1"/>
          <p:nvPr/>
        </p:nvSpPr>
        <p:spPr>
          <a:xfrm>
            <a:off x="6705295" y="8287207"/>
            <a:ext cx="24542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스마트그린산단 · 철강</a:t>
            </a:r>
            <a:endParaRPr lang="en-US" sz="1350" dirty="0"/>
          </a:p>
        </p:txBody>
      </p:sp>
      <p:sp>
        <p:nvSpPr>
          <p:cNvPr id="60" name="Text 58"/>
          <p:cNvSpPr txBox="1"/>
          <p:nvPr/>
        </p:nvSpPr>
        <p:spPr>
          <a:xfrm>
            <a:off x="11067898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12억</a:t>
            </a:r>
            <a:endParaRPr lang="en-US" sz="1950" dirty="0"/>
          </a:p>
        </p:txBody>
      </p:sp>
      <p:sp>
        <p:nvSpPr>
          <p:cNvPr id="61" name="Text 59"/>
          <p:cNvSpPr txBox="1"/>
          <p:nvPr/>
        </p:nvSpPr>
        <p:spPr>
          <a:xfrm>
            <a:off x="6705295" y="8667598"/>
            <a:ext cx="545988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AX 실증산단 · 주관 RIST · 코난 몫 12억 + '27년 이후 7억 추가 매출인식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670529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공정산업 교두보 · POSCO 열공정 동일 도메인</a:t>
            </a:r>
            <a:endParaRPr lang="en-US" sz="975" dirty="0"/>
          </a:p>
        </p:txBody>
      </p:sp>
      <p:sp>
        <p:nvSpPr>
          <p:cNvPr id="63" name="Text 61"/>
          <p:cNvSpPr txBox="1"/>
          <p:nvPr/>
        </p:nvSpPr>
        <p:spPr>
          <a:xfrm>
            <a:off x="12268505" y="8287207"/>
            <a:ext cx="20290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PI-LAM </a:t>
            </a:r>
            <a:r>
              <a:rPr lang="en-US" sz="1050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(피지컬 AI · 세부3)</a:t>
            </a:r>
            <a:endParaRPr lang="en-US" sz="1350" dirty="0"/>
          </a:p>
        </p:txBody>
      </p:sp>
      <p:sp>
        <p:nvSpPr>
          <p:cNvPr id="64" name="Text 62"/>
          <p:cNvSpPr txBox="1"/>
          <p:nvPr/>
        </p:nvSpPr>
        <p:spPr>
          <a:xfrm>
            <a:off x="5505602" y="8248802"/>
            <a:ext cx="56418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50" b="1" kern="0" spc="-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10억</a:t>
            </a:r>
            <a:endParaRPr lang="en-US" sz="1950" dirty="0"/>
          </a:p>
        </p:txBody>
      </p:sp>
      <p:sp>
        <p:nvSpPr>
          <p:cNvPr id="65" name="Text 63"/>
          <p:cNvSpPr txBox="1"/>
          <p:nvPr/>
        </p:nvSpPr>
        <p:spPr>
          <a:xfrm>
            <a:off x="12268505" y="8667598"/>
            <a:ext cx="48774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545억 · 뿌리기업 13개사 실증 · 2026~2030 ·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몫 50억(과제)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12268505" y="9163202"/>
            <a:ext cx="48774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메가존·ETRI·KTL 컨소시엄 · 코난 몫 50억은 과제비(매출 아님)</a:t>
            </a:r>
            <a:endParaRPr lang="en-US" sz="975" dirty="0"/>
          </a:p>
        </p:txBody>
      </p:sp>
      <p:sp>
        <p:nvSpPr>
          <p:cNvPr id="67" name="Text 65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410298"/>
            <a:ext cx="16459200" cy="1630375"/>
          </a:xfrm>
          <a:prstGeom prst="roundRect">
            <a:avLst>
              <a:gd name="adj" fmla="val 745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7410298"/>
            <a:ext cx="57607" cy="163037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7338853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방안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(창원·김해·진해·거제·부산)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 포항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전남 여수·광양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 (2026 개설 → 2027 확장 → 2028 정착)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914754"/>
            <a:ext cx="1239012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160727" y="1914754"/>
            <a:ext cx="3829507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4748" y="1914754"/>
            <a:ext cx="4343400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323576" y="1914754"/>
            <a:ext cx="49533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l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5270480" y="1914754"/>
            <a:ext cx="2095805" cy="590702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177800" rtlCol="0" anchor="ctr"/>
          <a:lstStyle/>
          <a:p>
            <a:pPr marL="0" indent="0" algn="ctr">
              <a:buNone/>
            </a:pPr>
            <a:r>
              <a:rPr lang="en-US" sz="1350" b="1" kern="0" spc="2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23544" y="2505456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23544" y="330555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923544" y="2505456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160727" y="2505456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60727" y="330555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2160727" y="2505456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경남TP, 스마트제조혁신 MOU 회원사, 경남 뿌리기업 13개사)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4748" y="2505456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984748" y="330555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4748" y="2505456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제조AI 스마트공장(김해 포함)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323576" y="2505456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23576" y="330555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0323576" y="2505456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270480" y="2505456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5270480" y="330555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15270480" y="2505456"/>
            <a:ext cx="20958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" y="3314700"/>
            <a:ext cx="1238098" cy="609905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23544" y="3915461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 txBox="1"/>
          <p:nvPr/>
        </p:nvSpPr>
        <p:spPr>
          <a:xfrm>
            <a:off x="923544" y="3314700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160727" y="3314700"/>
            <a:ext cx="3829507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160727" y="3915461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2160727" y="3314700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4748" y="3314700"/>
            <a:ext cx="4343400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5984748" y="3915461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 txBox="1"/>
          <p:nvPr/>
        </p:nvSpPr>
        <p:spPr>
          <a:xfrm>
            <a:off x="5984748" y="3314700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23576" y="3314700"/>
            <a:ext cx="49533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323576" y="3915461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 txBox="1"/>
          <p:nvPr/>
        </p:nvSpPr>
        <p:spPr>
          <a:xfrm>
            <a:off x="10323576" y="3314700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270480" y="3314700"/>
            <a:ext cx="2095805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5270480" y="3915461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15270480" y="3314700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3544" y="3924605"/>
            <a:ext cx="1238098" cy="609905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23544" y="4525366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 txBox="1"/>
          <p:nvPr/>
        </p:nvSpPr>
        <p:spPr>
          <a:xfrm>
            <a:off x="923544" y="3924605"/>
            <a:ext cx="1239012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2160727" y="3924605"/>
            <a:ext cx="3829507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160727" y="4525366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2160727" y="3924605"/>
            <a:ext cx="382950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984748" y="3924605"/>
            <a:ext cx="4343400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5984748" y="4525366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 txBox="1"/>
          <p:nvPr/>
        </p:nvSpPr>
        <p:spPr>
          <a:xfrm>
            <a:off x="5984748" y="3924605"/>
            <a:ext cx="434340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323576" y="3924605"/>
            <a:ext cx="49533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10323576" y="4525366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 txBox="1"/>
          <p:nvPr/>
        </p:nvSpPr>
        <p:spPr>
          <a:xfrm>
            <a:off x="10323576" y="3924605"/>
            <a:ext cx="49533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5270480" y="3924605"/>
            <a:ext cx="209580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5270480" y="4525366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 txBox="1"/>
          <p:nvPr/>
        </p:nvSpPr>
        <p:spPr>
          <a:xfrm>
            <a:off x="15270480" y="3924605"/>
            <a:ext cx="20958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90500" tIns="177800" rIns="19050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23544" y="4533595"/>
            <a:ext cx="1238098" cy="1037844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923544" y="5562295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 txBox="1"/>
          <p:nvPr/>
        </p:nvSpPr>
        <p:spPr>
          <a:xfrm>
            <a:off x="923544" y="4533595"/>
            <a:ext cx="1239012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160727" y="4533595"/>
            <a:ext cx="3829507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2160727" y="5562295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 txBox="1"/>
          <p:nvPr/>
        </p:nvSpPr>
        <p:spPr>
          <a:xfrm>
            <a:off x="2160727" y="4533595"/>
            <a:ext cx="3829507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984748" y="4533595"/>
            <a:ext cx="4343400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984748" y="5562295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 txBox="1"/>
          <p:nvPr/>
        </p:nvSpPr>
        <p:spPr>
          <a:xfrm>
            <a:off x="5984748" y="4533595"/>
            <a:ext cx="4343400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323576" y="4533595"/>
            <a:ext cx="49533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323576" y="5562295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5"/>
          <p:cNvSpPr txBox="1"/>
          <p:nvPr/>
        </p:nvSpPr>
        <p:spPr>
          <a:xfrm>
            <a:off x="10323576" y="4533595"/>
            <a:ext cx="4953305" cy="8577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POSCO 열공정 FM 연계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5270480" y="4533595"/>
            <a:ext cx="2095805" cy="10378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7"/>
          <p:cNvSpPr/>
          <p:nvPr/>
        </p:nvSpPr>
        <p:spPr>
          <a:xfrm>
            <a:off x="15270480" y="5562295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 txBox="1"/>
          <p:nvPr/>
        </p:nvSpPr>
        <p:spPr>
          <a:xfrm>
            <a:off x="15270480" y="4510735"/>
            <a:ext cx="2095805" cy="8805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923544" y="5572354"/>
            <a:ext cx="1238098" cy="809244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70"/>
          <p:cNvSpPr/>
          <p:nvPr/>
        </p:nvSpPr>
        <p:spPr>
          <a:xfrm>
            <a:off x="923544" y="6372454"/>
            <a:ext cx="12380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 txBox="1"/>
          <p:nvPr/>
        </p:nvSpPr>
        <p:spPr>
          <a:xfrm>
            <a:off x="923544" y="5572354"/>
            <a:ext cx="1239012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2160727" y="5572354"/>
            <a:ext cx="3829507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2160727" y="6372454"/>
            <a:ext cx="3829507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 txBox="1"/>
          <p:nvPr/>
        </p:nvSpPr>
        <p:spPr>
          <a:xfrm>
            <a:off x="2160727" y="5572354"/>
            <a:ext cx="3829507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984748" y="5572354"/>
            <a:ext cx="4343400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5984748" y="6372454"/>
            <a:ext cx="43434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 txBox="1"/>
          <p:nvPr/>
        </p:nvSpPr>
        <p:spPr>
          <a:xfrm>
            <a:off x="5984748" y="5572354"/>
            <a:ext cx="4343400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공급기업 등록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0323576" y="5572354"/>
            <a:ext cx="49533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10323576" y="6372454"/>
            <a:ext cx="49533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 txBox="1"/>
          <p:nvPr/>
        </p:nvSpPr>
        <p:spPr>
          <a:xfrm>
            <a:off x="10323576" y="5572354"/>
            <a:ext cx="4953305" cy="6291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5270480" y="5572354"/>
            <a:ext cx="209580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4" name="Shape 82"/>
          <p:cNvSpPr/>
          <p:nvPr/>
        </p:nvSpPr>
        <p:spPr>
          <a:xfrm>
            <a:off x="15270480" y="6372454"/>
            <a:ext cx="20958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 txBox="1"/>
          <p:nvPr/>
        </p:nvSpPr>
        <p:spPr>
          <a:xfrm>
            <a:off x="15270480" y="5549494"/>
            <a:ext cx="2095805" cy="65196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923544" y="6381598"/>
            <a:ext cx="1239012" cy="857707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25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7" name="Text 85"/>
          <p:cNvSpPr txBox="1"/>
          <p:nvPr/>
        </p:nvSpPr>
        <p:spPr>
          <a:xfrm>
            <a:off x="2160727" y="6381598"/>
            <a:ext cx="3829507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5984748" y="6381598"/>
            <a:ext cx="4343400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10323576" y="6381598"/>
            <a:ext cx="49533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15270480" y="6381598"/>
            <a:ext cx="2095805" cy="857707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0500" tIns="177800" rIns="190500" bIns="17780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0529356" y="6940453"/>
            <a:ext cx="1391717" cy="228600"/>
          </a:xfrm>
          <a:prstGeom prst="roundRect">
            <a:avLst>
              <a:gd name="adj" fmla="val 41600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10529356" y="6940453"/>
            <a:ext cx="139263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7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</a:t>
            </a:r>
            <a:endParaRPr lang="en-US" sz="975" dirty="0"/>
          </a:p>
        </p:txBody>
      </p:sp>
      <p:sp>
        <p:nvSpPr>
          <p:cNvPr id="93" name="Text 91"/>
          <p:cNvSpPr txBox="1"/>
          <p:nvPr/>
        </p:nvSpPr>
        <p:spPr>
          <a:xfrm>
            <a:off x="1143000" y="7601407"/>
            <a:ext cx="124907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원칙 4줄</a:t>
            </a:r>
            <a:endParaRPr lang="en-US" sz="1350" dirty="0"/>
          </a:p>
        </p:txBody>
      </p:sp>
      <p:sp>
        <p:nvSpPr>
          <p:cNvPr id="94" name="Text 92"/>
          <p:cNvSpPr txBox="1"/>
          <p:nvPr/>
        </p:nvSpPr>
        <p:spPr>
          <a:xfrm>
            <a:off x="1143000" y="7905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2026~2027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권역 집중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부산·여수·광양은 2028 확장 옵션 </a:t>
            </a:r>
            <a:r>
              <a:rPr lang="en-US" sz="112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(제조AX기술센터 범위 외)</a:t>
            </a:r>
            <a:endParaRPr lang="en-US" sz="1125" dirty="0"/>
          </a:p>
        </p:txBody>
      </p:sp>
      <p:sp>
        <p:nvSpPr>
          <p:cNvPr id="95" name="Text 93"/>
          <p:cNvSpPr txBox="1"/>
          <p:nvPr/>
        </p:nvSpPr>
        <p:spPr>
          <a:xfrm>
            <a:off x="1143000" y="816559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우선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RIST와 R&amp;D 과제·사업을 이미 수행 중인 지역으로, 부산보다 먼저 확장한다.</a:t>
            </a:r>
            <a:endParaRPr lang="en-US" sz="1125" dirty="0"/>
          </a:p>
        </p:txBody>
      </p:sp>
      <p:sp>
        <p:nvSpPr>
          <p:cNvPr id="96" name="Text 94"/>
          <p:cNvSpPr txBox="1"/>
          <p:nvPr/>
        </p:nvSpPr>
        <p:spPr>
          <a:xfrm>
            <a:off x="1143000" y="842528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현장 사업은 문서·지식 자산 디지털화 수준과 보안(외부 반출 불가) 진단을 착수 요건으로 하며,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</a:t>
            </a:r>
            <a:endParaRPr lang="en-US" sz="1125" dirty="0"/>
          </a:p>
        </p:txBody>
      </p:sp>
      <p:sp>
        <p:nvSpPr>
          <p:cNvPr id="97" name="Text 95"/>
          <p:cNvSpPr txBox="1"/>
          <p:nvPr/>
        </p:nvSpPr>
        <p:spPr>
          <a:xfrm>
            <a:off x="1143000" y="868405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 정착 심의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2027 증분 매출 8.5억 달성 시 포항 본격 진입 / 미달 시 축소</a:t>
            </a:r>
            <a:endParaRPr lang="en-US" sz="1125" dirty="0"/>
          </a:p>
        </p:txBody>
      </p:sp>
      <p:sp>
        <p:nvSpPr>
          <p:cNvPr id="98" name="Text 96"/>
          <p:cNvSpPr txBox="1"/>
          <p:nvPr/>
        </p:nvSpPr>
        <p:spPr>
          <a:xfrm>
            <a:off x="914400" y="9372600"/>
            <a:ext cx="164592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보안(외부 반출 불가)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9" name="Text 9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904695"/>
            <a:ext cx="8762695" cy="2667305"/>
          </a:xfrm>
          <a:prstGeom prst="roundRect">
            <a:avLst>
              <a:gd name="adj" fmla="val 572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905695" y="1904695"/>
            <a:ext cx="3504895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545007" y="1904695"/>
            <a:ext cx="3829507" cy="838505"/>
          </a:xfrm>
          <a:prstGeom prst="roundRect">
            <a:avLst>
              <a:gd name="adj" fmla="val 15921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905695" y="2857500"/>
            <a:ext cx="7467905" cy="761695"/>
          </a:xfrm>
          <a:prstGeom prst="roundRect">
            <a:avLst>
              <a:gd name="adj" fmla="val 17527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905695" y="2857500"/>
            <a:ext cx="57607" cy="761695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905695" y="3733495"/>
            <a:ext cx="7467905" cy="838505"/>
          </a:xfrm>
          <a:prstGeom prst="roundRect">
            <a:avLst>
              <a:gd name="adj" fmla="val 15921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4762195"/>
            <a:ext cx="97539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0820095" y="4762195"/>
            <a:ext cx="6553505" cy="2743200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820095" y="5790895"/>
            <a:ext cx="6553505" cy="1714500"/>
          </a:xfrm>
          <a:prstGeom prst="roundRect">
            <a:avLst>
              <a:gd name="adj" fmla="val 77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7696505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14400" y="7696505"/>
            <a:ext cx="57607" cy="5148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914400" y="8382305"/>
            <a:ext cx="16459200" cy="1066190"/>
          </a:xfrm>
          <a:prstGeom prst="roundRect">
            <a:avLst>
              <a:gd name="adj" fmla="val 10783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914400" y="8382305"/>
            <a:ext cx="57607" cy="106619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510509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914400" y="541050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14400" y="5715000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4400" y="6019495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6324905"/>
            <a:ext cx="9753905" cy="3044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14400" y="6629400"/>
            <a:ext cx="9753905" cy="3044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6933895"/>
            <a:ext cx="9753905" cy="418795"/>
          </a:xfrm>
          <a:prstGeom prst="rect">
            <a:avLst/>
          </a:prstGeom>
          <a:solidFill>
            <a:srgbClr val="DDE9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820095" y="5105095"/>
            <a:ext cx="6553505" cy="533095"/>
          </a:xfrm>
          <a:prstGeom prst="rect">
            <a:avLst/>
          </a:prstGeom>
          <a:solidFill>
            <a:srgbClr val="F7FA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소요 비용·거점 손익 — 경비 순증 </a:t>
            </a:r>
            <a:r>
              <a:rPr lang="en-US" sz="2850" b="1" kern="0" spc="-29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0.54억</a:t>
            </a:r>
            <a:endParaRPr lang="en-US" sz="28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1028700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절감이 추가비용의 27%를 상계 · 증분 매출 목표(8.5억)의 6% · 2026년 2개월 0.07억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2076602"/>
            <a:ext cx="165049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(만 원)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2361895" y="2115007"/>
            <a:ext cx="14145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추가비용 vs 절감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53305" y="2115007"/>
            <a:ext cx="6483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</a:t>
            </a:r>
            <a:endParaRPr lang="en-US" sz="975" dirty="0"/>
          </a:p>
        </p:txBody>
      </p:sp>
      <p:sp>
        <p:nvSpPr>
          <p:cNvPr id="28" name="Text 26"/>
          <p:cNvSpPr txBox="1"/>
          <p:nvPr/>
        </p:nvSpPr>
        <p:spPr>
          <a:xfrm>
            <a:off x="5770778" y="2115007"/>
            <a:ext cx="8001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4A55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출장비 절감</a:t>
            </a:r>
            <a:endParaRPr lang="en-US" sz="975" dirty="0"/>
          </a:p>
        </p:txBody>
      </p:sp>
      <p:pic>
        <p:nvPicPr>
          <p:cNvPr id="29" name="Image 0" descr="gen-dedup-a989eb6f4102045c73172048e249eec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1143000" y="2514600"/>
            <a:ext cx="8305495" cy="20958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134295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1" name="Text 28"/>
          <p:cNvSpPr txBox="1"/>
          <p:nvPr/>
        </p:nvSpPr>
        <p:spPr>
          <a:xfrm>
            <a:off x="11582705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0134295" y="2457907"/>
            <a:ext cx="180319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· 2개월 · 파견 1인</a:t>
            </a:r>
            <a:endParaRPr lang="en-US" sz="975" dirty="0"/>
          </a:p>
        </p:txBody>
      </p:sp>
      <p:sp>
        <p:nvSpPr>
          <p:cNvPr id="33" name="Text 30"/>
          <p:cNvSpPr txBox="1"/>
          <p:nvPr/>
        </p:nvSpPr>
        <p:spPr>
          <a:xfrm>
            <a:off x="13773607" y="2038198"/>
            <a:ext cx="102047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50" b="1" kern="0" spc="-5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</a:t>
            </a:r>
            <a:r>
              <a:rPr lang="en-US" sz="1350" b="1" kern="0" spc="-5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억</a:t>
            </a:r>
            <a:endParaRPr lang="en-US" sz="2550" dirty="0"/>
          </a:p>
        </p:txBody>
      </p:sp>
      <p:sp>
        <p:nvSpPr>
          <p:cNvPr id="34" name="Text 31"/>
          <p:cNvSpPr txBox="1"/>
          <p:nvPr/>
        </p:nvSpPr>
        <p:spPr>
          <a:xfrm>
            <a:off x="15221102" y="2210105"/>
            <a:ext cx="733349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순증 비용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3773607" y="2457907"/>
            <a:ext cx="18480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· 5인 (파견 2 + 현지 3)</a:t>
            </a:r>
            <a:endParaRPr lang="en-US" sz="975" dirty="0"/>
          </a:p>
        </p:txBody>
      </p:sp>
      <p:sp>
        <p:nvSpPr>
          <p:cNvPr id="36" name="Text 33"/>
          <p:cNvSpPr txBox="1"/>
          <p:nvPr/>
        </p:nvSpPr>
        <p:spPr>
          <a:xfrm>
            <a:off x="10134295" y="2991002"/>
            <a:ext cx="312907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인력·고정비 기준 · 봉암 4동 703호</a:t>
            </a:r>
            <a:endParaRPr lang="en-US" sz="1125" dirty="0"/>
          </a:p>
        </p:txBody>
      </p:sp>
      <p:sp>
        <p:nvSpPr>
          <p:cNvPr id="37" name="Text 34"/>
          <p:cNvSpPr txBox="1"/>
          <p:nvPr/>
        </p:nvSpPr>
        <p:spPr>
          <a:xfrm>
            <a:off x="10134295" y="3238805"/>
            <a:ext cx="72466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2인 + 현지 3인 연내 채용. 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</a:t>
            </a:r>
            <a:r>
              <a:rPr lang="en-US" sz="97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순증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0.54억</a:t>
            </a: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인건비 2.10억(엔지니어 2인 과제비 제외), 거점 고정비 </a:t>
            </a:r>
            <a:r>
              <a:rPr lang="en-US" sz="9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r>
              <a:rPr lang="en-US" sz="97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75" dirty="0"/>
          </a:p>
        </p:txBody>
      </p:sp>
      <p:sp>
        <p:nvSpPr>
          <p:cNvPr id="38" name="Text 35"/>
          <p:cNvSpPr txBox="1"/>
          <p:nvPr/>
        </p:nvSpPr>
        <p:spPr>
          <a:xfrm>
            <a:off x="10134295" y="3829507"/>
            <a:ext cx="440832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항목 (2027 5인 기준 · 만 원) — </a:t>
            </a:r>
            <a:r>
              <a:rPr 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75" b="1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경남인공지능혁신본부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4동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호(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전용면적 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r>
              <a:rPr lang="ko-KR" alt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</a:t>
            </a:r>
            <a:r>
              <a:rPr lang="en-US" altLang="ko-KR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입주 가정</a:t>
            </a:r>
            <a:endParaRPr lang="en-US" sz="975" dirty="0"/>
          </a:p>
        </p:txBody>
      </p:sp>
      <p:sp>
        <p:nvSpPr>
          <p:cNvPr id="39" name="Text 36"/>
          <p:cNvSpPr txBox="1"/>
          <p:nvPr/>
        </p:nvSpPr>
        <p:spPr>
          <a:xfrm>
            <a:off x="10134295" y="4095598"/>
            <a:ext cx="66486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 </a:t>
            </a:r>
            <a:r>
              <a:rPr lang="en-US" sz="180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2,262</a:t>
            </a:r>
            <a:r>
              <a:rPr lang="en-US" sz="1800" b="1" kern="0" spc="-36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교통·차량 3,132 · 사무실+수당 1,976 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(합 </a:t>
            </a:r>
            <a:r>
              <a:rPr lang="en-US" sz="1050" b="1" kern="0" spc="-36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7,370</a:t>
            </a:r>
            <a:r>
              <a:rPr lang="en-US" sz="1050" b="1" kern="0" spc="-36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 원)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914400" y="4762195"/>
            <a:ext cx="19431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25" dirty="0"/>
          </a:p>
        </p:txBody>
      </p:sp>
      <p:sp>
        <p:nvSpPr>
          <p:cNvPr id="41" name="Text 38"/>
          <p:cNvSpPr txBox="1"/>
          <p:nvPr/>
        </p:nvSpPr>
        <p:spPr>
          <a:xfrm>
            <a:off x="2857500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(11~12월, 1인)</a:t>
            </a:r>
            <a:endParaRPr lang="en-US" sz="1125" dirty="0"/>
          </a:p>
        </p:txBody>
      </p:sp>
      <p:sp>
        <p:nvSpPr>
          <p:cNvPr id="42" name="Text 39"/>
          <p:cNvSpPr txBox="1"/>
          <p:nvPr/>
        </p:nvSpPr>
        <p:spPr>
          <a:xfrm>
            <a:off x="4762195" y="4762195"/>
            <a:ext cx="1908767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dist">
              <a:buNone/>
            </a:pPr>
            <a:r>
              <a:rPr lang="en-US" sz="1125" b="1" kern="0" spc="-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</a:t>
            </a:r>
            <a:r>
              <a:rPr lang="en-US" sz="975" b="1" kern="0" spc="-100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(연평균 3.5인·연말 5인)</a:t>
            </a:r>
            <a:endParaRPr lang="en-US" sz="1125" spc="-100" dirty="0"/>
          </a:p>
        </p:txBody>
      </p:sp>
      <p:sp>
        <p:nvSpPr>
          <p:cNvPr id="43" name="Text 40"/>
          <p:cNvSpPr txBox="1"/>
          <p:nvPr/>
        </p:nvSpPr>
        <p:spPr>
          <a:xfrm>
            <a:off x="6667805" y="4762195"/>
            <a:ext cx="19056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</a:t>
            </a:r>
            <a:r>
              <a:rPr lang="en-US" sz="975" b="1" kern="0" spc="22" dirty="0">
                <a:solidFill>
                  <a:srgbClr val="C5D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(5인)</a:t>
            </a:r>
            <a:endParaRPr lang="en-US" sz="1125" dirty="0"/>
          </a:p>
        </p:txBody>
      </p:sp>
      <p:sp>
        <p:nvSpPr>
          <p:cNvPr id="44" name="Text 41"/>
          <p:cNvSpPr txBox="1"/>
          <p:nvPr/>
        </p:nvSpPr>
        <p:spPr>
          <a:xfrm>
            <a:off x="8572500" y="4762195"/>
            <a:ext cx="2095805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kern="0" spc="2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3개년</a:t>
            </a:r>
            <a:endParaRPr lang="en-US" sz="1125" dirty="0"/>
          </a:p>
        </p:txBody>
      </p:sp>
      <p:sp>
        <p:nvSpPr>
          <p:cNvPr id="45" name="Text 42"/>
          <p:cNvSpPr txBox="1"/>
          <p:nvPr/>
        </p:nvSpPr>
        <p:spPr>
          <a:xfrm>
            <a:off x="10820095" y="4762195"/>
            <a:ext cx="160020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050" b="1" kern="0" spc="2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 달성률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124202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25%</a:t>
            </a:r>
            <a:endParaRPr lang="en-US" sz="1125" dirty="0"/>
          </a:p>
        </p:txBody>
      </p:sp>
      <p:sp>
        <p:nvSpPr>
          <p:cNvPr id="47" name="Text 44"/>
          <p:cNvSpPr txBox="1"/>
          <p:nvPr/>
        </p:nvSpPr>
        <p:spPr>
          <a:xfrm>
            <a:off x="134115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50%</a:t>
            </a:r>
            <a:endParaRPr lang="en-US" sz="1125" dirty="0"/>
          </a:p>
        </p:txBody>
      </p:sp>
      <p:sp>
        <p:nvSpPr>
          <p:cNvPr id="48" name="Text 45"/>
          <p:cNvSpPr txBox="1"/>
          <p:nvPr/>
        </p:nvSpPr>
        <p:spPr>
          <a:xfrm>
            <a:off x="14401800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75%</a:t>
            </a:r>
            <a:endParaRPr lang="en-US" sz="1125" dirty="0"/>
          </a:p>
        </p:txBody>
      </p:sp>
      <p:sp>
        <p:nvSpPr>
          <p:cNvPr id="49" name="Text 46"/>
          <p:cNvSpPr txBox="1"/>
          <p:nvPr/>
        </p:nvSpPr>
        <p:spPr>
          <a:xfrm>
            <a:off x="1539209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125" dirty="0"/>
          </a:p>
        </p:txBody>
      </p:sp>
      <p:sp>
        <p:nvSpPr>
          <p:cNvPr id="50" name="Text 47"/>
          <p:cNvSpPr txBox="1"/>
          <p:nvPr/>
        </p:nvSpPr>
        <p:spPr>
          <a:xfrm>
            <a:off x="16383305" y="4762195"/>
            <a:ext cx="991210" cy="342900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125%</a:t>
            </a:r>
            <a:endParaRPr lang="en-US" sz="1125" dirty="0"/>
          </a:p>
        </p:txBody>
      </p:sp>
      <p:sp>
        <p:nvSpPr>
          <p:cNvPr id="51" name="Text 48"/>
          <p:cNvSpPr txBox="1"/>
          <p:nvPr/>
        </p:nvSpPr>
        <p:spPr>
          <a:xfrm>
            <a:off x="11048695" y="5943600"/>
            <a:ext cx="200436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= 계획의 </a:t>
            </a:r>
            <a:r>
              <a:rPr lang="en-US" sz="13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endParaRPr lang="en-US" sz="1350" dirty="0"/>
          </a:p>
        </p:txBody>
      </p:sp>
      <p:sp>
        <p:nvSpPr>
          <p:cNvPr id="52" name="Text 49"/>
          <p:cNvSpPr txBox="1"/>
          <p:nvPr/>
        </p:nvSpPr>
        <p:spPr>
          <a:xfrm>
            <a:off x="11048695" y="6248095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손익분기 증분 매출은 연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5.30억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(계획 8.5억의 62%, 공헌이익률 50% 가정). 2027.6 Go/No-go의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'유상 계약 누적 3.7억'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기준은 이 손익분기선의 70%에서 도출했습니다.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11048695" y="6953098"/>
            <a:ext cx="6096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순증은 2027 증분 매출 목표 8.5억의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6%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인건비를 더한 2027 거점 고정비는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2.65억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 4.25억 안에서 회수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됩니다.</a:t>
            </a:r>
            <a:endParaRPr lang="en-US" sz="1050" dirty="0"/>
          </a:p>
        </p:txBody>
      </p:sp>
      <p:sp>
        <p:nvSpPr>
          <p:cNvPr id="54" name="Text 51"/>
          <p:cNvSpPr txBox="1"/>
          <p:nvPr/>
        </p:nvSpPr>
        <p:spPr>
          <a:xfrm>
            <a:off x="1143000" y="7843557"/>
            <a:ext cx="8458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 정리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2476195" y="7862760"/>
            <a:ext cx="14668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포함 2027년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손익분기는 계획의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62%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달성률 50%에서도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-0.52억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선에서 관리 가능. 3개년 누적 </a:t>
            </a:r>
            <a:r>
              <a:rPr lang="en-US" sz="112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+7.33억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125" dirty="0"/>
          </a:p>
        </p:txBody>
      </p:sp>
      <p:sp>
        <p:nvSpPr>
          <p:cNvPr id="56" name="Text 53"/>
          <p:cNvSpPr txBox="1"/>
          <p:nvPr/>
        </p:nvSpPr>
        <p:spPr>
          <a:xfrm>
            <a:off x="1143000" y="8515807"/>
            <a:ext cx="893369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산출 가정</a:t>
            </a:r>
            <a:endParaRPr lang="en-US" sz="1125" dirty="0"/>
          </a:p>
        </p:txBody>
      </p:sp>
      <p:sp>
        <p:nvSpPr>
          <p:cNvPr id="57" name="Text 54"/>
          <p:cNvSpPr txBox="1"/>
          <p:nvPr/>
        </p:nvSpPr>
        <p:spPr>
          <a:xfrm>
            <a:off x="1142999" y="8781898"/>
            <a:ext cx="16089865" cy="3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파견 인건비 연 9,000만 원/인, 현지 채용 연 6,000만 원/인(4대보험·복리 포함), 유상 PoC 건당 0.5억, 본구축 건당 3억, 직접원가율 50%. </a:t>
            </a: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</a:t>
            </a:r>
            <a:r>
              <a:rPr lang="en-US" sz="9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기준입니다</a:t>
            </a:r>
            <a:r>
              <a:rPr lang="en-US" sz="9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1143000" y="9173592"/>
            <a:ext cx="1600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 임대료는 경남TP 봉암 4동 703호</a:t>
            </a:r>
            <a:r>
              <a:rPr lang="en-US" sz="90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(연 416만 원), 주거비는 A4 기준(연 2,262만 원, 숙소 초기 설치비 0.06억은 2026 일회성 비용 반영). </a:t>
            </a:r>
            <a:r>
              <a:rPr lang="en-US" sz="9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별도 항목: 2026 0.15억 / 2027 2.10억 / 2028 2.40억 / 3개년 4.65억 — 현지 엔지니어 2인(연 1.2억)은 PI-LAM 과제비 충당('27~최소 4년).</a:t>
            </a:r>
            <a:endParaRPr lang="en-US" sz="900" dirty="0"/>
          </a:p>
        </p:txBody>
      </p:sp>
      <p:sp>
        <p:nvSpPr>
          <p:cNvPr id="59" name="Text 56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14400" y="51050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증분 매출</a:t>
            </a:r>
            <a:endParaRPr lang="en-US" sz="1050" dirty="0"/>
          </a:p>
        </p:txBody>
      </p:sp>
      <p:sp>
        <p:nvSpPr>
          <p:cNvPr id="62" name="Text 59"/>
          <p:cNvSpPr txBox="1"/>
          <p:nvPr/>
        </p:nvSpPr>
        <p:spPr>
          <a:xfrm>
            <a:off x="2857500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Text 60"/>
          <p:cNvSpPr txBox="1"/>
          <p:nvPr/>
        </p:nvSpPr>
        <p:spPr>
          <a:xfrm>
            <a:off x="476219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8.50</a:t>
            </a:r>
            <a:endParaRPr lang="en-US" sz="1050" dirty="0"/>
          </a:p>
        </p:txBody>
      </p:sp>
      <p:sp>
        <p:nvSpPr>
          <p:cNvPr id="64" name="Text 61"/>
          <p:cNvSpPr txBox="1"/>
          <p:nvPr/>
        </p:nvSpPr>
        <p:spPr>
          <a:xfrm>
            <a:off x="6667805" y="51050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18.00</a:t>
            </a:r>
            <a:endParaRPr lang="en-US" sz="1050" dirty="0"/>
          </a:p>
        </p:txBody>
      </p:sp>
      <p:sp>
        <p:nvSpPr>
          <p:cNvPr id="65" name="Text 62"/>
          <p:cNvSpPr txBox="1"/>
          <p:nvPr/>
        </p:nvSpPr>
        <p:spPr>
          <a:xfrm>
            <a:off x="8572500" y="51050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26.50</a:t>
            </a:r>
            <a:endParaRPr lang="en-US" sz="1050" dirty="0"/>
          </a:p>
        </p:txBody>
      </p:sp>
      <p:sp>
        <p:nvSpPr>
          <p:cNvPr id="66" name="Text 63"/>
          <p:cNvSpPr txBox="1"/>
          <p:nvPr/>
        </p:nvSpPr>
        <p:spPr>
          <a:xfrm>
            <a:off x="914400" y="54105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직접원가 (50%)</a:t>
            </a:r>
            <a:endParaRPr lang="en-US" sz="1050" dirty="0"/>
          </a:p>
        </p:txBody>
      </p:sp>
      <p:sp>
        <p:nvSpPr>
          <p:cNvPr id="67" name="Text 64"/>
          <p:cNvSpPr txBox="1"/>
          <p:nvPr/>
        </p:nvSpPr>
        <p:spPr>
          <a:xfrm>
            <a:off x="2857500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68" name="Text 65"/>
          <p:cNvSpPr txBox="1"/>
          <p:nvPr/>
        </p:nvSpPr>
        <p:spPr>
          <a:xfrm>
            <a:off x="476219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(4.25)</a:t>
            </a:r>
            <a:endParaRPr lang="en-US" sz="1050" dirty="0"/>
          </a:p>
        </p:txBody>
      </p:sp>
      <p:sp>
        <p:nvSpPr>
          <p:cNvPr id="69" name="Text 66"/>
          <p:cNvSpPr txBox="1"/>
          <p:nvPr/>
        </p:nvSpPr>
        <p:spPr>
          <a:xfrm>
            <a:off x="6667805" y="54105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(9.00)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8572500" y="54105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(13.25)</a:t>
            </a:r>
            <a:endParaRPr lang="en-US" sz="1050" dirty="0"/>
          </a:p>
        </p:txBody>
      </p:sp>
      <p:sp>
        <p:nvSpPr>
          <p:cNvPr id="71" name="Text 68"/>
          <p:cNvSpPr txBox="1"/>
          <p:nvPr/>
        </p:nvSpPr>
        <p:spPr>
          <a:xfrm>
            <a:off x="914400" y="57150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공헌이익</a:t>
            </a:r>
            <a:endParaRPr lang="en-US" sz="1050" dirty="0"/>
          </a:p>
        </p:txBody>
      </p:sp>
      <p:sp>
        <p:nvSpPr>
          <p:cNvPr id="72" name="Text 69"/>
          <p:cNvSpPr txBox="1"/>
          <p:nvPr/>
        </p:nvSpPr>
        <p:spPr>
          <a:xfrm>
            <a:off x="2857500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Text 70"/>
          <p:cNvSpPr txBox="1"/>
          <p:nvPr/>
        </p:nvSpPr>
        <p:spPr>
          <a:xfrm>
            <a:off x="476219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4.25</a:t>
            </a:r>
            <a:endParaRPr lang="en-US" sz="1050" dirty="0"/>
          </a:p>
        </p:txBody>
      </p:sp>
      <p:sp>
        <p:nvSpPr>
          <p:cNvPr id="74" name="Text 71"/>
          <p:cNvSpPr txBox="1"/>
          <p:nvPr/>
        </p:nvSpPr>
        <p:spPr>
          <a:xfrm>
            <a:off x="6667805" y="57150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9.00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8572500" y="57150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13.25</a:t>
            </a:r>
            <a:endParaRPr lang="en-US" sz="1050" dirty="0"/>
          </a:p>
        </p:txBody>
      </p:sp>
      <p:sp>
        <p:nvSpPr>
          <p:cNvPr id="76" name="Text 73"/>
          <p:cNvSpPr txBox="1"/>
          <p:nvPr/>
        </p:nvSpPr>
        <p:spPr>
          <a:xfrm>
            <a:off x="914400" y="601949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(거점 부담분)</a:t>
            </a:r>
            <a:endParaRPr lang="en-US" sz="1050" dirty="0"/>
          </a:p>
        </p:txBody>
      </p:sp>
      <p:sp>
        <p:nvSpPr>
          <p:cNvPr id="77" name="Text 74"/>
          <p:cNvSpPr txBox="1"/>
          <p:nvPr/>
        </p:nvSpPr>
        <p:spPr>
          <a:xfrm>
            <a:off x="2857500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(0.15)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76219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(2.10)</a:t>
            </a:r>
            <a:endParaRPr lang="en-US" sz="1050" dirty="0"/>
          </a:p>
        </p:txBody>
      </p:sp>
      <p:sp>
        <p:nvSpPr>
          <p:cNvPr id="79" name="Text 76"/>
          <p:cNvSpPr txBox="1"/>
          <p:nvPr/>
        </p:nvSpPr>
        <p:spPr>
          <a:xfrm>
            <a:off x="6667805" y="601949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(2.40)</a:t>
            </a:r>
            <a:endParaRPr lang="en-US" sz="1050" dirty="0"/>
          </a:p>
        </p:txBody>
      </p:sp>
      <p:sp>
        <p:nvSpPr>
          <p:cNvPr id="80" name="Text 77"/>
          <p:cNvSpPr txBox="1"/>
          <p:nvPr/>
        </p:nvSpPr>
        <p:spPr>
          <a:xfrm>
            <a:off x="8572500" y="601949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(4.65)</a:t>
            </a:r>
            <a:endParaRPr lang="en-US" sz="1050" dirty="0"/>
          </a:p>
        </p:txBody>
      </p:sp>
      <p:sp>
        <p:nvSpPr>
          <p:cNvPr id="81" name="Text 78"/>
          <p:cNvSpPr txBox="1"/>
          <p:nvPr/>
        </p:nvSpPr>
        <p:spPr>
          <a:xfrm>
            <a:off x="914400" y="6324905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경비 순증 (A2)</a:t>
            </a:r>
            <a:endParaRPr lang="en-US" sz="1050" dirty="0"/>
          </a:p>
        </p:txBody>
      </p:sp>
      <p:sp>
        <p:nvSpPr>
          <p:cNvPr id="82" name="Text 79"/>
          <p:cNvSpPr txBox="1"/>
          <p:nvPr/>
        </p:nvSpPr>
        <p:spPr>
          <a:xfrm>
            <a:off x="2857500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A6B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(0.07)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476219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(0.54)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6667805" y="6324905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(0.54)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8572500" y="6324905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(1.15)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914400" y="6629400"/>
            <a:ext cx="19431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비용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2857500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(0.11)</a:t>
            </a:r>
            <a:endParaRPr lang="en-US" sz="1050" dirty="0"/>
          </a:p>
        </p:txBody>
      </p:sp>
      <p:sp>
        <p:nvSpPr>
          <p:cNvPr id="88" name="Text 85"/>
          <p:cNvSpPr txBox="1"/>
          <p:nvPr/>
        </p:nvSpPr>
        <p:spPr>
          <a:xfrm>
            <a:off x="476219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(0.01)</a:t>
            </a:r>
            <a:endParaRPr lang="en-US" sz="1050" dirty="0"/>
          </a:p>
        </p:txBody>
      </p:sp>
      <p:sp>
        <p:nvSpPr>
          <p:cNvPr id="89" name="Text 86"/>
          <p:cNvSpPr txBox="1"/>
          <p:nvPr/>
        </p:nvSpPr>
        <p:spPr>
          <a:xfrm>
            <a:off x="6667805" y="6629400"/>
            <a:ext cx="1905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–</a:t>
            </a:r>
            <a:endParaRPr lang="en-US" sz="1050" dirty="0"/>
          </a:p>
        </p:txBody>
      </p:sp>
      <p:sp>
        <p:nvSpPr>
          <p:cNvPr id="90" name="Text 87"/>
          <p:cNvSpPr txBox="1"/>
          <p:nvPr/>
        </p:nvSpPr>
        <p:spPr>
          <a:xfrm>
            <a:off x="8572500" y="6629400"/>
            <a:ext cx="2095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(0.12)</a:t>
            </a:r>
            <a:endParaRPr lang="en-US" sz="1050" dirty="0"/>
          </a:p>
        </p:txBody>
      </p:sp>
      <p:sp>
        <p:nvSpPr>
          <p:cNvPr id="91" name="Text 88"/>
          <p:cNvSpPr txBox="1"/>
          <p:nvPr/>
        </p:nvSpPr>
        <p:spPr>
          <a:xfrm>
            <a:off x="914400" y="6933895"/>
            <a:ext cx="19431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200" dirty="0"/>
          </a:p>
        </p:txBody>
      </p:sp>
      <p:sp>
        <p:nvSpPr>
          <p:cNvPr id="92" name="Text 89"/>
          <p:cNvSpPr txBox="1"/>
          <p:nvPr/>
        </p:nvSpPr>
        <p:spPr>
          <a:xfrm>
            <a:off x="2857500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(0.33)</a:t>
            </a:r>
            <a:endParaRPr lang="en-US" sz="1275" dirty="0"/>
          </a:p>
        </p:txBody>
      </p:sp>
      <p:sp>
        <p:nvSpPr>
          <p:cNvPr id="93" name="Text 90"/>
          <p:cNvSpPr txBox="1"/>
          <p:nvPr/>
        </p:nvSpPr>
        <p:spPr>
          <a:xfrm>
            <a:off x="476219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1.60</a:t>
            </a:r>
            <a:endParaRPr lang="en-US" sz="1650" dirty="0"/>
          </a:p>
        </p:txBody>
      </p:sp>
      <p:sp>
        <p:nvSpPr>
          <p:cNvPr id="94" name="Text 91"/>
          <p:cNvSpPr txBox="1"/>
          <p:nvPr/>
        </p:nvSpPr>
        <p:spPr>
          <a:xfrm>
            <a:off x="6667805" y="6933895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6.06</a:t>
            </a:r>
            <a:endParaRPr lang="en-US" sz="1275" dirty="0"/>
          </a:p>
        </p:txBody>
      </p:sp>
      <p:sp>
        <p:nvSpPr>
          <p:cNvPr id="95" name="Text 92"/>
          <p:cNvSpPr txBox="1"/>
          <p:nvPr/>
        </p:nvSpPr>
        <p:spPr>
          <a:xfrm>
            <a:off x="8572500" y="6933895"/>
            <a:ext cx="20958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7.33</a:t>
            </a:r>
            <a:endParaRPr lang="en-US" sz="1650" dirty="0"/>
          </a:p>
        </p:txBody>
      </p:sp>
      <p:sp>
        <p:nvSpPr>
          <p:cNvPr id="96" name="Text 93"/>
          <p:cNvSpPr txBox="1"/>
          <p:nvPr/>
        </p:nvSpPr>
        <p:spPr>
          <a:xfrm>
            <a:off x="10820095" y="5105095"/>
            <a:ext cx="1600200" cy="5340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0" rIns="13970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영업손익</a:t>
            </a:r>
            <a:endParaRPr lang="en-US" sz="1125" dirty="0"/>
          </a:p>
          <a:p>
            <a:pPr marL="0" indent="0" algn="l"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(억, 2027)</a:t>
            </a:r>
            <a:endParaRPr lang="en-US" sz="1125" dirty="0"/>
          </a:p>
        </p:txBody>
      </p:sp>
      <p:sp>
        <p:nvSpPr>
          <p:cNvPr id="97" name="Text 94"/>
          <p:cNvSpPr txBox="1"/>
          <p:nvPr/>
        </p:nvSpPr>
        <p:spPr>
          <a:xfrm>
            <a:off x="1242029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(1.59)</a:t>
            </a:r>
            <a:endParaRPr lang="en-US" sz="1275" dirty="0"/>
          </a:p>
        </p:txBody>
      </p:sp>
      <p:sp>
        <p:nvSpPr>
          <p:cNvPr id="98" name="Text 95"/>
          <p:cNvSpPr txBox="1"/>
          <p:nvPr/>
        </p:nvSpPr>
        <p:spPr>
          <a:xfrm>
            <a:off x="134115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(0.52)</a:t>
            </a:r>
            <a:endParaRPr lang="en-US" sz="1275" dirty="0"/>
          </a:p>
        </p:txBody>
      </p:sp>
      <p:sp>
        <p:nvSpPr>
          <p:cNvPr id="99" name="Text 96"/>
          <p:cNvSpPr txBox="1"/>
          <p:nvPr/>
        </p:nvSpPr>
        <p:spPr>
          <a:xfrm>
            <a:off x="14401800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</a:t>
            </a:r>
            <a:endParaRPr lang="en-US" sz="1275" dirty="0"/>
          </a:p>
        </p:txBody>
      </p:sp>
      <p:sp>
        <p:nvSpPr>
          <p:cNvPr id="100" name="Text 97"/>
          <p:cNvSpPr txBox="1"/>
          <p:nvPr/>
        </p:nvSpPr>
        <p:spPr>
          <a:xfrm>
            <a:off x="15392095" y="5105095"/>
            <a:ext cx="991210" cy="534010"/>
          </a:xfrm>
          <a:prstGeom prst="rect">
            <a:avLst/>
          </a:prstGeom>
          <a:solidFill>
            <a:srgbClr val="B8860B">
              <a:alpha val="1600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1.60</a:t>
            </a:r>
            <a:endParaRPr lang="en-US" sz="1500" dirty="0"/>
          </a:p>
        </p:txBody>
      </p:sp>
      <p:sp>
        <p:nvSpPr>
          <p:cNvPr id="101" name="Text 98"/>
          <p:cNvSpPr txBox="1"/>
          <p:nvPr/>
        </p:nvSpPr>
        <p:spPr>
          <a:xfrm>
            <a:off x="16383305" y="5105095"/>
            <a:ext cx="9912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2.66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5697505" cy="43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창원 숙소 소요비용 — 2026 입주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988만 원</a:t>
            </a:r>
            <a:r>
              <a:rPr sz="2850" b="1">
                <a:solidFill>
                  <a:srgbClr val="0E2240"/>
                </a:solidFill>
                <a:latin typeface="Noto Sans KR"/>
                <a:ea typeface="Noto Sans KR"/>
              </a:rPr>
              <a:t> · 2027 연 </a:t>
            </a:r>
            <a:r>
              <a:rPr sz="2850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28700"/>
            <a:ext cx="16193110" cy="2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4D6E8E"/>
                </a:solidFill>
                <a:latin typeface="Noto Sans KR"/>
                <a:ea typeface="Noto Sans KR"/>
              </a:rPr>
              <a:t>창원두산위브더센트럴 102동(84㎡ · 3-bedroom) · 보증금 5,000만 원 / 월세 150만 원 · 파견 2인 공동 거주 전제 · 실속안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2026 · 2개월 소요비용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1,418만 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63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149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149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2027 · 연간 소요비용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49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월 188.5만 원 × 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830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90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  <a:r>
              <a:rPr sz="1200" b="1">
                <a:solidFill>
                  <a:srgbClr val="B8860B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690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초기 일회성 (가구·커튼·가전·중개)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8690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표준안 1,041만 원 · 2026 1회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430250" y="1904695"/>
            <a:ext cx="3943350" cy="1000000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658850" y="2024695"/>
            <a:ext cx="364335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550" b="1">
                <a:solidFill>
                  <a:srgbClr val="0E2240"/>
                </a:solidFill>
                <a:latin typeface="Noto Sans KR"/>
                <a:ea typeface="Noto Sans KR"/>
              </a:rPr>
              <a:t>5,000</a:t>
            </a:r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 만 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58850" y="2444695"/>
            <a:ext cx="3643350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보증금 (퇴거 시 환급)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58850" y="2664695"/>
            <a:ext cx="3643350" cy="1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비용 합계에서 제외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33000"/>
            <a:ext cx="215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4400" y="3133000"/>
            <a:ext cx="32039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산출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2026 (2개월)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8305" y="3133000"/>
            <a:ext cx="15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2027 (12개월)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8305" y="3133000"/>
            <a:ext cx="14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47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① 월세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4400" y="34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월 150만 원 (확정)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8305" y="34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1,800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8305" y="34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85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85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② 부대비용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4400" y="385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관리비 25 · 공과금 10 · 통신 3.5 (월, 가정값)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77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8305" y="385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462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8305" y="385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539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423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423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③ 초기 일회성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4400" y="423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실속안 · 2027 재사용 전제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68305" y="423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8305" y="423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615900"/>
            <a:ext cx="97539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61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 (실속안)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4400" y="461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988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8305" y="461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8305" y="461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3,250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4995900"/>
            <a:ext cx="97539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499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(참고) 합계 (표준안)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4400" y="499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일회성 1,041 적용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1,418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68305" y="499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2,262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8305" y="499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3,680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5375900"/>
            <a:ext cx="97539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5375900"/>
            <a:ext cx="215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(참고) 변경 전 주거비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64400" y="5375900"/>
            <a:ext cx="32039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50" b="0">
                <a:solidFill>
                  <a:srgbClr val="4D6E8E"/>
                </a:solidFill>
                <a:latin typeface="Noto Sans KR"/>
                <a:ea typeface="Noto Sans KR"/>
              </a:rPr>
              <a:t>150×12 + 6,000×5% 기준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68305" y="5375900"/>
            <a:ext cx="15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2,100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68305" y="5375900"/>
            <a:ext cx="14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2,450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815900"/>
            <a:ext cx="97539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단위: 만 원 · </a:t>
            </a:r>
            <a:r>
              <a:rPr sz="900" b="0">
                <a:solidFill>
                  <a:srgbClr val="C00000"/>
                </a:solidFill>
                <a:latin typeface="Noto Sans KR"/>
                <a:ea typeface="Noto Sans KR"/>
              </a:rPr>
              <a:t>①은 보증금 기회비용(5%) 미반영 — 08쪽·A2 주거비도 같은 기준으로 반영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20095" y="3133000"/>
            <a:ext cx="13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일회성 구성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실속안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0095" y="3133000"/>
            <a:ext cx="1000000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표준안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20095" y="3133000"/>
            <a:ext cx="3253505" cy="342900"/>
          </a:xfrm>
          <a:prstGeom prst="rect">
            <a:avLst/>
          </a:prstGeom>
          <a:solidFill>
            <a:srgbClr val="3C6791"/>
          </a:solidFill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Noto Sans KR"/>
                <a:ea typeface="Noto Sans KR"/>
              </a:rPr>
              <a:t>주요 품목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820095" y="347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20095" y="34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거실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20095" y="34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120095" y="34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소파 · 테이블 · 거실장 · 식탁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820095" y="385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820095" y="385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침실 (2실)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120095" y="385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280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120095" y="385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침대 · 책상 · 침구 (옷장 제외)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820095" y="423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20095" y="423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커튼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50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20095" y="423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120095" y="423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전체 창 (34평 · 창 6개)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820095" y="4615900"/>
            <a:ext cx="6553505" cy="380000"/>
          </a:xfrm>
          <a:prstGeom prst="rect">
            <a:avLst/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820095" y="461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가전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244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120095" y="461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341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4120095" y="461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냉장고 · 세탁기 · TV · 밥솥 · 가스레인지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820095" y="4995900"/>
            <a:ext cx="6553505" cy="3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820095" y="499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계약 · 생활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0">
                <a:solidFill>
                  <a:srgbClr val="0E2240"/>
                </a:solidFill>
                <a:latin typeface="Noto Sans KR"/>
                <a:ea typeface="Noto Sans KR"/>
              </a:rPr>
              <a:t>96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120095" y="499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126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120095" y="499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000" b="0">
                <a:solidFill>
                  <a:srgbClr val="4D6E8E"/>
                </a:solidFill>
                <a:latin typeface="Noto Sans KR"/>
                <a:ea typeface="Noto Sans KR"/>
              </a:rPr>
              <a:t>중개보수 66 (상한) · 생활용품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820095" y="5375900"/>
            <a:ext cx="6553505" cy="380000"/>
          </a:xfrm>
          <a:prstGeom prst="rect">
            <a:avLst/>
          </a:prstGeom>
          <a:solidFill>
            <a:srgbClr val="DD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820095" y="5375900"/>
            <a:ext cx="13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합계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B8860B"/>
                </a:solidFill>
                <a:latin typeface="Noto Sans KR"/>
                <a:ea typeface="Noto Sans KR"/>
              </a:rPr>
              <a:t>611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120095" y="5375900"/>
            <a:ext cx="1000000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r"/>
            <a:r>
              <a:rPr sz="1400" b="1">
                <a:solidFill>
                  <a:srgbClr val="0E2240"/>
                </a:solidFill>
                <a:latin typeface="Noto Sans KR"/>
                <a:ea typeface="Noto Sans KR"/>
              </a:rPr>
              <a:t>1,041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120095" y="5375900"/>
            <a:ext cx="3253505" cy="380000"/>
          </a:xfrm>
          <a:prstGeom prst="rect">
            <a:avLst/>
          </a:prstGeom>
          <a:noFill/>
        </p:spPr>
        <p:txBody>
          <a:bodyPr wrap="square" tIns="0" rIns="45720" bIns="0" anchor="ctr">
            <a:noAutofit/>
          </a:bodyPr>
          <a:lstStyle/>
          <a:p>
            <a:pPr algn="l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820095" y="5815900"/>
            <a:ext cx="6553505" cy="2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>
                <a:solidFill>
                  <a:srgbClr val="4D6E8E"/>
                </a:solidFill>
                <a:latin typeface="Noto Sans KR"/>
                <a:ea typeface="Noto Sans KR"/>
              </a:rPr>
              <a:t>입주 청소 · 옷장은 미포함(엑셀 포함 여부 N)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14400" y="6450000"/>
            <a:ext cx="16459200" cy="514807"/>
          </a:xfrm>
          <a:prstGeom prst="roundRect">
            <a:avLst>
              <a:gd name="adj" fmla="val 25933"/>
            </a:avLst>
          </a:prstGeom>
          <a:solidFill>
            <a:srgbClr val="E9F2FB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914400" y="6450000"/>
            <a:ext cx="57607" cy="51480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143000" y="6590000"/>
            <a:ext cx="1100000" cy="2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한 줄 정리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476195" y="6600000"/>
            <a:ext cx="14668805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25" b="0">
                <a:solidFill>
                  <a:srgbClr val="1F2A37"/>
                </a:solidFill>
                <a:latin typeface="Noto Sans KR"/>
                <a:ea typeface="Noto Sans KR"/>
              </a:rPr>
              <a:t>2027 숙소 연 </a:t>
            </a:r>
            <a:r>
              <a:rPr sz="1125" b="1">
                <a:solidFill>
                  <a:srgbClr val="B8860B"/>
                </a:solidFill>
                <a:latin typeface="Noto Sans KR"/>
                <a:ea typeface="Noto Sans KR"/>
              </a:rPr>
              <a:t>2,262만 원</a:t>
            </a:r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은 08쪽 경비 순증에 반영 — 변경 전 2,100 대비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+162만 원</a:t>
            </a:r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 (부대비용 포함). 2026 초기 일회성 </a:t>
            </a:r>
            <a:r>
              <a:rPr sz="1125" b="1">
                <a:solidFill>
                  <a:srgbClr val="0E2240"/>
                </a:solidFill>
                <a:latin typeface="Noto Sans KR"/>
                <a:ea typeface="Noto Sans KR"/>
              </a:rPr>
              <a:t>611만 원</a:t>
            </a:r>
            <a:r>
              <a:rPr sz="1125" b="0">
                <a:solidFill>
                  <a:srgbClr val="C00000"/>
                </a:solidFill>
                <a:latin typeface="Noto Sans KR"/>
                <a:ea typeface="Noto Sans KR"/>
              </a:rPr>
              <a:t>은 2026 일회성 비용에 반영(0.05억 → 0.11억)했습니다.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14400" y="7150000"/>
            <a:ext cx="16459200" cy="165000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14400" y="7150000"/>
            <a:ext cx="57607" cy="16500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43000" y="72800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0E2240"/>
                </a:solidFill>
                <a:latin typeface="Noto Sans KR"/>
                <a:ea typeface="Noto Sans KR"/>
              </a:rPr>
              <a:t>※ 산출 가정 · 확인 필요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43000" y="7620000"/>
            <a:ext cx="16002000" cy="109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단가 근거: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커튼(glasswallet 34평 시세) · 가스레인지(쿠팡 189,000원) · 냉장고(SSG/LG 일반형) · 세탁기(다나와 LG 트롬 21kg 885,180원)는 온라인 공개가. 그 외 가구 · 밥솥 · TV · 부대비용은 가정값으로 견적 확인 필요. 중개보수는 상한요율 0.3% + VAT.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0E2240"/>
                </a:solidFill>
                <a:latin typeface="Noto Sans KR"/>
                <a:ea typeface="Noto Sans KR"/>
              </a:rPr>
              <a:t>옵션 확인: </a:t>
            </a:r>
            <a:r>
              <a:rPr sz="1050" b="0">
                <a:solidFill>
                  <a:srgbClr val="1F2A37"/>
                </a:solidFill>
                <a:latin typeface="Noto Sans KR"/>
                <a:ea typeface="Noto Sans KR"/>
              </a:rPr>
              <a:t>빌트인 쿡탑 · 냉장고 · 세탁기가 임대 옵션에 포함되면 해당 금액 제외(실속안 기준 최대 179만 원 감소). 관리비 월 25만 원은 K-apt 실제 부과액으로 확정.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C00000"/>
                </a:solidFill>
                <a:latin typeface="Noto Sans KR"/>
                <a:ea typeface="Noto Sans KR"/>
              </a:rPr>
              <a:t>08쪽 반영 완료: </a:t>
            </a:r>
            <a:r>
              <a:rPr sz="1050" b="0">
                <a:solidFill>
                  <a:srgbClr val="C00000"/>
                </a:solidFill>
                <a:latin typeface="Noto Sans KR"/>
                <a:ea typeface="Noto Sans KR"/>
              </a:rPr>
              <a:t>주거비 2,262는 경비 순증(2027 0.54억)에, 초기 일회성 611은 2026 일회성 비용에 반영. 2027 거점 영업손익 +1.60억, 3개년 +7.33억.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경남(창원) 사무소·지사 설립 계획(안) · 내부 보고용 · 2026.10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050" b="0">
                <a:solidFill>
                  <a:srgbClr val="8A9BB0"/>
                </a:solidFill>
                <a:latin typeface="Noto Sans KR"/>
                <a:ea typeface="Noto Sans KR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7903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90395"/>
            <a:ext cx="57607" cy="743407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14400" y="26673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3543300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914400" y="441929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5296205"/>
            <a:ext cx="16459200" cy="743407"/>
          </a:xfrm>
          <a:prstGeom prst="roundRect">
            <a:avLst>
              <a:gd name="adj" fmla="val 1795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14400" y="6286500"/>
            <a:ext cx="16459200" cy="1162202"/>
          </a:xfrm>
          <a:prstGeom prst="roundRect">
            <a:avLst>
              <a:gd name="adj" fmla="val 11487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914400" y="7512628"/>
            <a:ext cx="16459200" cy="1028700"/>
          </a:xfrm>
          <a:prstGeom prst="roundRect">
            <a:avLst>
              <a:gd name="adj" fmla="val 12978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7512628"/>
            <a:ext cx="57607" cy="1028700"/>
          </a:xfrm>
          <a:prstGeom prst="roundRect">
            <a:avLst>
              <a:gd name="adj" fmla="val 231747"/>
            </a:avLst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Summary —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 5건</a:t>
            </a:r>
            <a:endParaRPr lang="en-US" sz="3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창원·사천·거제의 현장에서 20주 안에 숫자로 증명한다 — 거점 손익 2027년 </a:t>
            </a:r>
            <a:r>
              <a:rPr lang="en-US" sz="16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+1.60억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(인건비 포함). 그 첫걸음은 현장에 사람을 두는 것이다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1086307" y="19339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86307" y="19339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714500" y="1923898"/>
            <a:ext cx="217627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경남사무소 개설 승인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1714500" y="22475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2026.11, 입주 경남TP 경남인공지능혁신본부(창원 봉암) 4동 703호.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 승인완료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지점 등기는 공모 소재 요건 확인 결과에 따라 개설 동시 또는 2027.7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086307" y="28099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86307" y="28099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714500" y="2800807"/>
            <a:ext cx="153619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파견 발령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1714500" y="31245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영업/PM 1인 선발견, 2027년 1/4분기 수석 엔지니어 1인 추가 파견 (국방·전략사업부 소속) · 파견수당·주거·교통 지원 기준 승인. 제조 사업 조직과의 고객·매출 분담 기준 동시 확정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1086307" y="368594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086307" y="368594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714500" y="3676802"/>
            <a:ext cx="17913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예산 반영</a:t>
            </a:r>
            <a:endParaRPr lang="en-US" sz="1575" dirty="0"/>
          </a:p>
        </p:txBody>
      </p:sp>
      <p:sp>
        <p:nvSpPr>
          <p:cNvPr id="24" name="Text 22"/>
          <p:cNvSpPr txBox="1"/>
          <p:nvPr/>
        </p:nvSpPr>
        <p:spPr>
          <a:xfrm>
            <a:off x="1714500" y="4000500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거점 고정비 2.65억 (인건비 2.10억 + 경비 순증 0.54억, 현지 엔지니어 2인 인건비는 PI-LAM 과제비 충당) + 현지 채용 TO 3명 +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약 0.12억(3개년, 숙소 설치비 포함)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1086307" y="456285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086307" y="4562856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1714500" y="4552798"/>
            <a:ext cx="2304288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협의 권한 위임</a:t>
            </a:r>
            <a:endParaRPr lang="en-US" sz="1575" dirty="0"/>
          </a:p>
        </p:txBody>
      </p:sp>
      <p:sp>
        <p:nvSpPr>
          <p:cNvPr id="28" name="Text 26"/>
          <p:cNvSpPr txBox="1"/>
          <p:nvPr/>
        </p:nvSpPr>
        <p:spPr>
          <a:xfrm>
            <a:off x="1714500" y="487649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국가연구소 연계 사업 2건 계약 구조 협의, 사업부장 전결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1086307" y="5438851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86307" y="5438851"/>
            <a:ext cx="457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14500" y="5429707"/>
            <a:ext cx="21058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기준 채택</a:t>
            </a:r>
            <a:endParaRPr lang="en-US" sz="1575" dirty="0"/>
          </a:p>
        </p:txBody>
      </p:sp>
      <p:sp>
        <p:nvSpPr>
          <p:cNvPr id="32" name="Text 30"/>
          <p:cNvSpPr txBox="1"/>
          <p:nvPr/>
        </p:nvSpPr>
        <p:spPr>
          <a:xfrm>
            <a:off x="1714500" y="5753405"/>
            <a:ext cx="15430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2027.6, 4개 기준 — 유상 3.7억 · 파이프라인 15억 · 공모 제안 2건 · 등대고객 3개사 — 중 3개 충족 시 전환·증원</a:t>
            </a:r>
            <a:endParaRPr lang="en-US" sz="1125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6439205"/>
            <a:ext cx="73152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기대효과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6762902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거점 영업손익 +1.60억(인건비 포함), 손익분기는 계획의 62% 수준. 3개년 누적 </a:t>
            </a:r>
            <a:r>
              <a:rPr lang="en-US" sz="1125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+7.3억</a:t>
            </a:r>
            <a:endParaRPr lang="en-US" sz="1125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7003390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코난 몫 79억(2026~2030 다년)의 현장 수행 기반 확보</a:t>
            </a:r>
            <a:endParaRPr lang="en-US" sz="1125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7243877"/>
            <a:ext cx="15811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→ 포항 → 여수·광양으로 이어지는 제조 AX 거점 확장의 교두보</a:t>
            </a:r>
            <a:endParaRPr lang="en-US" sz="1125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7665333"/>
            <a:ext cx="131765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필요 가정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7969828"/>
            <a:ext cx="160020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2건 계약 구조 · 지자체 공모 지역 소재 요건 · 유치 인센티브 · 입주 위치·무상 여부 · 인건비 단가(인사팀) · 과제별 직접원가율(재무팀) · PI-LAM 청년채용 요건·과제비 집행 시차(재무팀)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DA4A3-0A3B-0391-DBDF-8E357BFB1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>
            <a:extLst>
              <a:ext uri="{FF2B5EF4-FFF2-40B4-BE49-F238E27FC236}">
                <a16:creationId xmlns:a16="http://schemas.microsoft.com/office/drawing/2014/main" id="{4B4852C0-B4A7-54DE-184A-0B06E1FBE461}"/>
              </a:ext>
            </a:extLst>
          </p:cNvPr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봉암동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동남권</a:t>
            </a:r>
            <a:r>
              <a:rPr lang="en-US" altLang="ko-KR" sz="3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방산</a:t>
            </a:r>
            <a:r>
              <a:rPr lang="en-US" altLang="ko-KR" sz="28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 국가산단 접근성 </a:t>
            </a:r>
            <a:r>
              <a:rPr lang="en-US" altLang="ko-KR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</a:rPr>
              <a:t>MAP</a:t>
            </a:r>
            <a:endParaRPr lang="en-US" sz="3150" b="1" kern="0" spc="-31" dirty="0">
              <a:solidFill>
                <a:srgbClr val="0E224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E164520-8574-B7B9-2E50-1A8B37F19020}"/>
              </a:ext>
            </a:extLst>
          </p:cNvPr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7E3CC23-D425-CB1A-99BD-7D7B3C903B65}"/>
              </a:ext>
            </a:extLst>
          </p:cNvPr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2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3A2C6EBE-A8E8-9A38-8577-A706FCFEE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4" y="1096366"/>
            <a:ext cx="15331044" cy="8623712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9FE1FF97-1544-B7C0-1C4F-0C07A15EF519}"/>
              </a:ext>
            </a:extLst>
          </p:cNvPr>
          <p:cNvSpPr txBox="1"/>
          <p:nvPr/>
        </p:nvSpPr>
        <p:spPr>
          <a:xfrm>
            <a:off x="914400" y="1218895"/>
            <a:ext cx="16193110" cy="598030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6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F18C9C2-FE6D-404E-E6AE-5AA49E441286}"/>
              </a:ext>
            </a:extLst>
          </p:cNvPr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기준으로 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이내 영업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사업수행 가능 지역</a:t>
            </a:r>
            <a:r>
              <a:rPr lang="en-US" altLang="ko-KR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59459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29fcd9f2d29859907097ddd37024b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6c845511cf2a6df754160afd0769716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9638340f5a32d5b4c42ce695fa0e34a7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0124063267afec08b7d15297613bc3b8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11811305" y="2667305"/>
            <a:ext cx="5333695" cy="49533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476195"/>
            <a:ext cx="85725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0" b="1" kern="0" spc="36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</a:t>
            </a:r>
            <a:endParaRPr lang="en-US" sz="9000" dirty="0"/>
          </a:p>
        </p:txBody>
      </p:sp>
      <p:sp>
        <p:nvSpPr>
          <p:cNvPr id="7" name="Text 1"/>
          <p:cNvSpPr txBox="1"/>
          <p:nvPr/>
        </p:nvSpPr>
        <p:spPr>
          <a:xfrm>
            <a:off x="1181405" y="3847795"/>
            <a:ext cx="85725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계획과 산출 근거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1181404" y="4572000"/>
            <a:ext cx="101239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8"/>
              </a:lnSpc>
              <a:buNone/>
            </a:pP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본문에서 다룬 의사결정 요청 5건의 산출 근거, 일정, 비용, 확장 맵, 리스크, 시장·정책 동향을 한 자리에 모았습니다.</a:t>
            </a:r>
            <a:endParaRPr lang="en-US" sz="1650" dirty="0"/>
          </a:p>
        </p:txBody>
      </p:sp>
      <p:pic>
        <p:nvPicPr>
          <p:cNvPr id="9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81405" y="5219395"/>
            <a:ext cx="1143000" cy="384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181405" y="5715000"/>
            <a:ext cx="10478110" cy="314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 · 상세 추진 일정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· 항목별 비용 산출표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 · 일회성 설치 비용과 입주 위치 대안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 · 주거비 상세 산출 (창원 숙소)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 · 권역별 확장 맵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 · 리스크·대응과 확인 필요 가정</a:t>
            </a:r>
            <a:endParaRPr lang="en-US" sz="1200" dirty="0"/>
          </a:p>
          <a:p>
            <a:pPr marL="0" indent="0" algn="l">
              <a:spcAft>
                <a:spcPts val="450"/>
              </a:spcAft>
              <a:buNone/>
            </a:pPr>
            <a:r>
              <a:rPr lang="en-US" sz="120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​</a:t>
            </a:r>
            <a:r>
              <a:rPr lang="en-US" sz="1800" b="1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 · 시장·정책 동향 상세</a:t>
            </a:r>
            <a:endParaRPr lang="en-US" sz="1200" dirty="0"/>
          </a:p>
        </p:txBody>
      </p:sp>
      <p:sp>
        <p:nvSpPr>
          <p:cNvPr id="11" name="Text 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762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391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0010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36289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2725705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5087600" y="2247595"/>
            <a:ext cx="2286000" cy="609905"/>
          </a:xfrm>
          <a:prstGeom prst="roundRect">
            <a:avLst>
              <a:gd name="adj" fmla="val 21889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dcc55e0d571cddf2185b4ab98d7a2fe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14400" y="2701636"/>
            <a:ext cx="16459200" cy="1920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3544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828239" y="3247949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731106" y="3247949"/>
            <a:ext cx="12639751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추진 사항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3544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923544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828239" y="3743554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828239" y="429676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828239" y="374355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125" dirty="0"/>
          </a:p>
        </p:txBody>
      </p:sp>
      <p:sp>
        <p:nvSpPr>
          <p:cNvPr id="18" name="Shape 15"/>
          <p:cNvSpPr/>
          <p:nvPr/>
        </p:nvSpPr>
        <p:spPr>
          <a:xfrm>
            <a:off x="4731106" y="3743554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731106" y="429676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731106" y="374355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경영진 승인 ·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 봉암 입주 신청 (10.1~10.14, 4동 703호)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창원대 연계 2건 계약 구조 확정 · 거점 1인 인선 (영업/PM) · 2027 공모별 지역 소재 요건 확인</a:t>
            </a:r>
            <a:endParaRPr lang="en-US" sz="1125" dirty="0"/>
          </a:p>
        </p:txBody>
      </p:sp>
      <p:sp>
        <p:nvSpPr>
          <p:cNvPr id="21" name="Shape 18"/>
          <p:cNvSpPr/>
          <p:nvPr/>
        </p:nvSpPr>
        <p:spPr>
          <a:xfrm>
            <a:off x="923544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923544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828239" y="4302252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828239" y="4855464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2828239" y="4302252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4731106" y="4302252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4731106" y="4855464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4731106" y="4302252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ko-KR" altLang="en-US" sz="1125" b="1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승인</a:t>
            </a:r>
            <a:r>
              <a:rPr lang="en-US" altLang="ko-KR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</a:t>
            </a:r>
            <a:r>
              <a:rPr lang="ko-KR" alt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경남 사무소 </a:t>
            </a:r>
            <a:r>
              <a:rPr lang="en-US" sz="1125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개설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en-US" sz="1125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봉암</a:t>
            </a:r>
            <a:r>
              <a:rPr lang="ko-KR" alt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입주·주거·차량) · 경남도·창원시·경남TP·거제시·부산TP 인사 · 등대고객 진단 착수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923544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923544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2828239" y="4861865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2828239" y="5415077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2828239" y="4861865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착수</a:t>
            </a:r>
            <a:endParaRPr lang="en-US" sz="1125" dirty="0"/>
          </a:p>
        </p:txBody>
      </p:sp>
      <p:sp>
        <p:nvSpPr>
          <p:cNvPr id="34" name="Shape 31"/>
          <p:cNvSpPr/>
          <p:nvPr/>
        </p:nvSpPr>
        <p:spPr>
          <a:xfrm>
            <a:off x="4731106" y="4861865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4731106" y="5415077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4731106" y="4861865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 실증 3건 현장 착수 · 방산 현장 보안 절차 (2~4주) · 유상 PoC 2건 계약</a:t>
            </a:r>
            <a:endParaRPr lang="en-US" sz="1125" dirty="0"/>
          </a:p>
        </p:txBody>
      </p:sp>
      <p:sp>
        <p:nvSpPr>
          <p:cNvPr id="37" name="Shape 34"/>
          <p:cNvSpPr/>
          <p:nvPr/>
        </p:nvSpPr>
        <p:spPr>
          <a:xfrm>
            <a:off x="923544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923544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2828239" y="5420563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2828239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828239" y="5420563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 준비</a:t>
            </a:r>
            <a:endParaRPr lang="en-US" sz="1125" dirty="0"/>
          </a:p>
        </p:txBody>
      </p:sp>
      <p:sp>
        <p:nvSpPr>
          <p:cNvPr id="42" name="Shape 39"/>
          <p:cNvSpPr/>
          <p:nvPr/>
        </p:nvSpPr>
        <p:spPr>
          <a:xfrm>
            <a:off x="4731106" y="5420563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4731106" y="5973775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4731106" y="5420563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유상 PoC 수행 · 지역 공모 제안 2건 · 수석 엔지니어 파견(1/4분기) · 현지 채용 3인(연내 완료 — 엔지니어 2인은 PI-LAM 과제 청년채용, 인건비 과제비) · 포항 월 2~4회 순회</a:t>
            </a:r>
            <a:endParaRPr lang="en-US" sz="1125" dirty="0"/>
          </a:p>
        </p:txBody>
      </p:sp>
      <p:sp>
        <p:nvSpPr>
          <p:cNvPr id="45" name="Shape 42"/>
          <p:cNvSpPr/>
          <p:nvPr/>
        </p:nvSpPr>
        <p:spPr>
          <a:xfrm>
            <a:off x="923544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923544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2828239" y="5980176"/>
            <a:ext cx="1904695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2828239" y="6533388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2828239" y="5980176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endParaRPr lang="en-US" sz="1125" dirty="0"/>
          </a:p>
        </p:txBody>
      </p:sp>
      <p:sp>
        <p:nvSpPr>
          <p:cNvPr id="50" name="Shape 47"/>
          <p:cNvSpPr/>
          <p:nvPr/>
        </p:nvSpPr>
        <p:spPr>
          <a:xfrm>
            <a:off x="4731106" y="5980176"/>
            <a:ext cx="12639751" cy="5623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4731106" y="6533388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4731106" y="5980176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Go/No-go — 4개 기준 중 3개 충족 여부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923544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923544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2828239" y="6538874"/>
            <a:ext cx="1904695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2828239" y="709208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2828239" y="6538874"/>
            <a:ext cx="190561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</a:t>
            </a:r>
            <a:endParaRPr lang="en-US" sz="1125" dirty="0"/>
          </a:p>
        </p:txBody>
      </p:sp>
      <p:sp>
        <p:nvSpPr>
          <p:cNvPr id="58" name="Shape 55"/>
          <p:cNvSpPr/>
          <p:nvPr/>
        </p:nvSpPr>
        <p:spPr>
          <a:xfrm>
            <a:off x="4731106" y="6538874"/>
            <a:ext cx="12639751" cy="56235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4731106" y="7092086"/>
            <a:ext cx="12639751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4731106" y="6538874"/>
            <a:ext cx="12639751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(가칭) 코난테크놀로지 제조AX기술센터 @경남 지점 등기·사업자등록 · 5인 체제(연말 기준) 전환 </a:t>
            </a:r>
            <a:r>
              <a:rPr lang="en-US" sz="1050" b="1" dirty="0">
                <a:solidFill>
                  <a:srgbClr val="C039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(조기 트리거 발생 시 앞당김)</a:t>
            </a:r>
            <a:endParaRPr lang="en-US" sz="1125" dirty="0"/>
          </a:p>
        </p:txBody>
      </p:sp>
      <p:sp>
        <p:nvSpPr>
          <p:cNvPr id="61" name="Shape 58"/>
          <p:cNvSpPr/>
          <p:nvPr/>
        </p:nvSpPr>
        <p:spPr>
          <a:xfrm>
            <a:off x="923544" y="7098487"/>
            <a:ext cx="1904695" cy="552298"/>
          </a:xfrm>
          <a:prstGeom prst="roundRect">
            <a:avLst>
              <a:gd name="adj" fmla="val 2417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828239" y="7098487"/>
            <a:ext cx="1905610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정착 심의</a:t>
            </a:r>
            <a:endParaRPr lang="en-US" sz="1125" dirty="0"/>
          </a:p>
        </p:txBody>
      </p:sp>
      <p:sp>
        <p:nvSpPr>
          <p:cNvPr id="63" name="Text 60"/>
          <p:cNvSpPr txBox="1"/>
          <p:nvPr/>
        </p:nvSpPr>
        <p:spPr>
          <a:xfrm>
            <a:off x="4731106" y="7098487"/>
            <a:ext cx="12639751" cy="55321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증분 매출 8.5억 달성 시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본격 진입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미달 시 축소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982066" y="3877056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982066" y="3877056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982066" y="4435754"/>
            <a:ext cx="97840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982066" y="4435754"/>
            <a:ext cx="97932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981151" y="4995367"/>
            <a:ext cx="1227125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981151" y="4995367"/>
            <a:ext cx="1227125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050" dirty="0"/>
          </a:p>
        </p:txBody>
      </p:sp>
      <p:sp>
        <p:nvSpPr>
          <p:cNvPr id="70" name="Shape 67"/>
          <p:cNvSpPr/>
          <p:nvPr/>
        </p:nvSpPr>
        <p:spPr>
          <a:xfrm>
            <a:off x="981151" y="5554066"/>
            <a:ext cx="1061618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8"/>
          <p:cNvSpPr txBox="1"/>
          <p:nvPr/>
        </p:nvSpPr>
        <p:spPr>
          <a:xfrm>
            <a:off x="981151" y="5554066"/>
            <a:ext cx="1061618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981151" y="6113678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0E22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0"/>
          <p:cNvSpPr txBox="1"/>
          <p:nvPr/>
        </p:nvSpPr>
        <p:spPr>
          <a:xfrm>
            <a:off x="981151" y="6113678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981151" y="6672377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981151" y="6672377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050" dirty="0"/>
          </a:p>
        </p:txBody>
      </p:sp>
      <p:sp>
        <p:nvSpPr>
          <p:cNvPr id="76" name="Shape 73"/>
          <p:cNvSpPr/>
          <p:nvPr/>
        </p:nvSpPr>
        <p:spPr>
          <a:xfrm>
            <a:off x="981151" y="7231990"/>
            <a:ext cx="896112" cy="286207"/>
          </a:xfrm>
          <a:prstGeom prst="roundRect">
            <a:avLst>
              <a:gd name="adj" fmla="val 26518"/>
            </a:avLst>
          </a:prstGeom>
          <a:solidFill>
            <a:srgbClr val="E9F2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4"/>
          <p:cNvSpPr txBox="1"/>
          <p:nvPr/>
        </p:nvSpPr>
        <p:spPr>
          <a:xfrm>
            <a:off x="981151" y="7231990"/>
            <a:ext cx="896112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추진 일정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(안)</a:t>
            </a:r>
            <a:endParaRPr lang="en-US" sz="3150" dirty="0"/>
          </a:p>
        </p:txBody>
      </p:sp>
      <p:sp>
        <p:nvSpPr>
          <p:cNvPr id="79" name="Text 76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 승인 → 2026.11 개설 → 2027.6 Go/No-go → 2027.7 지사 전환</a:t>
            </a:r>
            <a:endParaRPr lang="en-US" sz="1650" dirty="0"/>
          </a:p>
        </p:txBody>
      </p:sp>
      <p:sp>
        <p:nvSpPr>
          <p:cNvPr id="80" name="Text 77"/>
          <p:cNvSpPr txBox="1"/>
          <p:nvPr/>
        </p:nvSpPr>
        <p:spPr>
          <a:xfrm>
            <a:off x="914400" y="1904695"/>
            <a:ext cx="893369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650" dirty="0"/>
          </a:p>
        </p:txBody>
      </p:sp>
      <p:sp>
        <p:nvSpPr>
          <p:cNvPr id="81" name="Text 78"/>
          <p:cNvSpPr txBox="1"/>
          <p:nvPr/>
        </p:nvSpPr>
        <p:spPr>
          <a:xfrm>
            <a:off x="1781251" y="1933956"/>
            <a:ext cx="132588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7개 마일스톤</a:t>
            </a:r>
            <a:endParaRPr lang="en-US" sz="1350" dirty="0"/>
          </a:p>
        </p:txBody>
      </p:sp>
      <p:sp>
        <p:nvSpPr>
          <p:cNvPr id="82" name="Text 79"/>
          <p:cNvSpPr txBox="1"/>
          <p:nvPr/>
        </p:nvSpPr>
        <p:spPr>
          <a:xfrm>
            <a:off x="1086307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</a:t>
            </a:r>
            <a:endParaRPr lang="en-US" sz="1350" dirty="0"/>
          </a:p>
        </p:txBody>
      </p:sp>
      <p:sp>
        <p:nvSpPr>
          <p:cNvPr id="83" name="Text 80"/>
          <p:cNvSpPr txBox="1"/>
          <p:nvPr/>
        </p:nvSpPr>
        <p:spPr>
          <a:xfrm>
            <a:off x="20766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75" dirty="0"/>
          </a:p>
        </p:txBody>
      </p:sp>
      <p:sp>
        <p:nvSpPr>
          <p:cNvPr id="84" name="Shape 81"/>
          <p:cNvSpPr/>
          <p:nvPr/>
        </p:nvSpPr>
        <p:spPr>
          <a:xfrm>
            <a:off x="10863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2"/>
          <p:cNvSpPr txBox="1"/>
          <p:nvPr/>
        </p:nvSpPr>
        <p:spPr>
          <a:xfrm>
            <a:off x="3448202" y="2361895"/>
            <a:ext cx="77083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</a:t>
            </a:r>
            <a:endParaRPr lang="en-US" sz="1350" dirty="0"/>
          </a:p>
        </p:txBody>
      </p:sp>
      <p:sp>
        <p:nvSpPr>
          <p:cNvPr id="86" name="Text 83"/>
          <p:cNvSpPr txBox="1"/>
          <p:nvPr/>
        </p:nvSpPr>
        <p:spPr>
          <a:xfrm>
            <a:off x="44384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75" dirty="0"/>
          </a:p>
        </p:txBody>
      </p:sp>
      <p:sp>
        <p:nvSpPr>
          <p:cNvPr id="87" name="Shape 84"/>
          <p:cNvSpPr/>
          <p:nvPr/>
        </p:nvSpPr>
        <p:spPr>
          <a:xfrm>
            <a:off x="3448202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5810098" y="2361895"/>
            <a:ext cx="11018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2026.11~12</a:t>
            </a:r>
            <a:endParaRPr lang="en-US" sz="1350" dirty="0"/>
          </a:p>
        </p:txBody>
      </p:sp>
      <p:sp>
        <p:nvSpPr>
          <p:cNvPr id="89" name="Text 86"/>
          <p:cNvSpPr txBox="1"/>
          <p:nvPr/>
        </p:nvSpPr>
        <p:spPr>
          <a:xfrm>
            <a:off x="7029907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58100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8"/>
          <p:cNvSpPr txBox="1"/>
          <p:nvPr/>
        </p:nvSpPr>
        <p:spPr>
          <a:xfrm>
            <a:off x="8172907" y="2361895"/>
            <a:ext cx="88148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2027.1~5</a:t>
            </a:r>
            <a:endParaRPr lang="en-US" sz="1350" dirty="0"/>
          </a:p>
        </p:txBody>
      </p:sp>
      <p:sp>
        <p:nvSpPr>
          <p:cNvPr id="92" name="Text 89"/>
          <p:cNvSpPr txBox="1"/>
          <p:nvPr/>
        </p:nvSpPr>
        <p:spPr>
          <a:xfrm>
            <a:off x="9277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75" dirty="0"/>
          </a:p>
        </p:txBody>
      </p:sp>
      <p:sp>
        <p:nvSpPr>
          <p:cNvPr id="93" name="Shape 90"/>
          <p:cNvSpPr/>
          <p:nvPr/>
        </p:nvSpPr>
        <p:spPr>
          <a:xfrm>
            <a:off x="81729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10534802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2027.6</a:t>
            </a:r>
            <a:endParaRPr lang="en-US" sz="1350" dirty="0"/>
          </a:p>
        </p:txBody>
      </p:sp>
      <p:sp>
        <p:nvSpPr>
          <p:cNvPr id="95" name="Text 92"/>
          <p:cNvSpPr txBox="1"/>
          <p:nvPr/>
        </p:nvSpPr>
        <p:spPr>
          <a:xfrm>
            <a:off x="11410798" y="2381098"/>
            <a:ext cx="7434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975" dirty="0"/>
          </a:p>
        </p:txBody>
      </p:sp>
      <p:sp>
        <p:nvSpPr>
          <p:cNvPr id="96" name="Shape 93"/>
          <p:cNvSpPr/>
          <p:nvPr/>
        </p:nvSpPr>
        <p:spPr>
          <a:xfrm>
            <a:off x="10534802" y="2667305"/>
            <a:ext cx="75895" cy="75895"/>
          </a:xfrm>
          <a:prstGeom prst="ellipse">
            <a:avLst/>
          </a:prstGeom>
          <a:solidFill>
            <a:srgbClr val="E2B23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4"/>
          <p:cNvSpPr txBox="1"/>
          <p:nvPr/>
        </p:nvSpPr>
        <p:spPr>
          <a:xfrm>
            <a:off x="12896698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2027.7</a:t>
            </a:r>
            <a:endParaRPr lang="en-US" sz="1350" dirty="0"/>
          </a:p>
        </p:txBody>
      </p:sp>
      <p:sp>
        <p:nvSpPr>
          <p:cNvPr id="98" name="Text 95"/>
          <p:cNvSpPr txBox="1"/>
          <p:nvPr/>
        </p:nvSpPr>
        <p:spPr>
          <a:xfrm>
            <a:off x="13849502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6</a:t>
            </a:r>
            <a:endParaRPr lang="en-US" sz="975" dirty="0"/>
          </a:p>
        </p:txBody>
      </p:sp>
      <p:sp>
        <p:nvSpPr>
          <p:cNvPr id="99" name="Shape 96"/>
          <p:cNvSpPr/>
          <p:nvPr/>
        </p:nvSpPr>
        <p:spPr>
          <a:xfrm>
            <a:off x="12896698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15259507" y="2361895"/>
            <a:ext cx="66111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2028.1</a:t>
            </a:r>
            <a:endParaRPr lang="en-US" sz="1350" dirty="0"/>
          </a:p>
        </p:txBody>
      </p:sp>
      <p:sp>
        <p:nvSpPr>
          <p:cNvPr id="101" name="Text 98"/>
          <p:cNvSpPr txBox="1"/>
          <p:nvPr/>
        </p:nvSpPr>
        <p:spPr>
          <a:xfrm>
            <a:off x="16211398" y="2381098"/>
            <a:ext cx="55321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75" b="1" kern="0" spc="3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7</a:t>
            </a:r>
            <a:endParaRPr lang="en-US" sz="975" dirty="0"/>
          </a:p>
        </p:txBody>
      </p:sp>
      <p:sp>
        <p:nvSpPr>
          <p:cNvPr id="102" name="Shape 99"/>
          <p:cNvSpPr/>
          <p:nvPr/>
        </p:nvSpPr>
        <p:spPr>
          <a:xfrm>
            <a:off x="15259507" y="2667305"/>
            <a:ext cx="75895" cy="75895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04" name="Text 10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914400" y="457200"/>
            <a:ext cx="156975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A2. </a:t>
            </a:r>
            <a:r>
              <a:rPr lang="en-US" sz="2850" b="1" kern="0" spc="-29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항목별 비용 산출표</a:t>
            </a:r>
            <a:r>
              <a:rPr lang="en-US" sz="2850" b="1" kern="0" spc="-29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(단위: 만 원)</a:t>
            </a:r>
            <a:endParaRPr lang="en-US" sz="285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99029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인력이 </a:t>
            </a:r>
            <a:r>
              <a:rPr lang="en-US" sz="15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5인(파견 2 + 현지 3)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확정(1/4분기 수석 엔지니어 파견, 현지 채용 연내 완료) — A2 표는 두 기간으로 분리 · 인건비 별도 (P&amp;L 슬라이드 참조)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7155629"/>
            <a:ext cx="66659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※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산출</a:t>
            </a:r>
            <a:r>
              <a:rPr lang="en-US" sz="1050" b="1" kern="0" spc="2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50" b="1" kern="0" spc="2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가정</a:t>
            </a:r>
            <a:endParaRPr lang="en-US" sz="1050" b="1" kern="0" spc="2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14400" y="7369271"/>
            <a:ext cx="164592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파견 인건비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현지 채용 연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6,000만 원/인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(4대보험·복리 포함), 유상 PoC 건당 0.5억, 본구축 건당 3억, 직접원가율 50%.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2027년 인건비는 파견 2인 + 현지 PM/영업 1인 기준(현지 채용 연내 완료, 현지 엔지니어 2인은 PI-LAM 과제비 부담으로 제외)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2026년은 11~12월 2개월 1인 실투입 기준, 2028년은 연간 5인 기준입니다.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7852988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사무실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임대료는 경남TP 봉암 4동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703호(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전용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63.75㎡ /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합계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 93.79㎡, 연 416만 원) </a:t>
            </a:r>
            <a:r>
              <a:rPr lang="en-US" sz="1050" b="1" dirty="0" err="1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</a:rPr>
              <a:t>기준</a:t>
            </a:r>
            <a:endParaRPr lang="en-US" sz="1050" b="1" dirty="0">
              <a:solidFill>
                <a:srgbClr val="B8860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914400" y="8123651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altLang="ko-KR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 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A2 산출은 5인(파견 2 + 현지 3) 기준 — 경비 순증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0.07억 (2026·2개월)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0.54억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(2027·5인, 연환산)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출장비 절감이 </a:t>
            </a:r>
            <a:r>
              <a:rPr lang="en-US" sz="105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추가비용의</a:t>
            </a:r>
            <a:r>
              <a:rPr lang="en-US" sz="1050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27%를</a:t>
            </a: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상계 · 2027 증분 매출 목표(8.5억)의 6%.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8394313"/>
            <a:ext cx="16459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인건비 포함 손익은 08-pnl 슬라이드(P&amp;L 분석) 참조.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BACEA7F-52BE-8391-A9B4-D59B2B028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41862"/>
              </p:ext>
            </p:extLst>
          </p:nvPr>
        </p:nvGraphicFramePr>
        <p:xfrm>
          <a:off x="895199" y="1685895"/>
          <a:ext cx="16435754" cy="5078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5839">
                  <a:extLst>
                    <a:ext uri="{9D8B030D-6E8A-4147-A177-3AD203B41FA5}">
                      <a16:colId xmlns:a16="http://schemas.microsoft.com/office/drawing/2014/main" val="3792717166"/>
                    </a:ext>
                  </a:extLst>
                </a:gridCol>
                <a:gridCol w="8227672">
                  <a:extLst>
                    <a:ext uri="{9D8B030D-6E8A-4147-A177-3AD203B41FA5}">
                      <a16:colId xmlns:a16="http://schemas.microsoft.com/office/drawing/2014/main" val="1958674779"/>
                    </a:ext>
                  </a:extLst>
                </a:gridCol>
                <a:gridCol w="2781737">
                  <a:extLst>
                    <a:ext uri="{9D8B030D-6E8A-4147-A177-3AD203B41FA5}">
                      <a16:colId xmlns:a16="http://schemas.microsoft.com/office/drawing/2014/main" val="1985834390"/>
                    </a:ext>
                  </a:extLst>
                </a:gridCol>
                <a:gridCol w="2840506">
                  <a:extLst>
                    <a:ext uri="{9D8B030D-6E8A-4147-A177-3AD203B41FA5}">
                      <a16:colId xmlns:a16="http://schemas.microsoft.com/office/drawing/2014/main" val="432137892"/>
                    </a:ext>
                  </a:extLst>
                </a:gridCol>
              </a:tblGrid>
              <a:tr h="5830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항목</a:t>
                      </a:r>
                      <a:endParaRPr lang="en-US" altLang="ko-KR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산출 근거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2026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(11~12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2027</a:t>
                      </a:r>
                      <a:br>
                        <a:rPr lang="en-US" altLang="ko-KR" sz="16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</a:b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연간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5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인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 + </a:t>
                      </a:r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3)</a:t>
                      </a:r>
                      <a:endParaRPr lang="ko-KR" altLang="en-US" sz="1600" kern="1200" dirty="0">
                        <a:solidFill>
                          <a:schemeClr val="bg1"/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595718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주거비 지원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1400" kern="120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월세 150만 원 + 관리비·공과금·통신 38.5만 원(가정) · 보증금 5,000만 원 반환 (A4)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377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2,262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8236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임대료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경남TP 봉암 4동 703호 (3,700원/㎡ × 93.79㎡, 월 347,000원 · 2026은 2개월)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416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242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사무실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통신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소모품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회의비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추정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- 50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840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60993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원격 교통비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×2 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1.5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4.3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(2026 2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개월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1,548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7621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렌트비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36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아반떼급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보증금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30%), 2026 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· 2027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864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98472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차량 운영비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대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2,000km)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920275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파견수당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720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664217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추가비용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868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7,370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166461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숙박료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5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480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5236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출장일비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일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1.8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346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320189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출장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KTX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왕복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10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80</a:t>
                      </a:r>
                      <a:endParaRPr lang="ko-KR" altLang="en-US" sz="1400" kern="12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960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0723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현지 교통비 절감</a:t>
                      </a: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파견자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 월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회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택시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만 원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× 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458906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직접 절감 합계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165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1,978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32004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(A−B)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기간 환산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703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5,392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95532"/>
                  </a:ext>
                </a:extLst>
              </a:tr>
              <a:tr h="2996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순증 비용 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월 환산</a:t>
                      </a:r>
                      <a:r>
                        <a:rPr lang="en-US" altLang="ko-KR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　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352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ko-KR" sz="1400" kern="120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</a:rPr>
                        <a:t>449</a:t>
                      </a:r>
                      <a:endParaRPr lang="ko-KR" altLang="en-US" sz="1400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Noto Sans KR" pitchFamily="34" charset="0"/>
                        <a:ea typeface="Noto Sans KR" pitchFamily="34" charset="-122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9014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6439998" cy="3257892"/>
        </p:xfrm>
        <a:graphic>
          <a:graphicData uri="http://schemas.openxmlformats.org/drawingml/2006/table">
            <a:tbl>
              <a:tblPr/>
              <a:tblGrid>
                <a:gridCol w="3238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금액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비고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5,000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반환 자산 계상 · 창원두산위브더센트럴 102동 (A4)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70C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숙소 초기 설치 (가구·가전·커튼·중개)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70C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70C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 기준(표준안 1,041) · 2026 일회성 비용 반영 · A4 참조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 렌트 보증금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700~900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차량의 30% 기준, 반환 자산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집기·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IT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장비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안전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900~1,200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모니터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의자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회의탁자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·</a:t>
                      </a:r>
                      <a:r>
                        <a:rPr lang="ko-KR" alt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인테리어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임대보증금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208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임대료 6개월분 · 자산 계상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예치금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(봉암 4동 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140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계약면적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93.79㎡ × 15,000원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(703호)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(2단계 전환 시)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40~60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등록면허세 4.02만 + 지방교육세 0.8만 + 등기수수료 0.6만 + 법무사 30~50만 (추정)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현판·명함·홍보물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50~100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지사 전환 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914400" y="6210605"/>
          <a:ext cx="16439997" cy="98584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88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29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입주 위치 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임대료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 순증 </a:t>
                      </a:r>
                      <a:r>
                        <a:rPr lang="en-US" sz="975" dirty="0">
                          <a:solidFill>
                            <a:srgbClr val="9FB4C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(5인 기준)</a:t>
                      </a:r>
                      <a:endParaRPr lang="en-US" sz="1200" dirty="0"/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평가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경남인공지능혁신본부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창원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봉암</a:t>
                      </a:r>
                      <a:r>
                        <a:rPr lang="en-US" altLang="ko-KR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 4동 703</a:t>
                      </a:r>
                      <a:r>
                        <a:rPr lang="ko-KR" alt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416 </a:t>
                      </a:r>
                      <a:r>
                        <a:rPr lang="en-US" sz="975" b="1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(월 347,000원)</a:t>
                      </a:r>
                      <a:endParaRPr lang="en-US" sz="1200" dirty="0"/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5,392</a:t>
                      </a:r>
                      <a:endParaRPr lang="en-US" sz="1200" dirty="0">
                        <a:solidFill>
                          <a:srgbClr val="FF0000"/>
                        </a:solidFill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전용 19.32평(63.75㎡) · 비용 최소 ·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인원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운용에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적합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· 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AI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특화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거점으로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공모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지역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소재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요건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즉시</a:t>
                      </a:r>
                      <a:r>
                        <a:rPr lang="en-US" altLang="ko-KR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05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충족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75895" marB="75895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A3.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위치 대안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보증금은 반환 자산 계상, 지점 등기 비용은 2단계 전환 시 발생 · 입주는 경남TP 봉암 4동 703</a:t>
            </a:r>
            <a:r>
              <a:rPr lang="ko-KR" alt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</a:t>
            </a: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일회성 설치 비용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266730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추정,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914400" y="579496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04595" y="5756563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입주 </a:t>
            </a:r>
            <a:r>
              <a:rPr lang="en-US" sz="1650" b="1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</a:t>
            </a: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연간 순증 비용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3999586" y="5784909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5인 기준,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972007" y="7246819"/>
            <a:ext cx="1645920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연 순증 = 4동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703호 </a:t>
            </a:r>
            <a:r>
              <a:rPr lang="ko-KR" alt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</a:t>
            </a:r>
            <a:r>
              <a:rPr lang="en-US" sz="1050" b="1" dirty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5,392만 원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(연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−416만 원). 월 </a:t>
            </a:r>
            <a:r>
              <a:rPr lang="en-US" sz="1050" dirty="0" err="1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임대료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347,000원 (부가세 제외, 보증금 × 6개월분 별도).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30980"/>
              </p:ext>
            </p:extLst>
          </p:nvPr>
        </p:nvGraphicFramePr>
        <p:xfrm>
          <a:off x="914400" y="2073445"/>
          <a:ext cx="10287000" cy="5881988"/>
        </p:xfrm>
        <a:graphic>
          <a:graphicData uri="http://schemas.openxmlformats.org/drawingml/2006/table">
            <a:tbl>
              <a:tblPr/>
              <a:tblGrid>
                <a:gridCol w="10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  <a:gridCol w="1250000">
                  <a:extLst>
                    <a:ext uri="{9D8B030D-6E8A-4147-A177-3AD203B41FA5}">
                      <a16:colId xmlns:a16="http://schemas.microsoft.com/office/drawing/2014/main" val="30004"/>
                    </a:ext>
                  </a:extLst>
                </a:gridCol>
                <a:gridCol w="2737000">
                  <a:extLst>
                    <a:ext uri="{9D8B030D-6E8A-4147-A177-3AD203B41FA5}">
                      <a16:colId xmlns:a16="http://schemas.microsoft.com/office/drawing/2014/main" val="30005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구분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품목 · 규격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수량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실속안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표준안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단가 근거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(3인용)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소파 테이블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거실장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식탁 세트 (4인)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침대 (Q · 프레임+매트리스)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책상 + 의자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침구 세트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 · 2실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커튼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전체 창 (34평 · 창 6개)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34평 맞춤 시세 104.5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가스레인지 3구 + 설치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20.9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쿠팡 18.9 + 설치 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전기밥솥 (6인용)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TV (55인치)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냉장고 (일반형 500~600L)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LG 일반형 공개가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세탁기 (드럼 21kg)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다나와 LG 트롬 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계약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부동산 중개보수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66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상한 0.3% + VAT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주방·생활용품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가정값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합계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15개 항목 (옷장·입주청소 제외)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25" dirty="0" b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1,041.4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dirty="0" b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468728"/>
              </p:ext>
            </p:extLst>
          </p:nvPr>
        </p:nvGraphicFramePr>
        <p:xfrm>
          <a:off x="11430000" y="2073445"/>
          <a:ext cx="5943600" cy="3466988"/>
        </p:xfrm>
        <a:graphic>
          <a:graphicData uri="http://schemas.openxmlformats.org/drawingml/2006/table">
            <a:tbl>
              <a:tblPr/>
              <a:tblGrid>
                <a:gridCol w="22500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49360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3619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항목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월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2026 (2개월)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charset="0"/>
                        </a:rPr>
                        <a:t>2027 (12개월)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47549" marB="47549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월세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1,800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관리비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공과금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인터넷 + IPTV (가정)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월 고정비 소계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188.5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377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초기 일회성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611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–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1" dirty="0" err="1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(실속안)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25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125" b="1" dirty="0" err="1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9F4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주거비 합계 (표준안)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1,418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2,262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345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C0000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(참고) 변경 전 주거비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b="0" dirty="0" err="1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/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350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altLang="ko-KR" sz="1050" b="0" dirty="0" err="1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2,100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52705" marR="152705" marT="38000" marB="38000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 txBox="1"/>
          <p:nvPr/>
        </p:nvSpPr>
        <p:spPr>
          <a:xfrm>
            <a:off x="914400" y="457200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A4.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주거비 상세 산출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창원 숙소 (두산위브더센트럴 102동)</a:t>
            </a:r>
            <a:endParaRPr lang="en-US" sz="315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1067105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보증금 5,000만 원(반환 자산) · 월세 150만 원 · 84㎡ 3-bedroom, 파견 2인 공동 거주 · 가구·가전 실속안/표준안 2개 시나리오 · 09쪽 숙소 소요비용의 산출 근거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9144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3"/>
          <p:cNvSpPr txBox="1"/>
          <p:nvPr/>
        </p:nvSpPr>
        <p:spPr>
          <a:xfrm>
            <a:off x="1104595" y="1588230"/>
            <a:ext cx="183337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일회성 품목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3154595" y="1616577"/>
            <a:ext cx="11676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2026 입주 시 1회, 만 원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11430000" y="1626635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11620195" y="1588230"/>
            <a:ext cx="3543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고정비와 기간별 주거비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14620195" y="1616577"/>
            <a:ext cx="153070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만 원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11430000" y="5740433"/>
            <a:ext cx="5943600" cy="2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 b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확인 필요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5,000만 원은 반환 자산 — A3 반영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빌트인 쿡탑·냉장고·세탁기가 임대 옵션이면 최대 179만 원 감소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관리비·공과금·통신은 가정값 → K-apt 부과액으로 확정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옷장(+30)·입주청소(+35) 미포함 — 필요 시 추가</a:t>
            </a:r>
            <a:endParaRPr lang="en-US" sz="105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 b="0">
                <a:solidFill>
                  <a:srgbClr val="C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보증금 기회비용(5%) 미반영 — A2·08쪽 동일 기준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내부 보고용 · 2026.10</a:t>
            </a:r>
            <a:endParaRPr lang="en-US" sz="1200" dirty="0"/>
          </a:p>
        </p:txBody>
      </p:sp>
      <p:sp>
        <p:nvSpPr>
          <p:cNvPr id="2" name="Text 10"/>
          <p:cNvSpPr txBox="1"/>
          <p:nvPr/>
        </p:nvSpPr>
        <p:spPr>
          <a:xfrm>
            <a:off x="17139864" y="9810598"/>
            <a:ext cx="25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23544" y="1914754"/>
            <a:ext cx="1410005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2331720" y="1914754"/>
            <a:ext cx="409651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산업·기업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22746" y="1914754"/>
            <a:ext cx="4476902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진입 채널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894162" y="1914754"/>
            <a:ext cx="457200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l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 제안 상품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5460675" y="1914754"/>
            <a:ext cx="1905610" cy="495605"/>
          </a:xfrm>
          <a:prstGeom prst="rect">
            <a:avLst/>
          </a:prstGeom>
          <a:solidFill>
            <a:srgbClr val="3C6791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39700" rIns="177800" bIns="139700" rtlCol="0" anchor="ctr"/>
          <a:lstStyle/>
          <a:p>
            <a:pPr marL="0" indent="0" algn="ctr">
              <a:buNone/>
            </a:pPr>
            <a:r>
              <a:rPr lang="en-US" sz="1200" b="1" kern="0" spc="24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23544" y="2409444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923544" y="322874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23544" y="2409444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창원·김해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331720" y="2409444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331720" y="322874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331720" y="2409444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기계·방산 전자·뿌리기업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(영풍전자 협력사, 3자 신속상용화 사례, 경남TP, 스마트제조혁신 MOU 회원사, 경남 뿌리기업 13개사)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22746" y="2409444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22746" y="322874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422746" y="2409444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경남TP, 스마트제조혁신 공급기업 풀, 부산TP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제조AI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스마트공장</a:t>
            </a:r>
            <a:endParaRPr lang="en-US" sz="1200" dirty="0">
              <a:solidFill>
                <a:srgbClr val="1F2A37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(김해 포함)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94162" y="2409444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0894162" y="322874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0894162" y="2409444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(SOP 지식 어시스턴트)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MAESTRO 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460675" y="2409444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5460675" y="322874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5460675" y="2409444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3544" y="3234233"/>
            <a:ext cx="1410005" cy="828446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3544" y="405353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23544" y="3234233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331720" y="3234233"/>
            <a:ext cx="4095598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2331720" y="405353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2331720" y="3234233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해군·방산 정비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(진해기지, 함정 MRO)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22746" y="3234233"/>
            <a:ext cx="4476902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422746" y="405353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 txBox="1"/>
          <p:nvPr/>
        </p:nvSpPr>
        <p:spPr>
          <a:xfrm>
            <a:off x="6422746" y="3234233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국방 레퍼런스·ARGOS, 방산 체계업체 협력 트랙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94162" y="3234233"/>
            <a:ext cx="4572000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0894162" y="405353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10894161" y="3234233"/>
            <a:ext cx="4661029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정비교범·기술문서 지식 에이전트, Agent Generator 어플라이언스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460675" y="3234233"/>
            <a:ext cx="190469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5460675" y="405353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 txBox="1"/>
          <p:nvPr/>
        </p:nvSpPr>
        <p:spPr>
          <a:xfrm>
            <a:off x="15460675" y="3234233"/>
            <a:ext cx="190561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23544" y="4059022"/>
            <a:ext cx="1410005" cy="6190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923544" y="4668926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 txBox="1"/>
          <p:nvPr/>
        </p:nvSpPr>
        <p:spPr>
          <a:xfrm>
            <a:off x="923544" y="4059022"/>
            <a:ext cx="1410005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거제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331720" y="4059022"/>
            <a:ext cx="4095598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331720" y="4668926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2331720" y="4059022"/>
            <a:ext cx="409651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한화오션·삼성중공업 1차 협력사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(용접·의장)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22746" y="4059022"/>
            <a:ext cx="4476902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22746" y="4668926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 txBox="1"/>
          <p:nvPr/>
        </p:nvSpPr>
        <p:spPr>
          <a:xfrm>
            <a:off x="6422746" y="4059022"/>
            <a:ext cx="447690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실증 공모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(250억)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중소조선연구원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894162" y="4059022"/>
            <a:ext cx="4572000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94162" y="4668926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 txBox="1"/>
          <p:nvPr/>
        </p:nvSpPr>
        <p:spPr>
          <a:xfrm>
            <a:off x="10894162" y="4059022"/>
            <a:ext cx="457200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Quick Win A 거제 시나리오 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(WPS·트러블슈팅)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선급 규격 대조 (B)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460675" y="4059022"/>
            <a:ext cx="1904695" cy="6190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15460675" y="4668926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 txBox="1"/>
          <p:nvPr/>
        </p:nvSpPr>
        <p:spPr>
          <a:xfrm>
            <a:off x="15460675" y="4059022"/>
            <a:ext cx="190561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77800" rIns="17780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1H 공모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3544" y="4678070"/>
            <a:ext cx="1410005" cy="1304849"/>
          </a:xfrm>
          <a:prstGeom prst="rect">
            <a:avLst/>
          </a:prstGeom>
          <a:solidFill>
            <a:srgbClr val="EEF4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3544" y="5973775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 txBox="1"/>
          <p:nvPr/>
        </p:nvSpPr>
        <p:spPr>
          <a:xfrm>
            <a:off x="923544" y="4678070"/>
            <a:ext cx="1410005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</a:t>
            </a: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(경북)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2331720" y="4678070"/>
            <a:ext cx="4095598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331720" y="5973775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 txBox="1"/>
          <p:nvPr/>
        </p:nvSpPr>
        <p:spPr>
          <a:xfrm>
            <a:off x="2331720" y="4678070"/>
            <a:ext cx="409651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동국제강/제일테크노스 및 철강 밸류체인, K-스틸 AX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22746" y="4678070"/>
            <a:ext cx="4476902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6422746" y="5973775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 txBox="1"/>
          <p:nvPr/>
        </p:nvSpPr>
        <p:spPr>
          <a:xfrm>
            <a:off x="6422746" y="4678070"/>
            <a:ext cx="4476902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 실증산단 SaaS 카탈로그, 포항TP 경북AX랩, RIST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10894162" y="4678070"/>
            <a:ext cx="4572000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894162" y="5973775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61"/>
          <p:cNvSpPr txBox="1"/>
          <p:nvPr/>
        </p:nvSpPr>
        <p:spPr>
          <a:xfrm>
            <a:off x="10894162" y="4678070"/>
            <a:ext cx="4572000" cy="11247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예지보전·암묵지 Agent 카세트, 연주 온톨로지,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POSCO 열공정 FM 연계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5460675" y="4678070"/>
            <a:ext cx="1904695" cy="1304849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5460675" y="5973775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 txBox="1"/>
          <p:nvPr/>
        </p:nvSpPr>
        <p:spPr>
          <a:xfrm>
            <a:off x="15460675" y="4651553"/>
            <a:ext cx="1905610" cy="11512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2027(확정) — 1차 우선 확장 지역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(RIST R&amp;D 과제·사업 수행 중)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23544" y="5974690"/>
            <a:ext cx="1410005" cy="828446"/>
          </a:xfrm>
          <a:prstGeom prst="rect">
            <a:avLst/>
          </a:prstGeom>
          <a:solidFill>
            <a:srgbClr val="F7FAF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923544" y="6793992"/>
            <a:ext cx="141000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 txBox="1"/>
          <p:nvPr/>
        </p:nvSpPr>
        <p:spPr>
          <a:xfrm>
            <a:off x="923544" y="5974690"/>
            <a:ext cx="1410005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2331720" y="5974690"/>
            <a:ext cx="4095598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2331720" y="6793992"/>
            <a:ext cx="4095598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 txBox="1"/>
          <p:nvPr/>
        </p:nvSpPr>
        <p:spPr>
          <a:xfrm>
            <a:off x="2331720" y="5974690"/>
            <a:ext cx="409651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조선기자재·자동차부품 중소 제조사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422746" y="5974690"/>
            <a:ext cx="4476902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6422746" y="6793992"/>
            <a:ext cx="4476902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 txBox="1"/>
          <p:nvPr/>
        </p:nvSpPr>
        <p:spPr>
          <a:xfrm>
            <a:off x="6422746" y="5974690"/>
            <a:ext cx="4476902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부산TP 제조AI 특화 스마트공장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400과제</a:t>
            </a:r>
            <a:r>
              <a:rPr lang="en-US" sz="975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(최대 2억, 50% 매칭)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 err="1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공급기업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0894162" y="5974690"/>
            <a:ext cx="4572000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5"/>
          <p:cNvSpPr/>
          <p:nvPr/>
        </p:nvSpPr>
        <p:spPr>
          <a:xfrm>
            <a:off x="10894162" y="6793992"/>
            <a:ext cx="4572000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 txBox="1"/>
          <p:nvPr/>
        </p:nvSpPr>
        <p:spPr>
          <a:xfrm>
            <a:off x="10894162" y="5974690"/>
            <a:ext cx="4572000" cy="6483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MAESTRO Standard + 데이터 수집·검증형 소형 패키지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5460675" y="5974690"/>
            <a:ext cx="1904695" cy="82844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Shape 78"/>
          <p:cNvSpPr/>
          <p:nvPr/>
        </p:nvSpPr>
        <p:spPr>
          <a:xfrm>
            <a:off x="15460675" y="6793992"/>
            <a:ext cx="1904695" cy="9144"/>
          </a:xfrm>
          <a:prstGeom prst="rect">
            <a:avLst/>
          </a:prstGeom>
          <a:solidFill>
            <a:srgbClr val="C9D9E8"/>
          </a:solidFill>
          <a:ln w="12700">
            <a:solidFill>
              <a:srgbClr val="C9D9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 txBox="1"/>
          <p:nvPr/>
        </p:nvSpPr>
        <p:spPr>
          <a:xfrm>
            <a:off x="15460675" y="5948172"/>
            <a:ext cx="1905610" cy="67482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0" rtlCol="0" anchor="t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— 후순위</a:t>
            </a:r>
            <a:endParaRPr lang="en-US" sz="1200" dirty="0"/>
          </a:p>
          <a:p>
            <a:pPr marL="0" indent="0" algn="ctr">
              <a:lnSpc>
                <a:spcPts val="1860"/>
              </a:lnSpc>
              <a:buNone/>
            </a:pPr>
            <a:r>
              <a:rPr lang="en-US" sz="975" b="1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(포항 확장 이후 순차 검토)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923544" y="6799478"/>
            <a:ext cx="1410005" cy="876910"/>
          </a:xfrm>
          <a:prstGeom prst="rect">
            <a:avLst/>
          </a:prstGeom>
          <a:solidFill>
            <a:srgbClr val="EEF4F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2092"/>
              </a:lnSpc>
              <a:buNone/>
            </a:pPr>
            <a:r>
              <a:rPr lang="en-US" sz="1350" b="1" kern="0" spc="27" dirty="0" err="1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여수·광양</a:t>
            </a:r>
            <a:r>
              <a:rPr lang="en-US" sz="1350" b="1" kern="0" spc="27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092"/>
              </a:lnSpc>
              <a:buNone/>
            </a:pPr>
            <a:r>
              <a:rPr lang="en-US" sz="975" b="1" kern="0" spc="27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(전남)</a:t>
            </a:r>
            <a:endParaRPr lang="en-US" sz="1350" dirty="0"/>
          </a:p>
        </p:txBody>
      </p:sp>
      <p:sp>
        <p:nvSpPr>
          <p:cNvPr id="83" name="Text 81"/>
          <p:cNvSpPr txBox="1"/>
          <p:nvPr/>
        </p:nvSpPr>
        <p:spPr>
          <a:xfrm>
            <a:off x="2331720" y="6799478"/>
            <a:ext cx="409651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광양제철소 협력 철강·금속 가공사, 여수 석유화학, 전남TP 협력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422746" y="6799478"/>
            <a:ext cx="4476902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광양 철강·금속 AX 실증센터 </a:t>
            </a: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(KTL 주관, 140억)</a:t>
            </a: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세부3 파트너 KTL 경유, 여수 AX 실증산단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899649" y="6799478"/>
            <a:ext cx="4566514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포항 철강 모듈 수평 이식, 정유·화학 설비 지식 에이전트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15460675" y="6799478"/>
            <a:ext cx="1905610" cy="876910"/>
          </a:xfrm>
          <a:prstGeom prst="rect">
            <a:avLst/>
          </a:prstGeom>
          <a:solidFill>
            <a:srgbClr val="F7FAF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0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2027 2H 탐색 → 2028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1106719" y="7360339"/>
            <a:ext cx="2991917" cy="219456"/>
          </a:xfrm>
          <a:prstGeom prst="roundRect">
            <a:avLst>
              <a:gd name="adj" fmla="val 43333"/>
            </a:avLst>
          </a:prstGeom>
          <a:solidFill>
            <a:srgbClr val="B886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11106719" y="7360339"/>
            <a:ext cx="299283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2028 확장 옵션 — 제조AX기술센터 범위 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A5.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권역별 확장 맵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경남 → 경북 포항 → 전남 여수·광양</a:t>
            </a:r>
            <a:endParaRPr lang="en-US" sz="3150" dirty="0"/>
          </a:p>
        </p:txBody>
      </p:sp>
      <p:sp>
        <p:nvSpPr>
          <p:cNvPr id="90" name="Text 88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타깃 산업·진입 채널·코난 제안 상품·시기</a:t>
            </a:r>
            <a:endParaRPr lang="en-US" sz="1650" dirty="0"/>
          </a:p>
        </p:txBody>
      </p:sp>
      <p:sp>
        <p:nvSpPr>
          <p:cNvPr id="91" name="Shape 89"/>
          <p:cNvSpPr/>
          <p:nvPr/>
        </p:nvSpPr>
        <p:spPr>
          <a:xfrm>
            <a:off x="914400" y="8762695"/>
            <a:ext cx="28346" cy="21945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 txBox="1"/>
          <p:nvPr/>
        </p:nvSpPr>
        <p:spPr>
          <a:xfrm>
            <a:off x="1076249" y="8762695"/>
            <a:ext cx="16297351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데이터 전제 — 모든 현장 사업은 </a:t>
            </a:r>
            <a:r>
              <a:rPr lang="en-US" sz="10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문서·지식 자산 디지털화 수준과 보안(외부 반출 불가) 진단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착수 요건으로 하며, </a:t>
            </a:r>
            <a:r>
              <a:rPr lang="en-US" sz="1050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온프레미스</a:t>
            </a:r>
            <a:r>
              <a:rPr lang="en-US" sz="10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기본 제안한다.</a:t>
            </a:r>
            <a:endParaRPr lang="en-US" sz="1050" dirty="0"/>
          </a:p>
        </p:txBody>
      </p:sp>
      <p:sp>
        <p:nvSpPr>
          <p:cNvPr id="93" name="Text 91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430478"/>
              </p:ext>
            </p:extLst>
          </p:nvPr>
        </p:nvGraphicFramePr>
        <p:xfrm>
          <a:off x="914400" y="1827222"/>
          <a:ext cx="16440913" cy="3889044"/>
        </p:xfrm>
        <a:graphic>
          <a:graphicData uri="http://schemas.openxmlformats.org/drawingml/2006/table">
            <a:tbl>
              <a:tblPr/>
              <a:tblGrid>
                <a:gridCol w="3615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5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9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리스크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영향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대응</a:t>
                      </a:r>
                      <a:endParaRPr lang="en-US" sz="112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 anchor="ctr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67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현금 유동성 </a:t>
                      </a:r>
                      <a:r>
                        <a:rPr lang="en-US" sz="975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(반기 현금성 자산 36억)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고정비 증가 부담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거점 고정비 연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2.65억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(2027·파견 2인+현지 PM/영업 1인, 엔지니어 2인 과제비) 한도 관리 · 2027.6 Go/No-go에서 손익분기 달성률 점검 ·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유치 인센티브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확인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 공간 확보 지연·무상 조건 미확정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지연, 임대료 부담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경남TP 봉암 입주 공고(10.1~10.14) 신청으로 해소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— 4동 703호, 11월 입주 목표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1인 거점의 고립·번아웃 → 거점의 역할 분담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2인 현장 대응 품질 저하, 인력 이탈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영업/PM 1인 개설 → 2027 1Q 수석 엔지니어 파견으로 2인화 · 본사 PO 주간 리뷰, 주 1.5회 본사 왕복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방산 현장 보안 절차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2~4주 지연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보안 측정·출입 인가 사전 신청,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착수 일정에 반영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제조 사업 조직과의 역할 중복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고객 중복 접촉, 매출 귀속 분쟁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개설 승인 시 고객·매출 분담 기준 확정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경쟁사(마키나락스·메가존) 선점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등대고객·지역 인재 유출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지식·암묵지·온톨로지 차별화, 메가존과 세부3 협업 강화, </a:t>
                      </a:r>
                      <a:r>
                        <a:rPr lang="en-US" sz="1050" b="1" dirty="0">
                          <a:solidFill>
                            <a:srgbClr val="B8860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90일 내 등대고객 5개사 진단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지자체 공모의 지역 소재 요건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사무소 단계 참여 불가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공고별 요건 사전 확인, 필요 시 </a:t>
                      </a: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지점 등기 조기 전환</a:t>
                      </a: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(3~5주)</a:t>
                      </a:r>
                      <a:endParaRPr lang="en-US" sz="1200" dirty="0"/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23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E224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반출 불가·폐쇄망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D6E8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원격 개발 불가, 파견 증가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온프레미스 기본 제안, 현장 워크스테이션, 파트너 현지 인력</a:t>
                      </a:r>
                      <a:endParaRPr lang="en-US" sz="10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33502" marR="133502" marT="95098" marB="95098">
                    <a:lnL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Shape 0"/>
          <p:cNvSpPr/>
          <p:nvPr/>
        </p:nvSpPr>
        <p:spPr>
          <a:xfrm>
            <a:off x="914400" y="6534301"/>
            <a:ext cx="16459200" cy="1824063"/>
          </a:xfrm>
          <a:prstGeom prst="roundRect">
            <a:avLst>
              <a:gd name="adj" fmla="val 8244"/>
            </a:avLst>
          </a:prstGeom>
          <a:solidFill>
            <a:srgbClr val="F7FAFD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A6.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914400" y="1442758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1104595" y="1404354"/>
            <a:ext cx="12573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리스크·대응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2287829" y="1432700"/>
            <a:ext cx="93908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8개 항목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914400" y="6129056"/>
            <a:ext cx="57607" cy="228600"/>
          </a:xfrm>
          <a:prstGeom prst="roundRect">
            <a:avLst>
              <a:gd name="adj" fmla="val 33333"/>
            </a:avLst>
          </a:prstGeom>
          <a:solidFill>
            <a:srgbClr val="B886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1104595" y="6090652"/>
            <a:ext cx="2056486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사항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2860243" y="6118998"/>
            <a:ext cx="103784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가정 목록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6687007"/>
            <a:ext cx="227228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확인이 필요한 가정 4가지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70626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경남도·창원시·거제시·부산TP 2027 공모의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"도내 소재 기업"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요건과 지점 사업자등록 인정 여부</a:t>
            </a:r>
            <a:endParaRPr lang="en-US" sz="1125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7367155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지자체 기업 유치 인센티브(임대 지원·고용 보조금) —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산업 육성 조례(2024.9)·마스터플랜 실행과제</a:t>
            </a:r>
            <a:endParaRPr lang="en-US" sz="1125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767165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지점 사업자등록 시 부가세 총괄납부·사업자단위과세, 주민세 사업소분 —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 자문</a:t>
            </a:r>
            <a:endParaRPr lang="en-US" sz="1125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7977060"/>
            <a:ext cx="1600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인건비 예산 — 파견 인력 기존 인건비 외 </a:t>
            </a:r>
            <a:r>
              <a:rPr lang="en-US" sz="1125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현지 PM/영업 1인분(2027) 반영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엔지니어 2인은 PI-LAM 과제비 경정(과제 종료 후 전환 확인)</a:t>
            </a:r>
            <a:endParaRPr lang="en-US" sz="1125" dirty="0"/>
          </a:p>
        </p:txBody>
      </p:sp>
      <p:sp>
        <p:nvSpPr>
          <p:cNvPr id="2" name="Text 13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219895" y="1867205"/>
            <a:ext cx="8153705" cy="723930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C9D9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914400" y="609905"/>
            <a:ext cx="156975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50" b="1" kern="0" spc="-3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A7. </a:t>
            </a:r>
            <a:r>
              <a:rPr lang="en-US" sz="3150" b="1" kern="0" spc="-3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시장·정책 동향 상세</a:t>
            </a:r>
            <a:endParaRPr lang="en-US" sz="31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218895"/>
            <a:ext cx="161931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→ 국가 → 경남·창원</a:t>
            </a:r>
            <a:r>
              <a:rPr lang="en-US" sz="1650" dirty="0">
                <a:solidFill>
                  <a:srgbClr val="4D6E8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</a:t>
            </a:r>
            <a:endParaRPr lang="en-US" sz="1650" dirty="0"/>
          </a:p>
        </p:txBody>
      </p:sp>
      <p:pic>
        <p:nvPicPr>
          <p:cNvPr id="6" name="Image 0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14400" y="1867205"/>
            <a:ext cx="8153705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1405" y="1867205"/>
            <a:ext cx="13816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· 국가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1405" y="2857500"/>
            <a:ext cx="167335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삼일PwC (2026.3)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181405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85.7억$(2025) → 2,872억$(2035)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연 40%대. 대기업은 예지보전·품질 고도화, 중소기업은 MES/ERP 기초 단계 — 격차 확대. 장애 요인: 비용·인력·데이터·기술 이해</a:t>
            </a:r>
            <a:endParaRPr lang="en-US" sz="1125" dirty="0"/>
          </a:p>
        </p:txBody>
      </p:sp>
      <p:sp>
        <p:nvSpPr>
          <p:cNvPr id="10" name="Text 7"/>
          <p:cNvSpPr txBox="1"/>
          <p:nvPr/>
        </p:nvSpPr>
        <p:spPr>
          <a:xfrm>
            <a:off x="1181405" y="4591202"/>
            <a:ext cx="195773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산업부 2026 업무계획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81405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M.AX 얼라이언스 1,000여 산학연, 2030 AI 팩토리 500개, 상생모델 15개. 5극 3특 성장엔진,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국민성장펀드 150조의 40%+ 지역 우선</a:t>
            </a:r>
            <a:endParaRPr lang="en-US" sz="1125" dirty="0"/>
          </a:p>
        </p:txBody>
      </p:sp>
      <p:sp>
        <p:nvSpPr>
          <p:cNvPr id="12" name="Text 9"/>
          <p:cNvSpPr txBox="1"/>
          <p:nvPr/>
        </p:nvSpPr>
        <p:spPr>
          <a:xfrm>
            <a:off x="1181405" y="6324905"/>
            <a:ext cx="433151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과기정통부 피지컬 AI R&amp;D (2026.9.16 창원 착수)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181405" y="6629400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6,763억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(2026~2030), LAM·NPU. 경남 12개사 실증 (두산에너빌리티·한화오션·세아창원특수강·범한메카텍·CTR), 협력 LG AI연구원·LG CNS·메가존·뉴로메카</a:t>
            </a:r>
            <a:endParaRPr lang="en-US" sz="1125" dirty="0"/>
          </a:p>
        </p:txBody>
      </p:sp>
      <p:pic>
        <p:nvPicPr>
          <p:cNvPr id="14" name="Image 1" descr="gen-dedup-27e252262bacaf1442ea9c7dd26aacd4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9219895" y="1867205"/>
            <a:ext cx="8153705" cy="6858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486900" y="1867205"/>
            <a:ext cx="11622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· 창원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9486900" y="2857500"/>
            <a:ext cx="282275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경남도 AI 마스터플랜 (2025.12)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486900" y="3161995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 AI 국비 12개 ·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1,301억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유치. 지원 기업 1만 개, 강소기업 100곳, 혁신공장 4,000개, 제조 AI 전환율 30%, 2026 경남 제조 AI 데이터센터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9486900" y="4591202"/>
            <a:ext cx="257312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창원시 제조 AI 원년 (2026.1)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9486900" y="4895698"/>
            <a:ext cx="76206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초거대 제조 AI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226.9억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PINN 실증 320억, 스마트그린 AX 실증산단 222억, AI 팩토리 70억, DX 지원센터 258.6억, AI 인재 1,200명 (~2031)</a:t>
            </a:r>
            <a:endParaRPr lang="en-US" sz="1125" dirty="0"/>
          </a:p>
        </p:txBody>
      </p:sp>
      <p:sp>
        <p:nvSpPr>
          <p:cNvPr id="20" name="Text 16"/>
          <p:cNvSpPr txBox="1"/>
          <p:nvPr/>
        </p:nvSpPr>
        <p:spPr>
          <a:xfrm>
            <a:off x="9486900" y="6324905"/>
            <a:ext cx="3367735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창원국가산단 구조고도화 (2026~2035)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9486900" y="6629400"/>
            <a:ext cx="83064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10대 사업 </a:t>
            </a:r>
            <a:r>
              <a:rPr lang="en-US" sz="1125" b="1" dirty="0">
                <a:solidFill>
                  <a:srgbClr val="B8860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1조 8,589억</a:t>
            </a:r>
            <a:r>
              <a:rPr lang="en-US" sz="1125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(국비 3,399 · 지방비 1,595 · 민자 1조 3,595). 업종: 기계 49% · 전기전자 20% · 운송장비 8%</a:t>
            </a:r>
            <a:endParaRPr lang="en-US" sz="1125" dirty="0"/>
          </a:p>
        </p:txBody>
      </p:sp>
      <p:sp>
        <p:nvSpPr>
          <p:cNvPr id="22" name="Text 18"/>
          <p:cNvSpPr txBox="1"/>
          <p:nvPr/>
        </p:nvSpPr>
        <p:spPr>
          <a:xfrm>
            <a:off x="9486900" y="8058607"/>
            <a:ext cx="3762756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E22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창원대 SMR² NRL 2.0 (2026.7~2035.12)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9486900" y="8363102"/>
            <a:ext cx="7620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27"/>
              </a:lnSpc>
              <a:buNone/>
            </a:pPr>
            <a:r>
              <a:rPr lang="en-US" sz="1050" dirty="0">
                <a:solidFill>
                  <a:srgbClr val="1F2A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1,438억 (국비 950 + 원전기업 25개사 403억). 스마트제조·신뢰성·디지털 트윈·Physics-AI 융합, 수요기술에 AI 결함진단·예지정비·건전성 평가 명시. 두산에너빌리티 및 340여 원전 부품기업 연계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914400" y="9810598"/>
            <a:ext cx="48198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경남(창원) 사무소·지사 설립 계획(안) · </a:t>
            </a:r>
            <a:r>
              <a:rPr lang="ko-KR" altLang="en-US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보고용 </a:t>
            </a:r>
            <a:r>
              <a:rPr lang="en-US" altLang="ko-KR" sz="1200" kern="0" spc="24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2026.10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7199864" y="9810598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99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16067837" y="2115007"/>
            <a:ext cx="14374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· Industry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16200425" y="2115007"/>
            <a:ext cx="12573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· Anchor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ca28ccd90a18701d875d266e2c09846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88c66519df3f02793816808f994d00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3527be239b8848742172ff0be98df3e.png"/>
          <p:cNvPicPr>
            <a:picLocks noChangeAspect="1"/>
          </p:cNvPicPr>
          <p:nvPr/>
        </p:nvPicPr>
        <p:blipFill>
          <a:blip r:embed="rId5">
            <a:alphaModFix amt="50000"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3dcbdf05b93fc3f78844f71f5c3ba5b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12191695" y="1904695"/>
            <a:ext cx="5333695" cy="647669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2857500"/>
            <a:ext cx="11809476" cy="171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540" dirty="0">
                <a:solidFill>
                  <a:srgbClr val="F2F6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</a:t>
            </a:r>
            <a:r>
              <a:rPr lang="en-US" sz="13500" b="1" kern="0" spc="540" dirty="0">
                <a:solidFill>
                  <a:srgbClr val="E2B2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</a:t>
            </a:r>
            <a:endParaRPr lang="en-US" sz="13500" dirty="0"/>
          </a:p>
        </p:txBody>
      </p:sp>
      <p:pic>
        <p:nvPicPr>
          <p:cNvPr id="7" name="Image 4" descr="gen-dedup-8d8a5e5a1cdb960f737a73e7f41e66ec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4914900"/>
            <a:ext cx="1143000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143000" y="5333695"/>
            <a:ext cx="11936578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D4DE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"제조의 지식을 가장 깊이 이해하는 AI 기업" — </a:t>
            </a:r>
            <a:r>
              <a:rPr lang="en-US" sz="1650" dirty="0">
                <a:solidFill>
                  <a:srgbClr val="9FB4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첫걸음은 경남(창원)의 현장에서 시작한다</a:t>
            </a:r>
            <a:endParaRPr lang="en-US" sz="21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8134502"/>
            <a:ext cx="85725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코난테크놀로지 국방·전략사업부 | 내부 보고용 | 2026. 10</a:t>
            </a:r>
            <a:endParaRPr lang="en-US" sz="1350" dirty="0"/>
          </a:p>
        </p:txBody>
      </p:sp>
      <p:sp>
        <p:nvSpPr>
          <p:cNvPr id="10" name="Text 3"/>
          <p:cNvSpPr txBox="1"/>
          <p:nvPr/>
        </p:nvSpPr>
        <p:spPr>
          <a:xfrm>
            <a:off x="17199864" y="9753905"/>
            <a:ext cx="19019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E92A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6207</Words>
  <Application>Microsoft Office PowerPoint</Application>
  <PresentationFormat>사용자 지정</PresentationFormat>
  <Paragraphs>784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Noto Sans KR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Yeom jonghak</cp:lastModifiedBy>
  <cp:revision>4</cp:revision>
  <dcterms:created xsi:type="dcterms:W3CDTF">2026-09-30T02:35:14Z</dcterms:created>
  <dcterms:modified xsi:type="dcterms:W3CDTF">2026-10-29T11:20:04Z</dcterms:modified>
</cp:coreProperties>
</file>