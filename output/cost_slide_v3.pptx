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3" r:id="rId2"/>
    <p:sldId id="264" r:id="rId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67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177" autoAdjust="0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om jonghak" userId="9c5ca5bb9745038e" providerId="LiveId" clId="{18183C8E-F94C-411A-9108-9D94713FAEC6}"/>
    <pc:docChg chg="delSld">
      <pc:chgData name="Yeom jonghak" userId="9c5ca5bb9745038e" providerId="LiveId" clId="{18183C8E-F94C-411A-9108-9D94713FAEC6}" dt="2026-10-29T10:03:55.009" v="1" actId="2696"/>
      <pc:docMkLst>
        <pc:docMk/>
      </pc:docMkLst>
      <pc:sldChg chg="del">
        <pc:chgData name="Yeom jonghak" userId="9c5ca5bb9745038e" providerId="LiveId" clId="{18183C8E-F94C-411A-9108-9D94713FAEC6}" dt="2026-10-29T10:03:43.671" v="0" actId="2696"/>
        <pc:sldMkLst>
          <pc:docMk/>
          <pc:sldMk cId="0" sldId="256"/>
        </pc:sldMkLst>
      </pc:sldChg>
      <pc:sldChg chg="del">
        <pc:chgData name="Yeom jonghak" userId="9c5ca5bb9745038e" providerId="LiveId" clId="{18183C8E-F94C-411A-9108-9D94713FAEC6}" dt="2026-10-29T10:03:43.671" v="0" actId="2696"/>
        <pc:sldMkLst>
          <pc:docMk/>
          <pc:sldMk cId="0" sldId="257"/>
        </pc:sldMkLst>
      </pc:sldChg>
      <pc:sldChg chg="del">
        <pc:chgData name="Yeom jonghak" userId="9c5ca5bb9745038e" providerId="LiveId" clId="{18183C8E-F94C-411A-9108-9D94713FAEC6}" dt="2026-10-29T10:03:43.671" v="0" actId="2696"/>
        <pc:sldMkLst>
          <pc:docMk/>
          <pc:sldMk cId="0" sldId="258"/>
        </pc:sldMkLst>
      </pc:sldChg>
      <pc:sldChg chg="del">
        <pc:chgData name="Yeom jonghak" userId="9c5ca5bb9745038e" providerId="LiveId" clId="{18183C8E-F94C-411A-9108-9D94713FAEC6}" dt="2026-10-29T10:03:43.671" v="0" actId="2696"/>
        <pc:sldMkLst>
          <pc:docMk/>
          <pc:sldMk cId="0" sldId="259"/>
        </pc:sldMkLst>
      </pc:sldChg>
      <pc:sldChg chg="del">
        <pc:chgData name="Yeom jonghak" userId="9c5ca5bb9745038e" providerId="LiveId" clId="{18183C8E-F94C-411A-9108-9D94713FAEC6}" dt="2026-10-29T10:03:43.671" v="0" actId="2696"/>
        <pc:sldMkLst>
          <pc:docMk/>
          <pc:sldMk cId="0" sldId="260"/>
        </pc:sldMkLst>
      </pc:sldChg>
      <pc:sldChg chg="del">
        <pc:chgData name="Yeom jonghak" userId="9c5ca5bb9745038e" providerId="LiveId" clId="{18183C8E-F94C-411A-9108-9D94713FAEC6}" dt="2026-10-29T10:03:43.671" v="0" actId="2696"/>
        <pc:sldMkLst>
          <pc:docMk/>
          <pc:sldMk cId="0" sldId="261"/>
        </pc:sldMkLst>
      </pc:sldChg>
      <pc:sldChg chg="del">
        <pc:chgData name="Yeom jonghak" userId="9c5ca5bb9745038e" providerId="LiveId" clId="{18183C8E-F94C-411A-9108-9D94713FAEC6}" dt="2026-10-29T10:03:43.671" v="0" actId="2696"/>
        <pc:sldMkLst>
          <pc:docMk/>
          <pc:sldMk cId="0" sldId="262"/>
        </pc:sldMkLst>
      </pc:sldChg>
      <pc:sldChg chg="del">
        <pc:chgData name="Yeom jonghak" userId="9c5ca5bb9745038e" providerId="LiveId" clId="{18183C8E-F94C-411A-9108-9D94713FAEC6}" dt="2026-10-29T10:03:55.009" v="1" actId="2696"/>
        <pc:sldMkLst>
          <pc:docMk/>
          <pc:sldMk cId="0" sldId="264"/>
        </pc:sldMkLst>
      </pc:sldChg>
      <pc:sldChg chg="del">
        <pc:chgData name="Yeom jonghak" userId="9c5ca5bb9745038e" providerId="LiveId" clId="{18183C8E-F94C-411A-9108-9D94713FAEC6}" dt="2026-10-29T10:03:55.009" v="1" actId="2696"/>
        <pc:sldMkLst>
          <pc:docMk/>
          <pc:sldMk cId="0" sldId="265"/>
        </pc:sldMkLst>
      </pc:sldChg>
      <pc:sldChg chg="del">
        <pc:chgData name="Yeom jonghak" userId="9c5ca5bb9745038e" providerId="LiveId" clId="{18183C8E-F94C-411A-9108-9D94713FAEC6}" dt="2026-10-29T10:03:55.009" v="1" actId="2696"/>
        <pc:sldMkLst>
          <pc:docMk/>
          <pc:sldMk cId="0" sldId="266"/>
        </pc:sldMkLst>
      </pc:sldChg>
      <pc:sldChg chg="del">
        <pc:chgData name="Yeom jonghak" userId="9c5ca5bb9745038e" providerId="LiveId" clId="{18183C8E-F94C-411A-9108-9D94713FAEC6}" dt="2026-10-29T10:03:55.009" v="1" actId="2696"/>
        <pc:sldMkLst>
          <pc:docMk/>
          <pc:sldMk cId="0" sldId="267"/>
        </pc:sldMkLst>
      </pc:sldChg>
      <pc:sldChg chg="del">
        <pc:chgData name="Yeom jonghak" userId="9c5ca5bb9745038e" providerId="LiveId" clId="{18183C8E-F94C-411A-9108-9D94713FAEC6}" dt="2026-10-29T10:03:55.009" v="1" actId="2696"/>
        <pc:sldMkLst>
          <pc:docMk/>
          <pc:sldMk cId="0" sldId="268"/>
        </pc:sldMkLst>
      </pc:sldChg>
      <pc:sldChg chg="del">
        <pc:chgData name="Yeom jonghak" userId="9c5ca5bb9745038e" providerId="LiveId" clId="{18183C8E-F94C-411A-9108-9D94713FAEC6}" dt="2026-10-29T10:03:55.009" v="1" actId="2696"/>
        <pc:sldMkLst>
          <pc:docMk/>
          <pc:sldMk cId="0" sldId="269"/>
        </pc:sldMkLst>
      </pc:sldChg>
      <pc:sldChg chg="del">
        <pc:chgData name="Yeom jonghak" userId="9c5ca5bb9745038e" providerId="LiveId" clId="{18183C8E-F94C-411A-9108-9D94713FAEC6}" dt="2026-10-29T10:03:55.009" v="1" actId="2696"/>
        <pc:sldMkLst>
          <pc:docMk/>
          <pc:sldMk cId="0" sldId="270"/>
        </pc:sldMkLst>
      </pc:sldChg>
      <pc:sldChg chg="del">
        <pc:chgData name="Yeom jonghak" userId="9c5ca5bb9745038e" providerId="LiveId" clId="{18183C8E-F94C-411A-9108-9D94713FAEC6}" dt="2026-10-29T10:03:55.009" v="1" actId="2696"/>
        <pc:sldMkLst>
          <pc:docMk/>
          <pc:sldMk cId="0" sldId="271"/>
        </pc:sldMkLst>
      </pc:sldChg>
      <pc:sldChg chg="del">
        <pc:chgData name="Yeom jonghak" userId="9c5ca5bb9745038e" providerId="LiveId" clId="{18183C8E-F94C-411A-9108-9D94713FAEC6}" dt="2026-10-29T10:03:55.009" v="1" actId="2696"/>
        <pc:sldMkLst>
          <pc:docMk/>
          <pc:sldMk cId="0" sldId="272"/>
        </pc:sldMkLst>
      </pc:sldChg>
      <pc:sldChg chg="del">
        <pc:chgData name="Yeom jonghak" userId="9c5ca5bb9745038e" providerId="LiveId" clId="{18183C8E-F94C-411A-9108-9D94713FAEC6}" dt="2026-10-29T10:03:55.009" v="1" actId="2696"/>
        <pc:sldMkLst>
          <pc:docMk/>
          <pc:sldMk cId="2594590798" sldId="273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78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04695"/>
            <a:ext cx="8762695" cy="2667305"/>
          </a:xfrm>
          <a:prstGeom prst="roundRect">
            <a:avLst>
              <a:gd name="adj" fmla="val 5725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905695" y="1904695"/>
            <a:ext cx="3504895" cy="838505"/>
          </a:xfrm>
          <a:prstGeom prst="roundRect">
            <a:avLst>
              <a:gd name="adj" fmla="val 15921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3545007" y="1904695"/>
            <a:ext cx="3829507" cy="838505"/>
          </a:xfrm>
          <a:prstGeom prst="roundRect">
            <a:avLst>
              <a:gd name="adj" fmla="val 15921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905695" y="2857500"/>
            <a:ext cx="7467905" cy="761695"/>
          </a:xfrm>
          <a:prstGeom prst="roundRect">
            <a:avLst>
              <a:gd name="adj" fmla="val 17527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905695" y="2857500"/>
            <a:ext cx="57607" cy="761695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905695" y="3733495"/>
            <a:ext cx="7467905" cy="838505"/>
          </a:xfrm>
          <a:prstGeom prst="roundRect">
            <a:avLst>
              <a:gd name="adj" fmla="val 15921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4762195"/>
            <a:ext cx="9753905" cy="2743200"/>
          </a:xfrm>
          <a:prstGeom prst="roundRect">
            <a:avLst>
              <a:gd name="adj" fmla="val 48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820095" y="4762195"/>
            <a:ext cx="6553505" cy="2743200"/>
          </a:xfrm>
          <a:prstGeom prst="roundRect">
            <a:avLst>
              <a:gd name="adj" fmla="val 48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820095" y="5790895"/>
            <a:ext cx="6553505" cy="1714500"/>
          </a:xfrm>
          <a:prstGeom prst="roundRect">
            <a:avLst>
              <a:gd name="adj" fmla="val 7787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14400" y="7696505"/>
            <a:ext cx="16459200" cy="514807"/>
          </a:xfrm>
          <a:prstGeom prst="roundRect">
            <a:avLst>
              <a:gd name="adj" fmla="val 25933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14400" y="7696505"/>
            <a:ext cx="57607" cy="514807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14400" y="8382305"/>
            <a:ext cx="16459200" cy="1066190"/>
          </a:xfrm>
          <a:prstGeom prst="roundRect">
            <a:avLst>
              <a:gd name="adj" fmla="val 10783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8382305"/>
            <a:ext cx="57607" cy="1066190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5105095"/>
            <a:ext cx="9753905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14400" y="5410505"/>
            <a:ext cx="9753905" cy="3044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14400" y="5715000"/>
            <a:ext cx="9753905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14400" y="6019495"/>
            <a:ext cx="9753905" cy="3044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6324905"/>
            <a:ext cx="9753905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14400" y="6629400"/>
            <a:ext cx="9753905" cy="3044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4400" y="6933895"/>
            <a:ext cx="9753905" cy="418795"/>
          </a:xfrm>
          <a:prstGeom prst="rect">
            <a:avLst/>
          </a:prstGeom>
          <a:solidFill>
            <a:srgbClr val="DDE9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0820095" y="5105095"/>
            <a:ext cx="6553505" cy="5330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914400" y="457200"/>
            <a:ext cx="156975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kern="0" spc="-29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소요 비용·거점 손익 — 경비 순증 </a:t>
            </a:r>
            <a:r>
              <a:rPr lang="en-US" sz="2850" b="1" kern="0" spc="-2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0.52억</a:t>
            </a:r>
            <a:endParaRPr lang="en-US" sz="285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1028700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출장비 절감이 추가비용의 27%를 상계 · 증분 매출 목표(8.5억)의 6% · 2026년 2개월 0.07억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2076602"/>
            <a:ext cx="165049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순증 (만 원)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2361895" y="2115007"/>
            <a:ext cx="141457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추가비용 vs 절감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953305" y="2115007"/>
            <a:ext cx="6483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추가비용</a:t>
            </a:r>
            <a:endParaRPr lang="en-US" sz="975" dirty="0"/>
          </a:p>
        </p:txBody>
      </p:sp>
      <p:sp>
        <p:nvSpPr>
          <p:cNvPr id="28" name="Text 26"/>
          <p:cNvSpPr txBox="1"/>
          <p:nvPr/>
        </p:nvSpPr>
        <p:spPr>
          <a:xfrm>
            <a:off x="5770778" y="2115007"/>
            <a:ext cx="8001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출장비 절감</a:t>
            </a:r>
            <a:endParaRPr lang="en-US" sz="975" dirty="0"/>
          </a:p>
        </p:txBody>
      </p:sp>
      <p:pic>
        <p:nvPicPr>
          <p:cNvPr id="29" name="Image 0" descr="gen-dedup-a989eb6f4102045c73172048e249eecd.png"/>
          <p:cNvPicPr>
            <a:picLocks noChangeAspect="1"/>
          </p:cNvPicPr>
          <p:nvPr/>
        </p:nvPicPr>
        <p:blipFill>
          <a:blip r:embed="rId3"/>
          <a:srcRect t="-9" b="-9"/>
          <a:stretch/>
        </p:blipFill>
        <p:spPr>
          <a:xfrm>
            <a:off x="1143000" y="2514600"/>
            <a:ext cx="8305495" cy="2095805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0134295" y="2038198"/>
            <a:ext cx="102047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5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0.07</a:t>
            </a:r>
            <a:r>
              <a:rPr lang="en-US" sz="1350" b="1" kern="0" spc="-5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2550" dirty="0"/>
          </a:p>
        </p:txBody>
      </p:sp>
      <p:sp>
        <p:nvSpPr>
          <p:cNvPr id="31" name="Text 28"/>
          <p:cNvSpPr txBox="1"/>
          <p:nvPr/>
        </p:nvSpPr>
        <p:spPr>
          <a:xfrm>
            <a:off x="11582705" y="2210105"/>
            <a:ext cx="733349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순증 비용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134295" y="2457907"/>
            <a:ext cx="180319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· 2개월 · 파견 1인</a:t>
            </a:r>
            <a:endParaRPr lang="en-US" sz="975" dirty="0"/>
          </a:p>
        </p:txBody>
      </p:sp>
      <p:sp>
        <p:nvSpPr>
          <p:cNvPr id="33" name="Text 30"/>
          <p:cNvSpPr txBox="1"/>
          <p:nvPr/>
        </p:nvSpPr>
        <p:spPr>
          <a:xfrm>
            <a:off x="13773607" y="2038198"/>
            <a:ext cx="102047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5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0.52</a:t>
            </a:r>
            <a:r>
              <a:rPr lang="en-US" sz="1350" b="1" kern="0" spc="-5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2550" dirty="0"/>
          </a:p>
        </p:txBody>
      </p:sp>
      <p:sp>
        <p:nvSpPr>
          <p:cNvPr id="34" name="Text 31"/>
          <p:cNvSpPr txBox="1"/>
          <p:nvPr/>
        </p:nvSpPr>
        <p:spPr>
          <a:xfrm>
            <a:off x="15221102" y="2210105"/>
            <a:ext cx="733349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순증 비용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13773607" y="2457907"/>
            <a:ext cx="18480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· 5인 (파견 2 + 현지 3)</a:t>
            </a:r>
            <a:endParaRPr lang="en-US" sz="975" dirty="0"/>
          </a:p>
        </p:txBody>
      </p:sp>
      <p:sp>
        <p:nvSpPr>
          <p:cNvPr id="36" name="Text 33"/>
          <p:cNvSpPr txBox="1"/>
          <p:nvPr/>
        </p:nvSpPr>
        <p:spPr>
          <a:xfrm>
            <a:off x="10134295" y="2991002"/>
            <a:ext cx="312907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인력·고정비 기준 · 봉암 4동 703호</a:t>
            </a:r>
            <a:endParaRPr lang="en-US" sz="1125" dirty="0"/>
          </a:p>
        </p:txBody>
      </p:sp>
      <p:sp>
        <p:nvSpPr>
          <p:cNvPr id="37" name="Text 34"/>
          <p:cNvSpPr txBox="1"/>
          <p:nvPr/>
        </p:nvSpPr>
        <p:spPr>
          <a:xfrm>
            <a:off x="10134295" y="3238805"/>
            <a:ext cx="724662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파견 2인 + 현지 3인 연내 채용. </a:t>
            </a: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</a:t>
            </a:r>
            <a:r>
              <a:rPr lang="en-US" sz="975" b="1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순증</a:t>
            </a: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0.52억, 인건비 2.10억(엔지니어 2인 과제비 제외), 거점 고정비 2.63억</a:t>
            </a:r>
            <a:r>
              <a:rPr lang="en-US" sz="9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975" dirty="0"/>
          </a:p>
        </p:txBody>
      </p:sp>
      <p:sp>
        <p:nvSpPr>
          <p:cNvPr id="38" name="Text 35"/>
          <p:cNvSpPr txBox="1"/>
          <p:nvPr/>
        </p:nvSpPr>
        <p:spPr>
          <a:xfrm>
            <a:off x="10134295" y="3829507"/>
            <a:ext cx="440832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항목 (2027 5인 기준 · 만 원) — </a:t>
            </a:r>
            <a:r>
              <a:rPr lang="en-US" sz="975" b="1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경남TP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975" b="1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경남인공지능혁신본부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4동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703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호(</a:t>
            </a:r>
            <a:r>
              <a:rPr lang="ko-KR" alt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전용면적 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r>
              <a:rPr lang="ko-KR" alt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</a:t>
            </a:r>
            <a:r>
              <a:rPr lang="en-US" altLang="ko-KR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입주 가정</a:t>
            </a:r>
            <a:endParaRPr lang="en-US" sz="975" dirty="0"/>
          </a:p>
        </p:txBody>
      </p:sp>
      <p:sp>
        <p:nvSpPr>
          <p:cNvPr id="39" name="Text 36"/>
          <p:cNvSpPr txBox="1"/>
          <p:nvPr/>
        </p:nvSpPr>
        <p:spPr>
          <a:xfrm>
            <a:off x="10134295" y="4095598"/>
            <a:ext cx="664860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36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주거 2,100 · 교통·차량 3,132 · 사무실+수당 1,976 </a:t>
            </a:r>
            <a:r>
              <a:rPr lang="en-US" sz="1050" b="1" kern="0" spc="-36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(합 7,208 만 원)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914400" y="4762195"/>
            <a:ext cx="194310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</a:t>
            </a:r>
            <a:endParaRPr lang="en-US" sz="1125" dirty="0"/>
          </a:p>
        </p:txBody>
      </p:sp>
      <p:sp>
        <p:nvSpPr>
          <p:cNvPr id="41" name="Text 38"/>
          <p:cNvSpPr txBox="1"/>
          <p:nvPr/>
        </p:nvSpPr>
        <p:spPr>
          <a:xfrm>
            <a:off x="2857500" y="4762195"/>
            <a:ext cx="19056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</a:t>
            </a:r>
            <a:r>
              <a:rPr lang="en-US" sz="975" b="1" kern="0" spc="22" dirty="0">
                <a:solidFill>
                  <a:srgbClr val="C5D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(11~12월, 1인)</a:t>
            </a:r>
            <a:endParaRPr lang="en-US" sz="1125" dirty="0"/>
          </a:p>
        </p:txBody>
      </p:sp>
      <p:sp>
        <p:nvSpPr>
          <p:cNvPr id="42" name="Text 39"/>
          <p:cNvSpPr txBox="1"/>
          <p:nvPr/>
        </p:nvSpPr>
        <p:spPr>
          <a:xfrm>
            <a:off x="4762195" y="4762195"/>
            <a:ext cx="1908767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dist">
              <a:buNone/>
            </a:pPr>
            <a:r>
              <a:rPr lang="en-US" sz="1125" b="1" kern="0" spc="-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</a:t>
            </a:r>
            <a:r>
              <a:rPr lang="en-US" sz="975" b="1" kern="0" spc="-100" dirty="0">
                <a:solidFill>
                  <a:srgbClr val="C5D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(연평균 3.5인·연말 5인)</a:t>
            </a:r>
            <a:endParaRPr lang="en-US" sz="1125" spc="-100" dirty="0"/>
          </a:p>
        </p:txBody>
      </p:sp>
      <p:sp>
        <p:nvSpPr>
          <p:cNvPr id="43" name="Text 40"/>
          <p:cNvSpPr txBox="1"/>
          <p:nvPr/>
        </p:nvSpPr>
        <p:spPr>
          <a:xfrm>
            <a:off x="6667805" y="4762195"/>
            <a:ext cx="19056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 </a:t>
            </a:r>
            <a:r>
              <a:rPr lang="en-US" sz="975" b="1" kern="0" spc="22" dirty="0">
                <a:solidFill>
                  <a:srgbClr val="C5D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(5인)</a:t>
            </a:r>
            <a:endParaRPr lang="en-US" sz="1125" dirty="0"/>
          </a:p>
        </p:txBody>
      </p:sp>
      <p:sp>
        <p:nvSpPr>
          <p:cNvPr id="44" name="Text 41"/>
          <p:cNvSpPr txBox="1"/>
          <p:nvPr/>
        </p:nvSpPr>
        <p:spPr>
          <a:xfrm>
            <a:off x="8572500" y="4762195"/>
            <a:ext cx="2095805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3개년</a:t>
            </a:r>
            <a:endParaRPr lang="en-US" sz="1125" dirty="0"/>
          </a:p>
        </p:txBody>
      </p:sp>
      <p:sp>
        <p:nvSpPr>
          <p:cNvPr id="45" name="Text 42"/>
          <p:cNvSpPr txBox="1"/>
          <p:nvPr/>
        </p:nvSpPr>
        <p:spPr>
          <a:xfrm>
            <a:off x="10820095" y="4762195"/>
            <a:ext cx="160020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050" b="1" kern="0" spc="2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증분 매출 달성률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1242029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25%</a:t>
            </a:r>
            <a:endParaRPr lang="en-US" sz="1125" dirty="0"/>
          </a:p>
        </p:txBody>
      </p:sp>
      <p:sp>
        <p:nvSpPr>
          <p:cNvPr id="47" name="Text 44"/>
          <p:cNvSpPr txBox="1"/>
          <p:nvPr/>
        </p:nvSpPr>
        <p:spPr>
          <a:xfrm>
            <a:off x="1341150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50%</a:t>
            </a:r>
            <a:endParaRPr lang="en-US" sz="1125" dirty="0"/>
          </a:p>
        </p:txBody>
      </p:sp>
      <p:sp>
        <p:nvSpPr>
          <p:cNvPr id="48" name="Text 45"/>
          <p:cNvSpPr txBox="1"/>
          <p:nvPr/>
        </p:nvSpPr>
        <p:spPr>
          <a:xfrm>
            <a:off x="14401800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75%</a:t>
            </a:r>
            <a:endParaRPr lang="en-US" sz="1125" dirty="0"/>
          </a:p>
        </p:txBody>
      </p:sp>
      <p:sp>
        <p:nvSpPr>
          <p:cNvPr id="49" name="Text 46"/>
          <p:cNvSpPr txBox="1"/>
          <p:nvPr/>
        </p:nvSpPr>
        <p:spPr>
          <a:xfrm>
            <a:off x="1539209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</a:t>
            </a:r>
            <a:endParaRPr lang="en-US" sz="1125" dirty="0"/>
          </a:p>
        </p:txBody>
      </p:sp>
      <p:sp>
        <p:nvSpPr>
          <p:cNvPr id="50" name="Text 47"/>
          <p:cNvSpPr txBox="1"/>
          <p:nvPr/>
        </p:nvSpPr>
        <p:spPr>
          <a:xfrm>
            <a:off x="1638330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125%</a:t>
            </a:r>
            <a:endParaRPr lang="en-US" sz="1125" dirty="0"/>
          </a:p>
        </p:txBody>
      </p:sp>
      <p:sp>
        <p:nvSpPr>
          <p:cNvPr id="51" name="Text 48"/>
          <p:cNvSpPr txBox="1"/>
          <p:nvPr/>
        </p:nvSpPr>
        <p:spPr>
          <a:xfrm>
            <a:off x="11048695" y="5943600"/>
            <a:ext cx="200436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손익분기 = 계획의 </a:t>
            </a:r>
            <a:r>
              <a:rPr lang="en-US" sz="13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62%</a:t>
            </a:r>
            <a:endParaRPr lang="en-US" sz="1350" dirty="0"/>
          </a:p>
        </p:txBody>
      </p:sp>
      <p:sp>
        <p:nvSpPr>
          <p:cNvPr id="52" name="Text 49"/>
          <p:cNvSpPr txBox="1"/>
          <p:nvPr/>
        </p:nvSpPr>
        <p:spPr>
          <a:xfrm>
            <a:off x="11048695" y="6248095"/>
            <a:ext cx="6096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33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손익분기 증분 매출은 연 5.27억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(계획 8.5억의 62%, 공헌이익률 50% 가정). 2027.6 Go/No-go의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'유상 계약 누적 3.7억'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기준은 이 손익분기선의 70%에서 도출했습니다.</a:t>
            </a:r>
            <a:endParaRPr lang="en-US" sz="1050" dirty="0"/>
          </a:p>
        </p:txBody>
      </p:sp>
      <p:sp>
        <p:nvSpPr>
          <p:cNvPr id="53" name="Text 50"/>
          <p:cNvSpPr txBox="1"/>
          <p:nvPr/>
        </p:nvSpPr>
        <p:spPr>
          <a:xfrm>
            <a:off x="11048695" y="6953098"/>
            <a:ext cx="6096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33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순증은 2027 증분 매출 목표 8.5억의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6%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인건비를 더한 2027 거점 고정비는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2.63억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공헌이익 4.25억 안에서 회수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됩니다.</a:t>
            </a:r>
            <a:endParaRPr lang="en-US" sz="1050" dirty="0"/>
          </a:p>
        </p:txBody>
      </p:sp>
      <p:sp>
        <p:nvSpPr>
          <p:cNvPr id="54" name="Text 51"/>
          <p:cNvSpPr txBox="1"/>
          <p:nvPr/>
        </p:nvSpPr>
        <p:spPr>
          <a:xfrm>
            <a:off x="1143000" y="7843557"/>
            <a:ext cx="8458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 정리</a:t>
            </a:r>
            <a:endParaRPr lang="en-US" sz="1200" dirty="0"/>
          </a:p>
        </p:txBody>
      </p:sp>
      <p:sp>
        <p:nvSpPr>
          <p:cNvPr id="55" name="Text 52"/>
          <p:cNvSpPr txBox="1"/>
          <p:nvPr/>
        </p:nvSpPr>
        <p:spPr>
          <a:xfrm>
            <a:off x="2476195" y="7862760"/>
            <a:ext cx="14668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 포함 2027년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+1.62억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손익분기는 계획의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62%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달성률 50%에서도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-0.51억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선에서 관리 가능. 3개년 누적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+7.43억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125" dirty="0"/>
          </a:p>
        </p:txBody>
      </p:sp>
      <p:sp>
        <p:nvSpPr>
          <p:cNvPr id="56" name="Text 53"/>
          <p:cNvSpPr txBox="1"/>
          <p:nvPr/>
        </p:nvSpPr>
        <p:spPr>
          <a:xfrm>
            <a:off x="1143000" y="8515807"/>
            <a:ext cx="893369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산출 가정</a:t>
            </a:r>
            <a:endParaRPr lang="en-US" sz="1125" dirty="0"/>
          </a:p>
        </p:txBody>
      </p:sp>
      <p:sp>
        <p:nvSpPr>
          <p:cNvPr id="57" name="Text 54"/>
          <p:cNvSpPr txBox="1"/>
          <p:nvPr/>
        </p:nvSpPr>
        <p:spPr>
          <a:xfrm>
            <a:off x="1142999" y="8781898"/>
            <a:ext cx="16089865" cy="3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파견 인건비 연 9,000만 원/인, 현지 채용 연 6,000만 원/인(4대보험·복리 포함), 유상 PoC 건당 0.5억, 본구축 건당 3억, 직접원가율 50%. </a:t>
            </a:r>
            <a:r>
              <a:rPr lang="en-US" sz="9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인건비는 파견 2인 + 현지 PM/영업 1인 기준(현지 채용 연내 완료, 현지 엔지니어 2인은 PI-LAM 과제비 부담으로 제외)</a:t>
            </a:r>
            <a:r>
              <a:rPr lang="en-US" sz="9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2026년은 11~12월 2개월 1인 실투입 기준, 2028년은 연간 5인 </a:t>
            </a:r>
            <a:r>
              <a:rPr lang="en-US" sz="90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기준입니다</a:t>
            </a:r>
            <a:r>
              <a:rPr lang="en-US" sz="9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900" dirty="0"/>
          </a:p>
        </p:txBody>
      </p:sp>
      <p:sp>
        <p:nvSpPr>
          <p:cNvPr id="58" name="Text 55"/>
          <p:cNvSpPr txBox="1"/>
          <p:nvPr/>
        </p:nvSpPr>
        <p:spPr>
          <a:xfrm>
            <a:off x="1143000" y="9173592"/>
            <a:ext cx="1600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사무실 임대료는 경남TP 봉암 4동 703호(연 416만 원) 기준. </a:t>
            </a:r>
            <a:r>
              <a:rPr lang="en-US" sz="9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 별도 항목: 2026 0.15억 / 2027 2.10억 / 2028 2.40억 / 3개년 4.65억 — 현지 엔지니어 2인(연 1.2억)은 PI-LAM 과제비 충당('27~최소 4년).</a:t>
            </a:r>
            <a:endParaRPr lang="en-US" sz="900" dirty="0"/>
          </a:p>
        </p:txBody>
      </p:sp>
      <p:sp>
        <p:nvSpPr>
          <p:cNvPr id="59" name="Text 56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200" dirty="0"/>
          </a:p>
        </p:txBody>
      </p:sp>
      <p:sp>
        <p:nvSpPr>
          <p:cNvPr id="61" name="Text 58"/>
          <p:cNvSpPr txBox="1"/>
          <p:nvPr/>
        </p:nvSpPr>
        <p:spPr>
          <a:xfrm>
            <a:off x="914400" y="510509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증분 매출</a:t>
            </a:r>
            <a:endParaRPr lang="en-US" sz="1050" dirty="0"/>
          </a:p>
        </p:txBody>
      </p:sp>
      <p:sp>
        <p:nvSpPr>
          <p:cNvPr id="62" name="Text 59"/>
          <p:cNvSpPr txBox="1"/>
          <p:nvPr/>
        </p:nvSpPr>
        <p:spPr>
          <a:xfrm>
            <a:off x="2857500" y="51050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050" dirty="0"/>
          </a:p>
        </p:txBody>
      </p:sp>
      <p:sp>
        <p:nvSpPr>
          <p:cNvPr id="63" name="Text 60"/>
          <p:cNvSpPr txBox="1"/>
          <p:nvPr/>
        </p:nvSpPr>
        <p:spPr>
          <a:xfrm>
            <a:off x="4762195" y="51050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8.50</a:t>
            </a:r>
            <a:endParaRPr lang="en-US" sz="1050" dirty="0"/>
          </a:p>
        </p:txBody>
      </p:sp>
      <p:sp>
        <p:nvSpPr>
          <p:cNvPr id="64" name="Text 61"/>
          <p:cNvSpPr txBox="1"/>
          <p:nvPr/>
        </p:nvSpPr>
        <p:spPr>
          <a:xfrm>
            <a:off x="6667805" y="51050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18.00</a:t>
            </a:r>
            <a:endParaRPr lang="en-US" sz="1050" dirty="0"/>
          </a:p>
        </p:txBody>
      </p:sp>
      <p:sp>
        <p:nvSpPr>
          <p:cNvPr id="65" name="Text 62"/>
          <p:cNvSpPr txBox="1"/>
          <p:nvPr/>
        </p:nvSpPr>
        <p:spPr>
          <a:xfrm>
            <a:off x="8572500" y="510509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26.50</a:t>
            </a:r>
            <a:endParaRPr lang="en-US" sz="1050" dirty="0"/>
          </a:p>
        </p:txBody>
      </p:sp>
      <p:sp>
        <p:nvSpPr>
          <p:cNvPr id="66" name="Text 63"/>
          <p:cNvSpPr txBox="1"/>
          <p:nvPr/>
        </p:nvSpPr>
        <p:spPr>
          <a:xfrm>
            <a:off x="914400" y="541050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직접원가 (50%)</a:t>
            </a:r>
            <a:endParaRPr lang="en-US" sz="1050" dirty="0"/>
          </a:p>
        </p:txBody>
      </p:sp>
      <p:sp>
        <p:nvSpPr>
          <p:cNvPr id="67" name="Text 64"/>
          <p:cNvSpPr txBox="1"/>
          <p:nvPr/>
        </p:nvSpPr>
        <p:spPr>
          <a:xfrm>
            <a:off x="2857500" y="54105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050" dirty="0"/>
          </a:p>
        </p:txBody>
      </p:sp>
      <p:sp>
        <p:nvSpPr>
          <p:cNvPr id="68" name="Text 65"/>
          <p:cNvSpPr txBox="1"/>
          <p:nvPr/>
        </p:nvSpPr>
        <p:spPr>
          <a:xfrm>
            <a:off x="4762195" y="54105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(4.25)</a:t>
            </a:r>
            <a:endParaRPr lang="en-US" sz="1050" dirty="0"/>
          </a:p>
        </p:txBody>
      </p:sp>
      <p:sp>
        <p:nvSpPr>
          <p:cNvPr id="69" name="Text 66"/>
          <p:cNvSpPr txBox="1"/>
          <p:nvPr/>
        </p:nvSpPr>
        <p:spPr>
          <a:xfrm>
            <a:off x="6667805" y="54105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(9.00)</a:t>
            </a:r>
            <a:endParaRPr lang="en-US" sz="1050" dirty="0"/>
          </a:p>
        </p:txBody>
      </p:sp>
      <p:sp>
        <p:nvSpPr>
          <p:cNvPr id="70" name="Text 67"/>
          <p:cNvSpPr txBox="1"/>
          <p:nvPr/>
        </p:nvSpPr>
        <p:spPr>
          <a:xfrm>
            <a:off x="8572500" y="541050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(13.25)</a:t>
            </a:r>
            <a:endParaRPr lang="en-US" sz="1050" dirty="0"/>
          </a:p>
        </p:txBody>
      </p:sp>
      <p:sp>
        <p:nvSpPr>
          <p:cNvPr id="71" name="Text 68"/>
          <p:cNvSpPr txBox="1"/>
          <p:nvPr/>
        </p:nvSpPr>
        <p:spPr>
          <a:xfrm>
            <a:off x="914400" y="5715000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공헌이익</a:t>
            </a:r>
            <a:endParaRPr lang="en-US" sz="1050" dirty="0"/>
          </a:p>
        </p:txBody>
      </p:sp>
      <p:sp>
        <p:nvSpPr>
          <p:cNvPr id="72" name="Text 69"/>
          <p:cNvSpPr txBox="1"/>
          <p:nvPr/>
        </p:nvSpPr>
        <p:spPr>
          <a:xfrm>
            <a:off x="2857500" y="57150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050" dirty="0"/>
          </a:p>
        </p:txBody>
      </p:sp>
      <p:sp>
        <p:nvSpPr>
          <p:cNvPr id="73" name="Text 70"/>
          <p:cNvSpPr txBox="1"/>
          <p:nvPr/>
        </p:nvSpPr>
        <p:spPr>
          <a:xfrm>
            <a:off x="4762195" y="57150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4.25</a:t>
            </a:r>
            <a:endParaRPr lang="en-US" sz="1050" dirty="0"/>
          </a:p>
        </p:txBody>
      </p:sp>
      <p:sp>
        <p:nvSpPr>
          <p:cNvPr id="74" name="Text 71"/>
          <p:cNvSpPr txBox="1"/>
          <p:nvPr/>
        </p:nvSpPr>
        <p:spPr>
          <a:xfrm>
            <a:off x="6667805" y="57150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9.00</a:t>
            </a:r>
            <a:endParaRPr lang="en-US" sz="1050" dirty="0"/>
          </a:p>
        </p:txBody>
      </p:sp>
      <p:sp>
        <p:nvSpPr>
          <p:cNvPr id="75" name="Text 72"/>
          <p:cNvSpPr txBox="1"/>
          <p:nvPr/>
        </p:nvSpPr>
        <p:spPr>
          <a:xfrm>
            <a:off x="8572500" y="5715000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13.25</a:t>
            </a:r>
            <a:endParaRPr lang="en-US" sz="1050" dirty="0"/>
          </a:p>
        </p:txBody>
      </p:sp>
      <p:sp>
        <p:nvSpPr>
          <p:cNvPr id="76" name="Text 73"/>
          <p:cNvSpPr txBox="1"/>
          <p:nvPr/>
        </p:nvSpPr>
        <p:spPr>
          <a:xfrm>
            <a:off x="914400" y="601949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 (거점 부담분)</a:t>
            </a:r>
            <a:endParaRPr lang="en-US" sz="1050" dirty="0"/>
          </a:p>
        </p:txBody>
      </p:sp>
      <p:sp>
        <p:nvSpPr>
          <p:cNvPr id="77" name="Text 74"/>
          <p:cNvSpPr txBox="1"/>
          <p:nvPr/>
        </p:nvSpPr>
        <p:spPr>
          <a:xfrm>
            <a:off x="2857500" y="60194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(0.15)</a:t>
            </a:r>
            <a:endParaRPr lang="en-US" sz="1050" dirty="0"/>
          </a:p>
        </p:txBody>
      </p:sp>
      <p:sp>
        <p:nvSpPr>
          <p:cNvPr id="78" name="Text 75"/>
          <p:cNvSpPr txBox="1"/>
          <p:nvPr/>
        </p:nvSpPr>
        <p:spPr>
          <a:xfrm>
            <a:off x="4762195" y="60194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(2.10)</a:t>
            </a:r>
            <a:endParaRPr lang="en-US" sz="1050" dirty="0"/>
          </a:p>
        </p:txBody>
      </p:sp>
      <p:sp>
        <p:nvSpPr>
          <p:cNvPr id="79" name="Text 76"/>
          <p:cNvSpPr txBox="1"/>
          <p:nvPr/>
        </p:nvSpPr>
        <p:spPr>
          <a:xfrm>
            <a:off x="6667805" y="60194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(2.40)</a:t>
            </a:r>
            <a:endParaRPr lang="en-US" sz="1050" dirty="0"/>
          </a:p>
        </p:txBody>
      </p:sp>
      <p:sp>
        <p:nvSpPr>
          <p:cNvPr id="80" name="Text 77"/>
          <p:cNvSpPr txBox="1"/>
          <p:nvPr/>
        </p:nvSpPr>
        <p:spPr>
          <a:xfrm>
            <a:off x="8572500" y="601949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(4.65)</a:t>
            </a:r>
            <a:endParaRPr lang="en-US" sz="1050" dirty="0"/>
          </a:p>
        </p:txBody>
      </p:sp>
      <p:sp>
        <p:nvSpPr>
          <p:cNvPr id="81" name="Text 78"/>
          <p:cNvSpPr txBox="1"/>
          <p:nvPr/>
        </p:nvSpPr>
        <p:spPr>
          <a:xfrm>
            <a:off x="914400" y="632490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순증 (A2)</a:t>
            </a:r>
            <a:endParaRPr lang="en-US" sz="1050" dirty="0"/>
          </a:p>
        </p:txBody>
      </p:sp>
      <p:sp>
        <p:nvSpPr>
          <p:cNvPr id="82" name="Text 79"/>
          <p:cNvSpPr txBox="1"/>
          <p:nvPr/>
        </p:nvSpPr>
        <p:spPr>
          <a:xfrm>
            <a:off x="2857500" y="63249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(0.07)</a:t>
            </a:r>
            <a:endParaRPr lang="en-US" sz="1050" dirty="0"/>
          </a:p>
        </p:txBody>
      </p:sp>
      <p:sp>
        <p:nvSpPr>
          <p:cNvPr id="83" name="Text 80"/>
          <p:cNvSpPr txBox="1"/>
          <p:nvPr/>
        </p:nvSpPr>
        <p:spPr>
          <a:xfrm>
            <a:off x="4762195" y="63249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(0.52)</a:t>
            </a:r>
            <a:endParaRPr lang="en-US" sz="1050" dirty="0"/>
          </a:p>
        </p:txBody>
      </p:sp>
      <p:sp>
        <p:nvSpPr>
          <p:cNvPr id="84" name="Text 81"/>
          <p:cNvSpPr txBox="1"/>
          <p:nvPr/>
        </p:nvSpPr>
        <p:spPr>
          <a:xfrm>
            <a:off x="6667805" y="63249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(0.52)</a:t>
            </a:r>
            <a:endParaRPr lang="en-US" sz="1050" dirty="0"/>
          </a:p>
        </p:txBody>
      </p:sp>
      <p:sp>
        <p:nvSpPr>
          <p:cNvPr id="85" name="Text 82"/>
          <p:cNvSpPr txBox="1"/>
          <p:nvPr/>
        </p:nvSpPr>
        <p:spPr>
          <a:xfrm>
            <a:off x="8572500" y="632490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(1.11)</a:t>
            </a:r>
            <a:endParaRPr lang="en-US" sz="1050" dirty="0"/>
          </a:p>
        </p:txBody>
      </p:sp>
      <p:sp>
        <p:nvSpPr>
          <p:cNvPr id="86" name="Text 83"/>
          <p:cNvSpPr txBox="1"/>
          <p:nvPr/>
        </p:nvSpPr>
        <p:spPr>
          <a:xfrm>
            <a:off x="914400" y="6629400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일회성 비용</a:t>
            </a:r>
            <a:endParaRPr lang="en-US" sz="1050" dirty="0"/>
          </a:p>
        </p:txBody>
      </p:sp>
      <p:sp>
        <p:nvSpPr>
          <p:cNvPr id="87" name="Text 84"/>
          <p:cNvSpPr txBox="1"/>
          <p:nvPr/>
        </p:nvSpPr>
        <p:spPr>
          <a:xfrm>
            <a:off x="2857500" y="66294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(0.05)</a:t>
            </a:r>
            <a:endParaRPr lang="en-US" sz="1050" dirty="0"/>
          </a:p>
        </p:txBody>
      </p:sp>
      <p:sp>
        <p:nvSpPr>
          <p:cNvPr id="88" name="Text 85"/>
          <p:cNvSpPr txBox="1"/>
          <p:nvPr/>
        </p:nvSpPr>
        <p:spPr>
          <a:xfrm>
            <a:off x="4762195" y="66294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(0.01)</a:t>
            </a:r>
            <a:endParaRPr lang="en-US" sz="1050" dirty="0"/>
          </a:p>
        </p:txBody>
      </p:sp>
      <p:sp>
        <p:nvSpPr>
          <p:cNvPr id="89" name="Text 86"/>
          <p:cNvSpPr txBox="1"/>
          <p:nvPr/>
        </p:nvSpPr>
        <p:spPr>
          <a:xfrm>
            <a:off x="6667805" y="66294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–</a:t>
            </a:r>
            <a:endParaRPr lang="en-US" sz="1050" dirty="0"/>
          </a:p>
        </p:txBody>
      </p:sp>
      <p:sp>
        <p:nvSpPr>
          <p:cNvPr id="90" name="Text 87"/>
          <p:cNvSpPr txBox="1"/>
          <p:nvPr/>
        </p:nvSpPr>
        <p:spPr>
          <a:xfrm>
            <a:off x="8572500" y="6629400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(0.06)</a:t>
            </a:r>
            <a:endParaRPr lang="en-US" sz="1050" dirty="0"/>
          </a:p>
        </p:txBody>
      </p:sp>
      <p:sp>
        <p:nvSpPr>
          <p:cNvPr id="91" name="Text 88"/>
          <p:cNvSpPr txBox="1"/>
          <p:nvPr/>
        </p:nvSpPr>
        <p:spPr>
          <a:xfrm>
            <a:off x="914400" y="6933895"/>
            <a:ext cx="19431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영업손익</a:t>
            </a:r>
            <a:endParaRPr lang="en-US" sz="1200" dirty="0"/>
          </a:p>
        </p:txBody>
      </p:sp>
      <p:sp>
        <p:nvSpPr>
          <p:cNvPr id="92" name="Text 89"/>
          <p:cNvSpPr txBox="1"/>
          <p:nvPr/>
        </p:nvSpPr>
        <p:spPr>
          <a:xfrm>
            <a:off x="2857500" y="6933895"/>
            <a:ext cx="1905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(0.27)</a:t>
            </a:r>
            <a:endParaRPr lang="en-US" sz="1275" dirty="0"/>
          </a:p>
        </p:txBody>
      </p:sp>
      <p:sp>
        <p:nvSpPr>
          <p:cNvPr id="93" name="Text 90"/>
          <p:cNvSpPr txBox="1"/>
          <p:nvPr/>
        </p:nvSpPr>
        <p:spPr>
          <a:xfrm>
            <a:off x="4762195" y="6933895"/>
            <a:ext cx="1905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1.62</a:t>
            </a:r>
            <a:endParaRPr lang="en-US" sz="1650" dirty="0"/>
          </a:p>
        </p:txBody>
      </p:sp>
      <p:sp>
        <p:nvSpPr>
          <p:cNvPr id="94" name="Text 91"/>
          <p:cNvSpPr txBox="1"/>
          <p:nvPr/>
        </p:nvSpPr>
        <p:spPr>
          <a:xfrm>
            <a:off x="6667805" y="6933895"/>
            <a:ext cx="1905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6.08</a:t>
            </a:r>
            <a:endParaRPr lang="en-US" sz="1275" dirty="0"/>
          </a:p>
        </p:txBody>
      </p:sp>
      <p:sp>
        <p:nvSpPr>
          <p:cNvPr id="95" name="Text 92"/>
          <p:cNvSpPr txBox="1"/>
          <p:nvPr/>
        </p:nvSpPr>
        <p:spPr>
          <a:xfrm>
            <a:off x="8572500" y="6933895"/>
            <a:ext cx="2095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7.43</a:t>
            </a:r>
            <a:endParaRPr lang="en-US" sz="1650" dirty="0"/>
          </a:p>
        </p:txBody>
      </p:sp>
      <p:sp>
        <p:nvSpPr>
          <p:cNvPr id="96" name="Text 93"/>
          <p:cNvSpPr txBox="1"/>
          <p:nvPr/>
        </p:nvSpPr>
        <p:spPr>
          <a:xfrm>
            <a:off x="10820095" y="5105095"/>
            <a:ext cx="1600200" cy="534010"/>
          </a:xfrm>
          <a:prstGeom prst="rect">
            <a:avLst/>
          </a:prstGeom>
          <a:solidFill>
            <a:srgbClr val="EEF4F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영업손익</a:t>
            </a:r>
            <a:endParaRPr lang="en-US" sz="1125" dirty="0"/>
          </a:p>
          <a:p>
            <a:pPr marL="0" indent="0" algn="l">
              <a:buNone/>
            </a:pP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(억, 2027)</a:t>
            </a:r>
            <a:endParaRPr lang="en-US" sz="1125" dirty="0"/>
          </a:p>
        </p:txBody>
      </p:sp>
      <p:sp>
        <p:nvSpPr>
          <p:cNvPr id="97" name="Text 94"/>
          <p:cNvSpPr txBox="1"/>
          <p:nvPr/>
        </p:nvSpPr>
        <p:spPr>
          <a:xfrm>
            <a:off x="12420295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(1.57)</a:t>
            </a:r>
            <a:endParaRPr lang="en-US" sz="1275" dirty="0"/>
          </a:p>
        </p:txBody>
      </p:sp>
      <p:sp>
        <p:nvSpPr>
          <p:cNvPr id="98" name="Text 95"/>
          <p:cNvSpPr txBox="1"/>
          <p:nvPr/>
        </p:nvSpPr>
        <p:spPr>
          <a:xfrm>
            <a:off x="13411505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(0.51)</a:t>
            </a:r>
            <a:endParaRPr lang="en-US" sz="1275" dirty="0"/>
          </a:p>
        </p:txBody>
      </p:sp>
      <p:sp>
        <p:nvSpPr>
          <p:cNvPr id="99" name="Text 96"/>
          <p:cNvSpPr txBox="1"/>
          <p:nvPr/>
        </p:nvSpPr>
        <p:spPr>
          <a:xfrm>
            <a:off x="14401800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0.55</a:t>
            </a:r>
            <a:endParaRPr lang="en-US" sz="1275" dirty="0"/>
          </a:p>
        </p:txBody>
      </p:sp>
      <p:sp>
        <p:nvSpPr>
          <p:cNvPr id="100" name="Text 97"/>
          <p:cNvSpPr txBox="1"/>
          <p:nvPr/>
        </p:nvSpPr>
        <p:spPr>
          <a:xfrm>
            <a:off x="15392095" y="5105095"/>
            <a:ext cx="991210" cy="534010"/>
          </a:xfrm>
          <a:prstGeom prst="rect">
            <a:avLst/>
          </a:prstGeom>
          <a:solidFill>
            <a:srgbClr val="B8860B">
              <a:alpha val="16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1.62</a:t>
            </a:r>
            <a:endParaRPr lang="en-US" sz="1500" dirty="0"/>
          </a:p>
        </p:txBody>
      </p:sp>
      <p:sp>
        <p:nvSpPr>
          <p:cNvPr id="101" name="Text 98"/>
          <p:cNvSpPr txBox="1"/>
          <p:nvPr/>
        </p:nvSpPr>
        <p:spPr>
          <a:xfrm>
            <a:off x="16383305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2.68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5697505" cy="4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50" b="1">
                <a:solidFill>
                  <a:srgbClr val="0E2240"/>
                </a:solidFill>
                <a:latin typeface="Noto Sans KR"/>
                <a:ea typeface="Noto Sans KR"/>
              </a:rPr>
              <a:t>창원 숙소 소요비용 — 2026 입주 </a:t>
            </a:r>
            <a:r>
              <a:rPr sz="2850" b="1">
                <a:solidFill>
                  <a:srgbClr val="B8860B"/>
                </a:solidFill>
                <a:latin typeface="Noto Sans KR"/>
                <a:ea typeface="Noto Sans KR"/>
              </a:rPr>
              <a:t>988만 원</a:t>
            </a:r>
            <a:r>
              <a:rPr sz="2850" b="1">
                <a:solidFill>
                  <a:srgbClr val="0E2240"/>
                </a:solidFill>
                <a:latin typeface="Noto Sans KR"/>
                <a:ea typeface="Noto Sans KR"/>
              </a:rPr>
              <a:t> · 2027 연 </a:t>
            </a:r>
            <a:r>
              <a:rPr sz="2850" b="1">
                <a:solidFill>
                  <a:srgbClr val="B8860B"/>
                </a:solidFill>
                <a:latin typeface="Noto Sans KR"/>
                <a:ea typeface="Noto Sans KR"/>
              </a:rPr>
              <a:t>2,262만 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8700"/>
            <a:ext cx="16193110" cy="2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4D6E8E"/>
                </a:solidFill>
                <a:latin typeface="Noto Sans KR"/>
                <a:ea typeface="Noto Sans KR"/>
              </a:rPr>
              <a:t>창원두산위브더센트럴 102동(84㎡ · 3-bedroom) · 보증금 5,000만 원 / 월세 150만 원 · 파견 2인 공동 거주 전제 · 실속안 기준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904695"/>
            <a:ext cx="3943350" cy="1000000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3000" y="2024695"/>
            <a:ext cx="3643350" cy="3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550" b="1">
                <a:solidFill>
                  <a:srgbClr val="B8860B"/>
                </a:solidFill>
                <a:latin typeface="Noto Sans KR"/>
                <a:ea typeface="Noto Sans KR"/>
              </a:rPr>
              <a:t>988</a:t>
            </a:r>
            <a:r>
              <a:rPr sz="1200" b="1">
                <a:solidFill>
                  <a:srgbClr val="B8860B"/>
                </a:solidFill>
                <a:latin typeface="Noto Sans KR"/>
                <a:ea typeface="Noto Sans KR"/>
              </a:rPr>
              <a:t> 만 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44695"/>
            <a:ext cx="3643350" cy="2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2026 · 2개월 소요비용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64695"/>
            <a:ext cx="364335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표준안 1,418만 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6350" y="1904695"/>
            <a:ext cx="3943350" cy="1000000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314950" y="2024695"/>
            <a:ext cx="3643350" cy="3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550" b="1">
                <a:solidFill>
                  <a:srgbClr val="B8860B"/>
                </a:solidFill>
                <a:latin typeface="Noto Sans KR"/>
                <a:ea typeface="Noto Sans KR"/>
              </a:rPr>
              <a:t>2,262</a:t>
            </a:r>
            <a:r>
              <a:rPr sz="1200" b="1">
                <a:solidFill>
                  <a:srgbClr val="B8860B"/>
                </a:solidFill>
                <a:latin typeface="Noto Sans KR"/>
                <a:ea typeface="Noto Sans KR"/>
              </a:rPr>
              <a:t> 만 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4950" y="2444695"/>
            <a:ext cx="3643350" cy="2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2027 · 연간 소요비용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4950" y="2664695"/>
            <a:ext cx="364335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월 188.5만 원 ×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58300" y="1904695"/>
            <a:ext cx="3943350" cy="1000000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486900" y="2024695"/>
            <a:ext cx="3643350" cy="3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550" b="1">
                <a:solidFill>
                  <a:srgbClr val="B8860B"/>
                </a:solidFill>
                <a:latin typeface="Noto Sans KR"/>
                <a:ea typeface="Noto Sans KR"/>
              </a:rPr>
              <a:t>611</a:t>
            </a:r>
            <a:r>
              <a:rPr sz="1200" b="1">
                <a:solidFill>
                  <a:srgbClr val="B8860B"/>
                </a:solidFill>
                <a:latin typeface="Noto Sans KR"/>
                <a:ea typeface="Noto Sans KR"/>
              </a:rPr>
              <a:t> 만 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86900" y="2444695"/>
            <a:ext cx="3643350" cy="2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초기 일회성 (가구·커튼·가전·중개)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86900" y="2664695"/>
            <a:ext cx="364335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표준안 1,041만 원 · 2026 1회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430250" y="1904695"/>
            <a:ext cx="3943350" cy="1000000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3658850" y="2024695"/>
            <a:ext cx="3643350" cy="3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550" b="1">
                <a:solidFill>
                  <a:srgbClr val="0E2240"/>
                </a:solidFill>
                <a:latin typeface="Noto Sans KR"/>
                <a:ea typeface="Noto Sans KR"/>
              </a:rPr>
              <a:t>5,000</a:t>
            </a:r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 만 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658850" y="2444695"/>
            <a:ext cx="3643350" cy="2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보증금 (퇴거 시 환급)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658850" y="2664695"/>
            <a:ext cx="364335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비용 합계에서 제외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133000"/>
            <a:ext cx="215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anchor="ctr" rIns="45720" tIns="0" bIns="0">
            <a:no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항목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4400" y="3133000"/>
            <a:ext cx="3203905" cy="342900"/>
          </a:xfrm>
          <a:prstGeom prst="rect">
            <a:avLst/>
          </a:prstGeom>
          <a:solidFill>
            <a:srgbClr val="3C6791"/>
          </a:solidFill>
        </p:spPr>
        <p:txBody>
          <a:bodyPr wrap="square" anchor="ctr" rIns="45720" tIns="0" bIns="0">
            <a:no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산출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8305" y="3133000"/>
            <a:ext cx="15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2026 (2개월)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68305" y="3133000"/>
            <a:ext cx="15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2027 (12개월)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8305" y="3133000"/>
            <a:ext cx="14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합계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475900"/>
            <a:ext cx="97539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14400" y="3475900"/>
            <a:ext cx="215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① 월세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4400" y="3475900"/>
            <a:ext cx="3203905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l"/>
            <a:r>
              <a:rPr sz="1050" b="0">
                <a:solidFill>
                  <a:srgbClr val="4D6E8E"/>
                </a:solidFill>
                <a:latin typeface="Noto Sans KR"/>
                <a:ea typeface="Noto Sans KR"/>
              </a:rPr>
              <a:t>월 150만 원 (확정)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8305" y="3475900"/>
            <a:ext cx="15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300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8305" y="3475900"/>
            <a:ext cx="15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1,800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8305" y="3475900"/>
            <a:ext cx="14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2,100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855900"/>
            <a:ext cx="9753905" cy="380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14400" y="3855900"/>
            <a:ext cx="215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② 부대비용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4400" y="3855900"/>
            <a:ext cx="3203905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l"/>
            <a:r>
              <a:rPr sz="1050" b="0">
                <a:solidFill>
                  <a:srgbClr val="4D6E8E"/>
                </a:solidFill>
                <a:latin typeface="Noto Sans KR"/>
                <a:ea typeface="Noto Sans KR"/>
              </a:rPr>
              <a:t>관리비 25 · 공과금 10 · 통신 3.5 (월, 가정값)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8305" y="3855900"/>
            <a:ext cx="15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77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68305" y="3855900"/>
            <a:ext cx="15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462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68305" y="3855900"/>
            <a:ext cx="14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539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4235900"/>
            <a:ext cx="97539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14400" y="4235900"/>
            <a:ext cx="215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③ 초기 일회성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64400" y="4235900"/>
            <a:ext cx="3203905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l"/>
            <a:r>
              <a:rPr sz="1050" b="0">
                <a:solidFill>
                  <a:srgbClr val="4D6E8E"/>
                </a:solidFill>
                <a:latin typeface="Noto Sans KR"/>
                <a:ea typeface="Noto Sans KR"/>
              </a:rPr>
              <a:t>실속안 · 2027 재사용 전제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8305" y="4235900"/>
            <a:ext cx="15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611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68305" y="4235900"/>
            <a:ext cx="15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68305" y="4235900"/>
            <a:ext cx="14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611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4615900"/>
            <a:ext cx="9753905" cy="380000"/>
          </a:xfrm>
          <a:prstGeom prst="rect">
            <a:avLst/>
          </a:prstGeom>
          <a:solidFill>
            <a:srgbClr val="DD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14400" y="4615900"/>
            <a:ext cx="215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l"/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합계 (실속안)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64400" y="4615900"/>
            <a:ext cx="3203905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l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8305" y="4615900"/>
            <a:ext cx="15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400" b="1">
                <a:solidFill>
                  <a:srgbClr val="B8860B"/>
                </a:solidFill>
                <a:latin typeface="Noto Sans KR"/>
                <a:ea typeface="Noto Sans KR"/>
              </a:rPr>
              <a:t>988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68305" y="4615900"/>
            <a:ext cx="15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400" b="1">
                <a:solidFill>
                  <a:srgbClr val="B8860B"/>
                </a:solidFill>
                <a:latin typeface="Noto Sans KR"/>
                <a:ea typeface="Noto Sans KR"/>
              </a:rPr>
              <a:t>2,262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68305" y="4615900"/>
            <a:ext cx="14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400" b="1">
                <a:solidFill>
                  <a:srgbClr val="B8860B"/>
                </a:solidFill>
                <a:latin typeface="Noto Sans KR"/>
                <a:ea typeface="Noto Sans KR"/>
              </a:rPr>
              <a:t>3,250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4995900"/>
            <a:ext cx="97539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14400" y="4995900"/>
            <a:ext cx="215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(참고) 합계 (표준안)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64400" y="4995900"/>
            <a:ext cx="3203905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l"/>
            <a:r>
              <a:rPr sz="1050" b="0">
                <a:solidFill>
                  <a:srgbClr val="4D6E8E"/>
                </a:solidFill>
                <a:latin typeface="Noto Sans KR"/>
                <a:ea typeface="Noto Sans KR"/>
              </a:rPr>
              <a:t>일회성 1,041 적용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8305" y="4995900"/>
            <a:ext cx="15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1,418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68305" y="4995900"/>
            <a:ext cx="15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2,262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68305" y="4995900"/>
            <a:ext cx="14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3,680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" y="5375900"/>
            <a:ext cx="9753905" cy="380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14400" y="5375900"/>
            <a:ext cx="215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(참고) 08쪽 주거비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64400" y="5375900"/>
            <a:ext cx="3203905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l"/>
            <a:r>
              <a:rPr sz="1050" b="0">
                <a:solidFill>
                  <a:srgbClr val="4D6E8E"/>
                </a:solidFill>
                <a:latin typeface="Noto Sans KR"/>
                <a:ea typeface="Noto Sans KR"/>
              </a:rPr>
              <a:t>150×12 + 6,000×5% 기준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8305" y="5375900"/>
            <a:ext cx="15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350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68305" y="5375900"/>
            <a:ext cx="15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2,100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68305" y="5375900"/>
            <a:ext cx="14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2,450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5815900"/>
            <a:ext cx="9753905" cy="2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단위: 만 원 · ①은 이번 산출에서 보증금 기회비용(5%) 제외 — 08쪽 주거비와 산정 범위가 다름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20095" y="3133000"/>
            <a:ext cx="13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anchor="ctr" rIns="45720" tIns="0" bIns="0">
            <a:no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일회성 구성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20095" y="3133000"/>
            <a:ext cx="10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실속안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120095" y="3133000"/>
            <a:ext cx="10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표준안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120095" y="3133000"/>
            <a:ext cx="3253505" cy="342900"/>
          </a:xfrm>
          <a:prstGeom prst="rect">
            <a:avLst/>
          </a:prstGeom>
          <a:solidFill>
            <a:srgbClr val="3C6791"/>
          </a:solidFill>
        </p:spPr>
        <p:txBody>
          <a:bodyPr wrap="square" anchor="ctr" rIns="45720" tIns="0" bIns="0">
            <a:no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주요 품목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820095" y="3475900"/>
            <a:ext cx="65535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10820095" y="3475900"/>
            <a:ext cx="13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거실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20095" y="3475900"/>
            <a:ext cx="10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125" b="0">
                <a:solidFill>
                  <a:srgbClr val="0E2240"/>
                </a:solidFill>
                <a:latin typeface="Noto Sans KR"/>
                <a:ea typeface="Noto Sans KR"/>
              </a:rPr>
              <a:t>95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120095" y="3475900"/>
            <a:ext cx="10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190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4120095" y="3475900"/>
            <a:ext cx="3253505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l"/>
            <a:r>
              <a:rPr sz="1000" b="0">
                <a:solidFill>
                  <a:srgbClr val="4D6E8E"/>
                </a:solidFill>
                <a:latin typeface="Noto Sans KR"/>
                <a:ea typeface="Noto Sans KR"/>
              </a:rPr>
              <a:t>소파 · 테이블 · 거실장 · 식탁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820095" y="3855900"/>
            <a:ext cx="6553505" cy="380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10820095" y="3855900"/>
            <a:ext cx="13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침실 (2실)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20095" y="3855900"/>
            <a:ext cx="10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125" b="0">
                <a:solidFill>
                  <a:srgbClr val="0E2240"/>
                </a:solidFill>
                <a:latin typeface="Noto Sans KR"/>
                <a:ea typeface="Noto Sans KR"/>
              </a:rPr>
              <a:t>126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120095" y="3855900"/>
            <a:ext cx="10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280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120095" y="3855900"/>
            <a:ext cx="3253505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l"/>
            <a:r>
              <a:rPr sz="1000" b="0">
                <a:solidFill>
                  <a:srgbClr val="4D6E8E"/>
                </a:solidFill>
                <a:latin typeface="Noto Sans KR"/>
                <a:ea typeface="Noto Sans KR"/>
              </a:rPr>
              <a:t>침대 · 책상 · 침구 (옷장 제외)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820095" y="4235900"/>
            <a:ext cx="65535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10820095" y="4235900"/>
            <a:ext cx="13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커튼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120095" y="4235900"/>
            <a:ext cx="10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125" b="0">
                <a:solidFill>
                  <a:srgbClr val="0E2240"/>
                </a:solidFill>
                <a:latin typeface="Noto Sans KR"/>
                <a:ea typeface="Noto Sans KR"/>
              </a:rPr>
              <a:t>50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120095" y="4235900"/>
            <a:ext cx="10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105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4120095" y="4235900"/>
            <a:ext cx="3253505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l"/>
            <a:r>
              <a:rPr sz="1000" b="0">
                <a:solidFill>
                  <a:srgbClr val="4D6E8E"/>
                </a:solidFill>
                <a:latin typeface="Noto Sans KR"/>
                <a:ea typeface="Noto Sans KR"/>
              </a:rPr>
              <a:t>전체 창 (34평 · 창 6개)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820095" y="4615900"/>
            <a:ext cx="6553505" cy="380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10820095" y="4615900"/>
            <a:ext cx="13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가전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20095" y="4615900"/>
            <a:ext cx="10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125" b="0">
                <a:solidFill>
                  <a:srgbClr val="0E2240"/>
                </a:solidFill>
                <a:latin typeface="Noto Sans KR"/>
                <a:ea typeface="Noto Sans KR"/>
              </a:rPr>
              <a:t>244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3120095" y="4615900"/>
            <a:ext cx="10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341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4120095" y="4615900"/>
            <a:ext cx="3253505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l"/>
            <a:r>
              <a:rPr sz="1000" b="0">
                <a:solidFill>
                  <a:srgbClr val="4D6E8E"/>
                </a:solidFill>
                <a:latin typeface="Noto Sans KR"/>
                <a:ea typeface="Noto Sans KR"/>
              </a:rPr>
              <a:t>냉장고 · 세탁기 · TV · 밥솥 · 가스레인지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820095" y="4995900"/>
            <a:ext cx="65535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10820095" y="4995900"/>
            <a:ext cx="13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계약 · 생활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120095" y="4995900"/>
            <a:ext cx="10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125" b="0">
                <a:solidFill>
                  <a:srgbClr val="0E2240"/>
                </a:solidFill>
                <a:latin typeface="Noto Sans KR"/>
                <a:ea typeface="Noto Sans KR"/>
              </a:rPr>
              <a:t>96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120095" y="4995900"/>
            <a:ext cx="10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126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4120095" y="4995900"/>
            <a:ext cx="3253505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l"/>
            <a:r>
              <a:rPr sz="1000" b="0">
                <a:solidFill>
                  <a:srgbClr val="4D6E8E"/>
                </a:solidFill>
                <a:latin typeface="Noto Sans KR"/>
                <a:ea typeface="Noto Sans KR"/>
              </a:rPr>
              <a:t>중개보수 66 (상한) · 생활용품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820095" y="5375900"/>
            <a:ext cx="6553505" cy="380000"/>
          </a:xfrm>
          <a:prstGeom prst="rect">
            <a:avLst/>
          </a:prstGeom>
          <a:solidFill>
            <a:srgbClr val="DD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10820095" y="5375900"/>
            <a:ext cx="13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l"/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합계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120095" y="5375900"/>
            <a:ext cx="10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400" b="1">
                <a:solidFill>
                  <a:srgbClr val="B8860B"/>
                </a:solidFill>
                <a:latin typeface="Noto Sans KR"/>
                <a:ea typeface="Noto Sans KR"/>
              </a:rPr>
              <a:t>611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3120095" y="5375900"/>
            <a:ext cx="1000000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r"/>
            <a:r>
              <a:rPr sz="1400" b="1">
                <a:solidFill>
                  <a:srgbClr val="0E2240"/>
                </a:solidFill>
                <a:latin typeface="Noto Sans KR"/>
                <a:ea typeface="Noto Sans KR"/>
              </a:rPr>
              <a:t>1,041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4120095" y="5375900"/>
            <a:ext cx="3253505" cy="380000"/>
          </a:xfrm>
          <a:prstGeom prst="rect">
            <a:avLst/>
          </a:prstGeom>
          <a:noFill/>
        </p:spPr>
        <p:txBody>
          <a:bodyPr wrap="square" anchor="ctr" rIns="45720" tIns="0" bIns="0">
            <a:noAutofit/>
          </a:bodyPr>
          <a:lstStyle/>
          <a:p>
            <a:pPr algn="l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/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20095" y="5815900"/>
            <a:ext cx="6553505" cy="2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입주 청소 · 옷장은 미포함(엑셀 포함 여부 N)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14400" y="6450000"/>
            <a:ext cx="16459200" cy="514807"/>
          </a:xfrm>
          <a:prstGeom prst="roundRect">
            <a:avLst>
              <a:gd name="adj" fmla="val 25933"/>
            </a:avLst>
          </a:prstGeom>
          <a:solidFill>
            <a:srgbClr val="E9F2FB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ounded Rectangle 97"/>
          <p:cNvSpPr/>
          <p:nvPr/>
        </p:nvSpPr>
        <p:spPr>
          <a:xfrm>
            <a:off x="914400" y="6450000"/>
            <a:ext cx="57607" cy="514807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1143000" y="6590000"/>
            <a:ext cx="1100000" cy="2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한 줄 정리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476195" y="6600000"/>
            <a:ext cx="14668805" cy="2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2027 숙소 연 </a:t>
            </a:r>
            <a:r>
              <a:rPr sz="1125" b="1">
                <a:solidFill>
                  <a:srgbClr val="B8860B"/>
                </a:solidFill>
                <a:latin typeface="Noto Sans KR"/>
                <a:ea typeface="Noto Sans KR"/>
              </a:rPr>
              <a:t>2,262만 원</a:t>
            </a:r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은 08쪽 주거비(2,100) 대비 </a:t>
            </a:r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+162만 원</a:t>
            </a:r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 (부대비용 반영). 2026 초기 일회성 </a:t>
            </a:r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611만 원</a:t>
            </a:r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은 08쪽 일회성 계획 0.05억을 초과합니다.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14400" y="7150000"/>
            <a:ext cx="16459200" cy="1650000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ounded Rectangle 101"/>
          <p:cNvSpPr/>
          <p:nvPr/>
        </p:nvSpPr>
        <p:spPr>
          <a:xfrm>
            <a:off x="914400" y="7150000"/>
            <a:ext cx="57607" cy="165000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1143000" y="7280000"/>
            <a:ext cx="3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※ 산출 가정 · 확인 필요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43000" y="7620000"/>
            <a:ext cx="16002000" cy="109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단가 근거: </a:t>
            </a:r>
            <a:r>
              <a:rPr sz="1050" b="0">
                <a:solidFill>
                  <a:srgbClr val="1F2A37"/>
                </a:solidFill>
                <a:latin typeface="Noto Sans KR"/>
                <a:ea typeface="Noto Sans KR"/>
              </a:rPr>
              <a:t>커튼(glasswallet 34평 시세) · 가스레인지(쿠팡 189,000원) · 냉장고(SSG/LG 일반형) · 세탁기(다나와 LG 트롬 21kg 885,180원)는 온라인 공개가. 그 외 가구 · 밥솥 · TV · 부대비용은 가정값으로 견적 확인 필요. 중개보수는 상한요율 0.3% + VAT.</a:t>
            </a:r>
          </a:p>
          <a:p>
            <a:pPr algn="l">
              <a:spcAft>
                <a:spcPts val="600"/>
              </a:spcAft>
            </a:pPr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옵션 확인: </a:t>
            </a:r>
            <a:r>
              <a:rPr sz="1050" b="0">
                <a:solidFill>
                  <a:srgbClr val="1F2A37"/>
                </a:solidFill>
                <a:latin typeface="Noto Sans KR"/>
                <a:ea typeface="Noto Sans KR"/>
              </a:rPr>
              <a:t>빌트인 쿡탑 · 냉장고 · 세탁기가 임대 옵션에 포함되면 해당 금액 제외(실속안 기준 최대 179만 원 감소). 관리비 월 25만 원은 K-apt 실제 부과액으로 확정.</a:t>
            </a:r>
          </a:p>
          <a:p>
            <a:pPr algn="l">
              <a:spcAft>
                <a:spcPts val="600"/>
              </a:spcAft>
            </a:pPr>
            <a:r>
              <a:rPr sz="1050" b="1">
                <a:solidFill>
                  <a:srgbClr val="B8860B"/>
                </a:solidFill>
                <a:latin typeface="Noto Sans KR"/>
                <a:ea typeface="Noto Sans KR"/>
              </a:rPr>
              <a:t>08쪽 반영: </a:t>
            </a:r>
            <a:r>
              <a:rPr sz="1050" b="0">
                <a:solidFill>
                  <a:srgbClr val="1F2A37"/>
                </a:solidFill>
                <a:latin typeface="Noto Sans KR"/>
                <a:ea typeface="Noto Sans KR"/>
              </a:rPr>
              <a:t>08쪽 경비 순증의 주거비(2,100, 보증금 6,000 기준)와 일회성 비용(0.05억)은 이 산출과 다름. 반영 여부 결정 후 08쪽 수치 갱신 필요.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>
                <a:solidFill>
                  <a:srgbClr val="8A9BB0"/>
                </a:solidFill>
                <a:latin typeface="Noto Sans KR"/>
                <a:ea typeface="Noto Sans KR"/>
              </a:rPr>
              <a:t>경남(창원) 사무소·지사 설립 계획(안) · 내부 보고용 · 2026.10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7139864" y="9810598"/>
            <a:ext cx="250195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8A9BB0"/>
                </a:solidFill>
                <a:latin typeface="Noto Sans KR"/>
                <a:ea typeface="Noto Sans KR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573</Words>
  <Application>Microsoft Office PowerPoint</Application>
  <PresentationFormat>사용자 지정</PresentationFormat>
  <Paragraphs>80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Noto Sans KR</vt:lpstr>
      <vt:lpstr>Arial</vt:lpstr>
      <vt:lpstr>Office Theme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Yeom jonghak</cp:lastModifiedBy>
  <cp:revision>5</cp:revision>
  <dcterms:created xsi:type="dcterms:W3CDTF">2026-09-30T02:35:14Z</dcterms:created>
  <dcterms:modified xsi:type="dcterms:W3CDTF">2026-10-29T10:03:58Z</dcterms:modified>
</cp:coreProperties>
</file>